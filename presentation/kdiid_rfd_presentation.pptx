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1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38c8d8110e4487" /><Relationship Type="http://schemas.openxmlformats.org/officeDocument/2006/relationships/extended-properties" Target="/docProps/app.xml" Id="R5de4420e69b247e9" /><Relationship Type="http://schemas.openxmlformats.org/officeDocument/2006/relationships/officeDocument" Target="/ppt/presentation.xml" Id="Ra2dbaaeeff7145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74ab6c23a54f2d"/>
  </p:sldMasterIdLst>
  <p:notesMasterIdLst>
    <p:notesMasterId xmlns:r="http://schemas.openxmlformats.org/officeDocument/2006/relationships" r:id="R477b944f41e8489d"/>
  </p:notesMasterIdLst>
  <p:sldIdLst>
    <p:sldId xmlns:r="http://schemas.openxmlformats.org/officeDocument/2006/relationships" id="256" r:id="R1e9f917a5ca54c13"/>
    <p:sldId xmlns:r="http://schemas.openxmlformats.org/officeDocument/2006/relationships" id="257" r:id="R2f8a1f1408c34a87"/>
    <p:sldId xmlns:r="http://schemas.openxmlformats.org/officeDocument/2006/relationships" id="258" r:id="R78dacc69b7c742ea"/>
    <p:sldId xmlns:r="http://schemas.openxmlformats.org/officeDocument/2006/relationships" id="259" r:id="Rd12216063d384ab6"/>
    <p:sldId xmlns:r="http://schemas.openxmlformats.org/officeDocument/2006/relationships" id="260" r:id="R324bcabfd7794231"/>
    <p:sldId xmlns:r="http://schemas.openxmlformats.org/officeDocument/2006/relationships" id="261" r:id="R271c9068ab2149ed"/>
    <p:sldId xmlns:r="http://schemas.openxmlformats.org/officeDocument/2006/relationships" id="262" r:id="Ra8f659159fca4c3a"/>
    <p:sldId xmlns:r="http://schemas.openxmlformats.org/officeDocument/2006/relationships" id="263" r:id="Rd9b1f34c357e43db"/>
    <p:sldId xmlns:r="http://schemas.openxmlformats.org/officeDocument/2006/relationships" id="264" r:id="Reb509eb5db9a48d8"/>
    <p:sldId xmlns:r="http://schemas.openxmlformats.org/officeDocument/2006/relationships" id="265" r:id="R562db2d4843a4112"/>
    <p:sldId xmlns:r="http://schemas.openxmlformats.org/officeDocument/2006/relationships" id="266" r:id="Rb5483ab39e77411c"/>
    <p:sldId xmlns:r="http://schemas.openxmlformats.org/officeDocument/2006/relationships" id="267" r:id="R2e19ee2cba3c4939"/>
    <p:sldId xmlns:r="http://schemas.openxmlformats.org/officeDocument/2006/relationships" id="268" r:id="R506cc7bcaf904061"/>
    <p:sldId xmlns:r="http://schemas.openxmlformats.org/officeDocument/2006/relationships" id="269" r:id="Rbc4034ed80bd41b4"/>
    <p:sldId xmlns:r="http://schemas.openxmlformats.org/officeDocument/2006/relationships" id="270" r:id="R2c17c2027cbd404f"/>
    <p:sldId xmlns:r="http://schemas.openxmlformats.org/officeDocument/2006/relationships" id="271" r:id="Rc34f102fc85d4f75"/>
    <p:sldId xmlns:r="http://schemas.openxmlformats.org/officeDocument/2006/relationships" id="272" r:id="R615bb40333ce4b16"/>
    <p:sldId xmlns:r="http://schemas.openxmlformats.org/officeDocument/2006/relationships" id="273" r:id="R200b164db816455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92f043d3e34e6d" /><Relationship Type="http://schemas.openxmlformats.org/officeDocument/2006/relationships/slideMaster" Target="/ppt/slideMasters/slideMaster1.xml" Id="Re174ab6c23a54f2d" /><Relationship Type="http://schemas.openxmlformats.org/officeDocument/2006/relationships/notesMaster" Target="/ppt/notesMasters/notesMaster1.xml" Id="R477b944f41e8489d" /><Relationship Type="http://schemas.openxmlformats.org/officeDocument/2006/relationships/presProps" Target="/ppt/presProps.xml" Id="R935b23c0688c438d" /><Relationship Type="http://schemas.openxmlformats.org/officeDocument/2006/relationships/tableStyles" Target="/ppt/tableStyles.xml" Id="Rc200d57b5d954906" /><Relationship Type="http://schemas.openxmlformats.org/officeDocument/2006/relationships/slide" Target="/ppt/slides/slide1.xml" Id="R1e9f917a5ca54c13" /><Relationship Type="http://schemas.openxmlformats.org/officeDocument/2006/relationships/slide" Target="/ppt/slides/slide2.xml" Id="R2f8a1f1408c34a87" /><Relationship Type="http://schemas.openxmlformats.org/officeDocument/2006/relationships/slide" Target="/ppt/slides/slide3.xml" Id="R78dacc69b7c742ea" /><Relationship Type="http://schemas.openxmlformats.org/officeDocument/2006/relationships/slide" Target="/ppt/slides/slide4.xml" Id="Rd12216063d384ab6" /><Relationship Type="http://schemas.openxmlformats.org/officeDocument/2006/relationships/slide" Target="/ppt/slides/slide5.xml" Id="R324bcabfd7794231" /><Relationship Type="http://schemas.openxmlformats.org/officeDocument/2006/relationships/slide" Target="/ppt/slides/slide6.xml" Id="R271c9068ab2149ed" /><Relationship Type="http://schemas.openxmlformats.org/officeDocument/2006/relationships/slide" Target="/ppt/slides/slide7.xml" Id="Ra8f659159fca4c3a" /><Relationship Type="http://schemas.openxmlformats.org/officeDocument/2006/relationships/slide" Target="/ppt/slides/slide8.xml" Id="Rd9b1f34c357e43db" /><Relationship Type="http://schemas.openxmlformats.org/officeDocument/2006/relationships/slide" Target="/ppt/slides/slide9.xml" Id="Reb509eb5db9a48d8" /><Relationship Type="http://schemas.openxmlformats.org/officeDocument/2006/relationships/slide" Target="/ppt/slides/slide10.xml" Id="R562db2d4843a4112" /><Relationship Type="http://schemas.openxmlformats.org/officeDocument/2006/relationships/slide" Target="/ppt/slides/slide11.xml" Id="Rb5483ab39e77411c" /><Relationship Type="http://schemas.openxmlformats.org/officeDocument/2006/relationships/slide" Target="/ppt/slides/slide12.xml" Id="R2e19ee2cba3c4939" /><Relationship Type="http://schemas.openxmlformats.org/officeDocument/2006/relationships/slide" Target="/ppt/slides/slide13.xml" Id="R506cc7bcaf904061" /><Relationship Type="http://schemas.openxmlformats.org/officeDocument/2006/relationships/slide" Target="/ppt/slides/slide14.xml" Id="Rbc4034ed80bd41b4" /><Relationship Type="http://schemas.openxmlformats.org/officeDocument/2006/relationships/slide" Target="/ppt/slides/slide15.xml" Id="R2c17c2027cbd404f" /><Relationship Type="http://schemas.openxmlformats.org/officeDocument/2006/relationships/slide" Target="/ppt/slides/slide16.xml" Id="Rc34f102fc85d4f75" /><Relationship Type="http://schemas.openxmlformats.org/officeDocument/2006/relationships/slide" Target="/ppt/slides/slide17.xml" Id="R615bb40333ce4b16" /><Relationship Type="http://schemas.openxmlformats.org/officeDocument/2006/relationships/slide" Target="/ppt/slides/slide18.xml" Id="R200b164db81645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ec9a5e40394c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70b915825e4288" /><Relationship Type="http://schemas.openxmlformats.org/officeDocument/2006/relationships/notesMaster" Target="/ppt/notesMasters/notesMaster1.xml" Id="Rc9720180714b49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1db36a77a14b68" /><Relationship Type="http://schemas.openxmlformats.org/officeDocument/2006/relationships/notesMaster" Target="/ppt/notesMasters/notesMaster1.xml" Id="Rbbfdf8635b3448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70a587dd6b4485" /><Relationship Type="http://schemas.openxmlformats.org/officeDocument/2006/relationships/notesMaster" Target="/ppt/notesMasters/notesMaster1.xml" Id="R10f85165a11c43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511d00b7d045d4" /><Relationship Type="http://schemas.openxmlformats.org/officeDocument/2006/relationships/notesMaster" Target="/ppt/notesMasters/notesMaster1.xml" Id="Re80a0db9d26440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3d0896d1b74555" /><Relationship Type="http://schemas.openxmlformats.org/officeDocument/2006/relationships/notesMaster" Target="/ppt/notesMasters/notesMaster1.xml" Id="Rbb7f670e9d4b40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108d0aa06b45e3" /><Relationship Type="http://schemas.openxmlformats.org/officeDocument/2006/relationships/notesMaster" Target="/ppt/notesMasters/notesMaster1.xml" Id="Re60ce2ae4e7749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381d5a15c54161" /><Relationship Type="http://schemas.openxmlformats.org/officeDocument/2006/relationships/notesMaster" Target="/ppt/notesMasters/notesMaster1.xml" Id="Raf93c2f73d3d43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99eeffd70b4e22" /><Relationship Type="http://schemas.openxmlformats.org/officeDocument/2006/relationships/notesMaster" Target="/ppt/notesMasters/notesMaster1.xml" Id="Rcb80129efbcf46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db0de33f7b4b8b" /><Relationship Type="http://schemas.openxmlformats.org/officeDocument/2006/relationships/notesMaster" Target="/ppt/notesMasters/notesMaster1.xml" Id="Ra6bbb7cc82534c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5bf3331931c4fab" /><Relationship Type="http://schemas.openxmlformats.org/officeDocument/2006/relationships/notesMaster" Target="/ppt/notesMasters/notesMaster1.xml" Id="Rd24cff06a6734d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9fe88c4a234699" /><Relationship Type="http://schemas.openxmlformats.org/officeDocument/2006/relationships/notesMaster" Target="/ppt/notesMasters/notesMaster1.xml" Id="Rd63ccd9093b64f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fc677bb6a441d2" /><Relationship Type="http://schemas.openxmlformats.org/officeDocument/2006/relationships/notesMaster" Target="/ppt/notesMasters/notesMaster1.xml" Id="R0a0596ab9cc041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045f57a53ae423b" /><Relationship Type="http://schemas.openxmlformats.org/officeDocument/2006/relationships/notesMaster" Target="/ppt/notesMasters/notesMaster1.xml" Id="R3eea2f7885a1438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9eeefe3311d4dd9" /><Relationship Type="http://schemas.openxmlformats.org/officeDocument/2006/relationships/notesMaster" Target="/ppt/notesMasters/notesMaster1.xml" Id="R0ad854b5c80246c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5ca63c21a9d4410" /><Relationship Type="http://schemas.openxmlformats.org/officeDocument/2006/relationships/notesMaster" Target="/ppt/notesMasters/notesMaster1.xml" Id="R7a6954d5475a4b5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71af5671714abd" /><Relationship Type="http://schemas.openxmlformats.org/officeDocument/2006/relationships/notesMaster" Target="/ppt/notesMasters/notesMaster1.xml" Id="R55d513fecba0453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b60d89d63b747d1" /><Relationship Type="http://schemas.openxmlformats.org/officeDocument/2006/relationships/notesMaster" Target="/ppt/notesMasters/notesMaster1.xml" Id="R4b8c4f45e0cc484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5be9889ece34516" /><Relationship Type="http://schemas.openxmlformats.org/officeDocument/2006/relationships/notesMaster" Target="/ppt/notesMasters/notesMaster1.xml" Id="Re8ca7c485596457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project as an analysis of approximate consistency in urban air-quality observations.</a:t>
            </a:r>
          </a:p>
          <a:p xmlns:a="http://schemas.openxmlformats.org/drawingml/2006/main">
            <a:r>
              <a:t>The central method is Relaxed Functional Dependencies, or RFDs.</a:t>
            </a:r>
          </a:p>
          <a:p xmlns:a="http://schemas.openxmlformats.org/drawingml/2006/main">
            <a:r>
              <a:t>Clarify the scope immediately: the work does not predict pollution and does not make causal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classical deterministic constraints are too rigid for this domain.</a:t>
            </a:r>
          </a:p>
          <a:p xmlns:a="http://schemas.openxmlformats.org/drawingml/2006/main">
            <a:r>
              <a:t>The objective is descriptive and diagnostic: quantify how often a proposed consistency relation holds.</a:t>
            </a:r>
          </a:p>
          <a:p xmlns:a="http://schemas.openxmlformats.org/drawingml/2006/main">
            <a:r>
              <a:t>This framing makes moderate confidence meaningful when it is clearly above chance.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Urban Digital Twin narrowly and explicitly.</a:t>
            </a:r>
          </a:p>
          <a:p xmlns:a="http://schemas.openxmlformats.org/drawingml/2006/main">
            <a:r>
              <a:t>The twin is conceptual: it organizes historical data, approximate rules, violations, and monitoring.</a:t>
            </a:r>
          </a:p>
          <a:p xmlns:a="http://schemas.openxmlformats.org/drawingml/2006/main">
            <a:r>
              <a:t>The implemented contribution is the reproducible workflow shown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the selected dataset, stations, and common four-year period.</a:t>
            </a:r>
          </a:p>
          <a:p xmlns:a="http://schemas.openxmlformats.org/drawingml/2006/main">
            <a:r>
              <a:t>The full cleaned dataset is retained for descriptive profiling.</a:t>
            </a:r>
          </a:p>
          <a:p xmlns:a="http://schemas.openxmlformats.org/drawingml/2006/main">
            <a:r>
              <a:t>Pairwise RFD validation is quadratic, so a deterministic balanced sample of 750 rows per station is used.</a:t>
            </a:r>
          </a:p>
          <a:p xmlns:a="http://schemas.openxmlformats.org/drawingml/2006/main">
            <a:r>
              <a:t>The missing-value policy is transparent and does not impute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exact functional dependencies with threshold-based similarity.</a:t>
            </a:r>
          </a:p>
          <a:p xmlns:a="http://schemas.openxmlformats.org/drawingml/2006/main">
            <a:r>
              <a:t>For categorical attributes, similarity can still mean exact equality.</a:t>
            </a:r>
          </a:p>
          <a:p xmlns:a="http://schemas.openxmlformats.org/drawingml/2006/main">
            <a:r>
              <a:t>For numeric attributes, similarity is defined by absolute thresholds; hour uses circular distance.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thresholds are heuristic and interpretable; they are not claimed to be statistically optimal.</a:t>
            </a:r>
          </a:p>
          <a:p xmlns:a="http://schemas.openxmlformats.org/drawingml/2006/main">
            <a:r>
              <a:t>The medium setup is the main configuration used for the candidate-rule results.</a:t>
            </a:r>
          </a:p>
          <a:p xmlns:a="http://schemas.openxmlformats.org/drawingml/2006/main">
            <a:r>
              <a:t>Strict and relaxed settings provide sensitivity analysis, checking that the interpretation does not depend on one threshold choice.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support and confidence using pair counts.</a:t>
            </a:r>
          </a:p>
          <a:p xmlns:a="http://schemas.openxmlformats.org/drawingml/2006/main">
            <a:r>
              <a:t>Explain that the RHS is permuted 30 times while antecedent structure remains fixed.</a:t>
            </a:r>
          </a:p>
          <a:p xmlns:a="http://schemas.openxmlformats.org/drawingml/2006/main">
            <a:r>
              <a:t>Lift compares observed confidence with this permutation baseline.</a:t>
            </a:r>
          </a:p>
          <a:p xmlns:a="http://schemas.openxmlformats.org/drawingml/2006/main">
            <a:r>
              <a:t>Support must still be considered: a high confidence rule with very few antecedent pairs can be unstable.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pipeline from data cleaning to violation analysis.</a:t>
            </a:r>
          </a:p>
          <a:p xmlns:a="http://schemas.openxmlformats.org/drawingml/2006/main">
            <a:r>
              <a:t>Candidate validation is followed by a chance baseline, resampling, chronological validation, and monthly monitoring.</a:t>
            </a:r>
          </a:p>
          <a:p xmlns:a="http://schemas.openxmlformats.org/drawingml/2006/main">
            <a:r>
              <a:t>This sequence is the methodological contribution of the project.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correlation matrix only as descriptive context.</a:t>
            </a:r>
          </a:p>
          <a:p xmlns:a="http://schemas.openxmlformats.org/drawingml/2006/main">
            <a:r>
              <a:t>Highlight the PM2.5–PM10 correlation of 0.874, the strongest pollutant relationship.</a:t>
            </a:r>
          </a:p>
          <a:p xmlns:a="http://schemas.openxmlformats.org/drawingml/2006/main">
            <a:r>
              <a:t>Stress that correlation, RFD consistency, and causality are three different concepts.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plot shows daily mean PM2.5 by station for readability.</a:t>
            </a:r>
          </a:p>
          <a:p xmlns:a="http://schemas.openxmlformats.org/drawingml/2006/main">
            <a:r>
              <a:t>Point out that peaks and quieter periods do not align perfectly across the two sites.</a:t>
            </a:r>
          </a:p>
          <a:p xmlns:a="http://schemas.openxmlformats.org/drawingml/2006/main">
            <a:r>
              <a:t>This motivates monthly monitoring of RFD metrics rather than relying only on a global estimate.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three strongest raw candidate rules under the medium threshold configuration.</a:t>
            </a:r>
          </a:p>
          <a:p xmlns:a="http://schemas.openxmlformats.org/drawingml/2006/main">
            <a:r>
              <a:t>The top rule has confidence 0.483, which is moderate and must not be described as a strong dependency.</a:t>
            </a:r>
          </a:p>
          <a:p xmlns:a="http://schemas.openxmlformats.org/drawingml/2006/main">
            <a:r>
              <a:t>Its lift of 3.24 is the key result: the observed consistency is much higher than the permuted RHS baseline.</a:t>
            </a:r>
          </a:p>
          <a:p xmlns:a="http://schemas.openxmlformats.org/drawingml/2006/main">
            <a:r>
              <a:t>Support is low as a fraction, but it still corresponds to many pairwise comparisons and is interpreted together with confidence, baseline, and lift.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PM2.5 is the fine fraction included in the PM10 size class, so coherence is environmentally plausible.</a:t>
            </a:r>
          </a:p>
          <a:p xmlns:a="http://schemas.openxmlformats.org/drawingml/2006/main">
            <a:r>
              <a:t>Adding NO2 may represent shared emission conditions, but this is an interpretation—not causal proof.</a:t>
            </a:r>
          </a:p>
          <a:p xmlns:a="http://schemas.openxmlformats.org/drawingml/2006/main">
            <a:r>
              <a:t>Unobserved weather, source mixtures, and particulate composition can explain violations.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pollutants and meteorological variables are grouped into low, medium, and high quantile bins.</a:t>
            </a:r>
          </a:p>
          <a:p xmlns:a="http://schemas.openxmlformats.org/drawingml/2006/main">
            <a:r>
              <a:t>The top binned rule reaches confidence 0.689 and lift 2.07.</a:t>
            </a:r>
          </a:p>
          <a:p xmlns:a="http://schemas.openxmlformats.org/drawingml/2006/main">
            <a:r>
              <a:t>This is not directly comparable to the raw rule because discretization makes similarity less demanding.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Bootstrap results summarize 30 balanced resamples.</a:t>
            </a:r>
          </a:p>
          <a:p xmlns:a="http://schemas.openxmlformats.org/drawingml/2006/main">
            <a:r>
              <a:t>The mean lift is 3.35, with empirical 95% interval from 3.15 to 3.57.</a:t>
            </a:r>
          </a:p>
          <a:p xmlns:a="http://schemas.openxmlformats.org/drawingml/2006/main">
            <a:r>
              <a:t>The chronological split trains on the first three years and tests on the final year.</a:t>
            </a:r>
          </a:p>
          <a:p xmlns:a="http://schemas.openxmlformats.org/drawingml/2006/main">
            <a:r>
              <a:t>The top rule's lift is 3.15 in train and 3.35 in test, supporting relative stability.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continuous profile covers 48 monthly windows.</a:t>
            </a:r>
          </a:p>
          <a:p xmlns:a="http://schemas.openxmlformats.org/drawingml/2006/main">
            <a:r>
              <a:t>Monthly confidence varies substantially, which is expected in a seasonal environmental system.</a:t>
            </a:r>
          </a:p>
          <a:p xmlns:a="http://schemas.openxmlformats.org/drawingml/2006/main">
            <a:r>
              <a:t>Do not interpret confidence alone: support and antecedent-pair counts show how much evidence is available in each month.</a:t>
            </a:r>
          </a:p>
          <a:p xmlns:a="http://schemas.openxmlformats.org/drawingml/2006/main">
            <a:r>
              <a:t>Abrupt changes are monitoring signals, not automatic anomalies.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chart aggregates the same exported violation-pair counts by station into eight six-month periods so the time labels remain readable.</a:t>
            </a:r>
          </a:p>
          <a:p xmlns:a="http://schemas.openxmlformats.org/drawingml/2006/main">
            <a:r>
              <a:t>It still represents the two strongest raw RFDs and preserves the original interpretation.</a:t>
            </a:r>
          </a:p>
          <a:p xmlns:a="http://schemas.openxmlformats.org/drawingml/2006/main">
            <a:r>
              <a:t>Violations can indicate heterogeneous local conditions, missing explanatory variables, unusual events, or data-quality problems.</a:t>
            </a:r>
          </a:p>
          <a:p xmlns:a="http://schemas.openxmlformats.org/drawingml/2006/main">
            <a:r>
              <a:t>They should be investigated with contextual data rather than labeled as errors by default.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returning to the methodological contribution: a reproducible consistency-profiling workflow.</a:t>
            </a:r>
          </a:p>
          <a:p xmlns:a="http://schemas.openxmlformats.org/drawingml/2006/main">
            <a:r>
              <a:t>The strongest results are approximate and clearly above chance, not deterministic.</a:t>
            </a:r>
          </a:p>
          <a:p xmlns:a="http://schemas.openxmlformats.org/drawingml/2006/main">
            <a:r>
              <a:t>Continuous profiling shows how RFDs can support monitoring over time.</a:t>
            </a:r>
          </a:p>
          <a:p xmlns:a="http://schemas.openxmlformats.org/drawingml/2006/main">
            <a:r>
              <a:t>The empty discovery result is intentional evidence of conservative thresholds rather than a failed experiment.</a:t>
            </a:r>
          </a:p>
          <a:p xmlns:a="http://schemas.openxmlformats.org/drawingml/2006/main">
            <a:r>
              <a:t>End with the quoted sentence as the main answer to what the project contributes.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Backup slide; do not include it in the timed oral presentation unless the committee asks about data or methodological references.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414310a5cb41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51ef76b26a4b50" /><Relationship Type="http://schemas.openxmlformats.org/officeDocument/2006/relationships/slideLayout" Target="/ppt/slideLayouts/slideLayout1.xml" Id="Rbef4ffb9a0454e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f4ffb9a0454e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e658b1f7774420" /><Relationship Type="http://schemas.openxmlformats.org/officeDocument/2006/relationships/notesSlide" Target="/ppt/notesSlides/notesSlide1.xml" Id="Ra867c2b4231c49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08584adff45bc" /><Relationship Type="http://schemas.openxmlformats.org/officeDocument/2006/relationships/notesSlide" Target="/ppt/notesSlides/notesSlide2.xml" Id="R8ba02f9e735b46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46a2a81fc4843" /><Relationship Type="http://schemas.openxmlformats.org/officeDocument/2006/relationships/notesSlide" Target="/ppt/notesSlides/notesSlide3.xml" Id="R6d8dd80e035b40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3f272cce24736" /><Relationship Type="http://schemas.openxmlformats.org/officeDocument/2006/relationships/notesSlide" Target="/ppt/notesSlides/notesSlide4.xml" Id="R38ad565abda14cb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0ddd8af2e4ad9" /><Relationship Type="http://schemas.openxmlformats.org/officeDocument/2006/relationships/notesSlide" Target="/ppt/notesSlides/notesSlide5.xml" Id="R2713bbfdb10c41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51410a7214531" /><Relationship Type="http://schemas.openxmlformats.org/officeDocument/2006/relationships/notesSlide" Target="/ppt/notesSlides/notesSlide6.xml" Id="R896c8124cad44b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c147fc0dd4aa1" /><Relationship Type="http://schemas.openxmlformats.org/officeDocument/2006/relationships/notesSlide" Target="/ppt/notesSlides/notesSlide7.xml" Id="Re3800f627bc546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fcf9fed2c4477" /><Relationship Type="http://schemas.openxmlformats.org/officeDocument/2006/relationships/notesSlide" Target="/ppt/notesSlides/notesSlide8.xml" Id="R3952cb98cf9c4f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1350a61424ba4" /><Relationship Type="http://schemas.openxmlformats.org/officeDocument/2006/relationships/image" Target="/ppt/media/image.png" Id="R2d83ca670cd74284" /><Relationship Type="http://schemas.openxmlformats.org/officeDocument/2006/relationships/notesSlide" Target="/ppt/notesSlides/notesSlide9.xml" Id="R206fc756005948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2035e35ae4426" /><Relationship Type="http://schemas.openxmlformats.org/officeDocument/2006/relationships/image" Target="/ppt/media/image2.png" Id="R1f36840c54254ba7" /><Relationship Type="http://schemas.openxmlformats.org/officeDocument/2006/relationships/notesSlide" Target="/ppt/notesSlides/notesSlide10.xml" Id="Rf07357abebc742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96dc3055bd4107" /><Relationship Type="http://schemas.openxmlformats.org/officeDocument/2006/relationships/notesSlide" Target="/ppt/notesSlides/notesSlide11.xml" Id="Rea27f54c65cc4ec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17d84ac244d25" /><Relationship Type="http://schemas.openxmlformats.org/officeDocument/2006/relationships/notesSlide" Target="/ppt/notesSlides/notesSlide12.xml" Id="R6032f5287a76452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22b89ee074ab8" /><Relationship Type="http://schemas.openxmlformats.org/officeDocument/2006/relationships/notesSlide" Target="/ppt/notesSlides/notesSlide13.xml" Id="R025fe7df614b4e4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7a7b7386945d6" /><Relationship Type="http://schemas.openxmlformats.org/officeDocument/2006/relationships/notesSlide" Target="/ppt/notesSlides/notesSlide14.xml" Id="R0a3d42c05d444f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ea312e336433d" /><Relationship Type="http://schemas.openxmlformats.org/officeDocument/2006/relationships/image" Target="/ppt/media/image3.png" Id="Rff87d22795f24ba7" /><Relationship Type="http://schemas.openxmlformats.org/officeDocument/2006/relationships/notesSlide" Target="/ppt/notesSlides/notesSlide15.xml" Id="R82bcdac1ae4c45e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3b3e13870549ac" /><Relationship Type="http://schemas.openxmlformats.org/officeDocument/2006/relationships/chart" Target="/ppt/slides/charts/chart1.xml" Id="Rc210d44e12184df7" /><Relationship Type="http://schemas.openxmlformats.org/officeDocument/2006/relationships/notesSlide" Target="/ppt/notesSlides/notesSlide16.xml" Id="Rb4b2b21ca8b342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80faaf85b43ee" /><Relationship Type="http://schemas.openxmlformats.org/officeDocument/2006/relationships/notesSlide" Target="/ppt/notesSlides/notesSlide17.xml" Id="R768b8428c44d488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95c9c4f2134767" /><Relationship Type="http://schemas.openxmlformats.org/officeDocument/2006/relationships/notesSlide" Target="/ppt/notesSlides/notesSlide18.xml" Id="R7e562805d8724b37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grouping val="clustered"/>
        <c:varyColors val="0"/>
        <c:ser>
          <c:idx val="0"/>
          <c:order val="0"/>
          <c:tx>
            <c:v>Aotizhongxin</c:v>
          </c:tx>
          <c:spPr>
            <a:solidFill xmlns:a="http://schemas.openxmlformats.org/drawingml/2006/main">
              <a:srgbClr val="5573A3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8"/>
              <c:pt idx="0">
                <c:v>2013 H1</c:v>
              </c:pt>
              <c:pt idx="1">
                <c:v>2013 H2</c:v>
              </c:pt>
              <c:pt idx="2">
                <c:v>2014 H1</c:v>
              </c:pt>
              <c:pt idx="3">
                <c:v>2014 H2</c:v>
              </c:pt>
              <c:pt idx="4">
                <c:v>2015 H1</c:v>
              </c:pt>
              <c:pt idx="5">
                <c:v>2015 H2</c:v>
              </c:pt>
              <c:pt idx="6">
                <c:v>2016 H1</c:v>
              </c:pt>
              <c:pt idx="7">
                <c:v>2016 H2</c:v>
              </c:pt>
            </c:strLit>
          </c:cat>
          <c:val>
            <c:numLit>
              <c:formatCode>General</c:formatCode>
              <c:ptCount val="8"/>
              <c:pt idx="0">
                <c:v>43</c:v>
              </c:pt>
              <c:pt idx="1">
                <c:v>58</c:v>
              </c:pt>
              <c:pt idx="2">
                <c:v>37</c:v>
              </c:pt>
              <c:pt idx="3">
                <c:v>30</c:v>
              </c:pt>
              <c:pt idx="4">
                <c:v>39</c:v>
              </c:pt>
              <c:pt idx="5">
                <c:v>7</c:v>
              </c:pt>
              <c:pt idx="6">
                <c:v>13</c:v>
              </c:pt>
              <c:pt idx="7">
                <c:v>0</c:v>
              </c:pt>
            </c:numLit>
          </c:val>
        </c:ser>
        <c:ser>
          <c:idx val="1"/>
          <c:order val="1"/>
          <c:tx>
            <c:v>Changping</c:v>
          </c:tx>
          <c:spPr>
            <a:solidFill xmlns:a="http://schemas.openxmlformats.org/drawingml/2006/main">
              <a:srgbClr val="CC8963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8"/>
              <c:pt idx="0">
                <c:v>2013 H1</c:v>
              </c:pt>
              <c:pt idx="1">
                <c:v>2013 H2</c:v>
              </c:pt>
              <c:pt idx="2">
                <c:v>2014 H1</c:v>
              </c:pt>
              <c:pt idx="3">
                <c:v>2014 H2</c:v>
              </c:pt>
              <c:pt idx="4">
                <c:v>2015 H1</c:v>
              </c:pt>
              <c:pt idx="5">
                <c:v>2015 H2</c:v>
              </c:pt>
              <c:pt idx="6">
                <c:v>2016 H1</c:v>
              </c:pt>
              <c:pt idx="7">
                <c:v>2016 H2</c:v>
              </c:pt>
            </c:strLit>
          </c:cat>
          <c:val>
            <c:numLit>
              <c:formatCode>General</c:formatCode>
              <c:ptCount val="8"/>
              <c:pt idx="0">
                <c:v>17</c:v>
              </c:pt>
              <c:pt idx="1">
                <c:v>24</c:v>
              </c:pt>
              <c:pt idx="2">
                <c:v>112</c:v>
              </c:pt>
              <c:pt idx="3">
                <c:v>2</c:v>
              </c:pt>
              <c:pt idx="4">
                <c:v>11</c:v>
              </c:pt>
              <c:pt idx="5">
                <c:v>5</c:v>
              </c:pt>
              <c:pt idx="6">
                <c:v>2</c:v>
              </c:pt>
              <c:pt idx="7">
                <c:v>0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7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36D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00">
                    <a:solidFill>
                      <a:srgbClr val="52636D"/>
                    </a:solidFill>
                  </a:rPr>
                  <a:t>Violation pairs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>
                  <a:solidFill>
                    <a:srgbClr val="52636D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BD7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2636D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2636D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17142A-37E9-4F78-BD1B-0DE27973B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772573-BCB5-482B-A78A-3E0E84C6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876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 i="0">
                <a:solidFill>
                  <a:srgbClr val="13212A"/>
                </a:solidFill>
              </a:defRPr>
            </a:pPr>
            <a:r>
              <a:rPr sz="4650" b="1" i="0">
                <a:solidFill>
                  <a:srgbClr val="13212A"/>
                </a:solidFill>
              </a:rPr>
              <a:t>URBAN AIR-QUALITY</a:t>
            </a:r>
          </a:p>
          <a:p xmlns:a="http://schemas.openxmlformats.org/drawingml/2006/main">
            <a:pPr algn="l">
              <a:defRPr sz="4650" b="1" i="0">
                <a:solidFill>
                  <a:srgbClr val="13212A"/>
                </a:solidFill>
              </a:defRPr>
            </a:pPr>
            <a:r>
              <a:rPr sz="4650" b="1" i="0">
                <a:solidFill>
                  <a:srgbClr val="13212A"/>
                </a:solidFill>
              </a:rPr>
              <a:t>CONSISTENCY PROFILING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044AE1-16CD-4912-B063-05ACFD9E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809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7D73"/>
                </a:solidFill>
              </a:defRPr>
            </a:pPr>
            <a:r>
              <a:rPr sz="2550" b="1" i="0">
                <a:solidFill>
                  <a:srgbClr val="167D73"/>
                </a:solidFill>
              </a:rPr>
              <a:t>with Relaxed Functional Dependencies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F6F1C-1969-4CC4-B221-4C39531C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2636D"/>
                </a:solidFill>
              </a:defRPr>
            </a:pPr>
            <a:r>
              <a:rPr sz="1800" b="0" i="0">
                <a:solidFill>
                  <a:srgbClr val="52636D"/>
                </a:solidFill>
              </a:rPr>
              <a:t>A reproducible analytical workflow for approximate environmental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20BFD-200B-4283-8579-C2268E28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9168-A47C-4E99-9AEE-8DE02672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291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Matteo Ercolino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98B714-4BF2-4D7A-92AC-DE6EC2E8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KDIID · Final project presentation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BF969-B35B-4F64-A9AB-67096C6E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6250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250" b="1" i="0">
                <a:solidFill>
                  <a:srgbClr val="2D6278"/>
                </a:solidFill>
              </a:defRPr>
            </a:pPr>
            <a:r>
              <a:rPr sz="2250" b="1" i="0">
                <a:solidFill>
                  <a:srgbClr val="2D6278"/>
                </a:solidFill>
              </a:rPr>
              <a:t>Consistency—not prediction, not causality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D4F5E-51A4-4D82-827A-19BF3768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72327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CE93DD-86C9-4E0C-8CFC-8B31EAFA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B0F20-D552-4447-BCE7-6A2859E3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Why deterministic rules are the wrong target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31A79-AA85-41C7-B1C4-BCAE8F9E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7E57F-A3EF-434F-81C7-FBE9BD06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857B0-8B50-4011-A7AC-71F55CE0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Urban environmental data are: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A9DDBB-E4A0-479F-8F83-DF30C5BD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86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13ABED-63C6-4458-961D-025A7C5AB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4533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noisy and affected by measurement uncertainty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379CE1-90AC-465F-97B0-2205CECC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0CE3B-D180-4F0C-B28D-AE8A4B2DD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4533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variable across time, sites, and weather conditions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79DB1-209D-4E1D-B7A0-59618D64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33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203159-0FED-4D11-94CE-BC6C1E0F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48100"/>
            <a:ext cx="4533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influenced by factors that are not fully observed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F525A-2889-4A65-BAFB-7CA4E072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57375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BE7C88-1D4A-4798-9348-12770C10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67D73"/>
                </a:solidFill>
              </a:defRPr>
            </a:pPr>
            <a:r>
              <a:rPr sz="2100" b="1" i="0">
                <a:solidFill>
                  <a:srgbClr val="167D73"/>
                </a:solidFill>
              </a:rPr>
              <a:t>The analytical question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6581D3-12E0-4748-B010-601101E1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381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3212A"/>
                </a:solidFill>
              </a:defRPr>
            </a:pPr>
            <a:r>
              <a:rPr sz="2400" b="1" i="0">
                <a:solidFill>
                  <a:srgbClr val="13212A"/>
                </a:solidFill>
              </a:rPr>
              <a:t>When observations are similar in context and pollutant levels, how often do other measurements remain similar?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BC2F86-AD41-4CB6-B428-F36AAEFC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6720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2636D"/>
                </a:solidFill>
              </a:defRPr>
            </a:pPr>
            <a:r>
              <a:rPr sz="1725" b="0" i="0">
                <a:solidFill>
                  <a:srgbClr val="52636D"/>
                </a:solidFill>
              </a:rPr>
              <a:t>Measure approximate regularity—without forcing exact laws.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22DF9-6A94-4A01-B450-3CCB46E1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E6875D-A188-42A0-89CD-E96F25D1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goal is to quantify approximate consistency, not to predict outcomes or prove causality.</a:t>
            </a:r>
          </a:p>
        </p:txBody>
      </p:sp>
    </p:spTree>
    <p:extLst>
      <p:ext uri="{BB962C8B-B14F-4D97-AF65-F5344CB8AC3E}">
        <p14:creationId xmlns:p14="http://schemas.microsoft.com/office/powerpoint/2010/main" val="5501878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256C6B-AD76-4B95-8EFB-E2C928DC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E3C9B-D31B-4416-8EAD-D133438D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A conceptual Urban Digital Twin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6D88E-1CAC-4F77-B94F-5282D99A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30003F-3EBA-4265-88B6-C26343FF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A00AB-EF0E-41A2-98AB-F5A1E919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809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52636D"/>
                </a:solidFill>
              </a:defRPr>
            </a:pPr>
            <a:r>
              <a:rPr sz="1875" b="0" i="0">
                <a:solidFill>
                  <a:srgbClr val="52636D"/>
                </a:solidFill>
              </a:rPr>
              <a:t>The Digital Twin is a framing device for an analytical loop: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E171D5-4FAD-4B75-9337-8C0B17E9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28950"/>
            <a:ext cx="5905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2CBA9-D1A3-4CB7-8353-DAC4083A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28950"/>
            <a:ext cx="5905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62123-F1A6-4E40-92F7-0E4ABFDD0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28950"/>
            <a:ext cx="5905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E33EF5-F45E-4062-B7EC-41497038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2095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97D85-45B3-41A1-875D-DB21F48F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CA4BF-A71E-47A8-B7D1-01C28E3D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43225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HISTORICAL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8FCAB-3D93-4FCE-A498-77F91109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5757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Two stations, pollutants, meteorology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BF771-D80B-4F31-9F89-00F2F1F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00300"/>
            <a:ext cx="2095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8D350C-DA36-444F-88CE-8797A59F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7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D0673-0126-4235-BD55-0C66625C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43225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APPROXIMATE RULES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EDC8C9-67BD-4A1F-BB42-78E66AD2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5757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RFDs describe expected similarity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C37396-DC6E-49A6-B2E7-D2023A03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00300"/>
            <a:ext cx="2095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406D7C-B986-4AF3-A54E-83AA21B6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7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24FF9C-A3A7-4CEF-9DCE-D1DA9E714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43225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VIOLATIONS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2FE7C5-521B-415B-8A8A-2B7EEC05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5757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Cases that break the expected pattern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2468F4-67C3-446D-8922-1B283EE1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00300"/>
            <a:ext cx="2095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D9EFEC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F606A0-76FB-4BB4-B517-18D4B20C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57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613A06-DCB3-45E0-84EB-0488E974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43225"/>
            <a:ext cx="1762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MONITORING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A70CD8-9182-4AF8-873B-4D0003B0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5757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2636D"/>
                </a:solidFill>
              </a:defRPr>
            </a:pPr>
            <a:r>
              <a:rPr sz="1125" b="0" i="0">
                <a:solidFill>
                  <a:srgbClr val="52636D"/>
                </a:solidFill>
              </a:rPr>
              <a:t>Monthly metrics reveal regime changes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E47C6E-DC4B-4736-9748-849E63CF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5534A"/>
                </a:solidFill>
              </a:defRPr>
            </a:pPr>
            <a:r>
              <a:rPr sz="1500" b="1" i="0">
                <a:solidFill>
                  <a:srgbClr val="B5534A"/>
                </a:solidFill>
              </a:rPr>
              <a:t>Not built here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0E2F5A-2084-44DF-B470-B7F071062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24375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3D platform · real-time infrastructure · operational control system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629B46-B38D-4077-9100-39F900E5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A071C9-05D8-4AFC-BE8E-DE8F8B05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contribution is a reproducible analytical workflow—not a 3D or real-time platform.</a:t>
            </a:r>
          </a:p>
        </p:txBody>
      </p:sp>
    </p:spTree>
    <p:extLst>
      <p:ext uri="{BB962C8B-B14F-4D97-AF65-F5344CB8AC3E}">
        <p14:creationId xmlns:p14="http://schemas.microsoft.com/office/powerpoint/2010/main" val="14632355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EA68EE-244B-4848-B5D7-4A7E81DE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1E798E-922F-4235-B147-59F862DB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Dataset design: full profiling, balanced RFD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B951B-68CD-4530-B1F7-079D79CB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1F9FA5-4FC5-47BE-B987-5299ED0C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370D8-7376-4469-96DA-6E1EC5AA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Beijing Multi-Site Air Quality Data Set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B3A8F-121A-4E35-BBCF-D54D87FE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1455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2636D"/>
                </a:solidFill>
              </a:defRPr>
            </a:pPr>
            <a:r>
              <a:rPr sz="1650" b="0" i="0">
                <a:solidFill>
                  <a:srgbClr val="52636D"/>
                </a:solidFill>
              </a:rPr>
              <a:t>Aotizhongxin + Changping · March 2013–February 2017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63E62F-48B6-4F47-9DFC-332A5B69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13212A"/>
                </a:solidFill>
              </a:defRPr>
            </a:pPr>
            <a:r>
              <a:rPr sz="3900" b="1" i="0">
                <a:solidFill>
                  <a:srgbClr val="13212A"/>
                </a:solidFill>
              </a:rPr>
              <a:t>66,619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42A12-DE23-4CCD-93FD-DD1189EC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clean observations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08491-AC85-4ACE-B264-CFBF7CFB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95625"/>
            <a:ext cx="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C2F390-12E0-41CA-BDDB-D4C3F38C4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099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13212A"/>
                </a:solidFill>
              </a:defRPr>
            </a:pPr>
            <a:r>
              <a:rPr sz="3900" b="1" i="0">
                <a:solidFill>
                  <a:srgbClr val="13212A"/>
                </a:solidFill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5E8878-2FB8-4BCA-822F-BD13D97B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714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final variables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6FF49-C51F-4F11-89BC-27F7B1EA0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095625"/>
            <a:ext cx="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4DF95E-DA68-4843-AA18-DA5E1850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099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167D73"/>
                </a:solidFill>
              </a:defRPr>
            </a:pPr>
            <a:r>
              <a:rPr sz="3900" b="1" i="0">
                <a:solidFill>
                  <a:srgbClr val="167D73"/>
                </a:solidFill>
              </a:rPr>
              <a:t>1,500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7AC04B-27B9-4EBF-A4B5-EFFA7C49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14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balanced RFD rows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E47953-3612-49E1-A8F2-269578B9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95625"/>
            <a:ext cx="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FECB5-A994-4185-90DE-363D48B9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099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3212A"/>
                </a:solidFill>
              </a:defRPr>
            </a:pPr>
            <a:r>
              <a:rPr sz="3150" b="1" i="0">
                <a:solidFill>
                  <a:srgbClr val="13212A"/>
                </a:solidFill>
              </a:rPr>
              <a:t>1,124,250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320A91-43BA-4044-862E-28A3F0BE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714750"/>
            <a:ext cx="2238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pairwise comparisons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89DC72-C878-4F7D-B242-36D083CB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5727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83F0F7-FF66-4364-AC33-350A2713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2143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Missing-value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046DE7-07DC-43A0-80FF-81FEBB2E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743450"/>
            <a:ext cx="781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summarize missingness → drop incomplete rows on selected columns → no imputation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8CE2E9-C054-4372-8D18-A1AE3F34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D34556-3AD5-4BF4-8665-9627A002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Use all cleaned observations for profiling; reduce only the quadratic pairwise experiments.</a:t>
            </a:r>
          </a:p>
        </p:txBody>
      </p:sp>
    </p:spTree>
    <p:extLst>
      <p:ext uri="{BB962C8B-B14F-4D97-AF65-F5344CB8AC3E}">
        <p14:creationId xmlns:p14="http://schemas.microsoft.com/office/powerpoint/2010/main" val="192524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7BB717-9FA0-4F93-93B3-B7FF9C88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DDEE5-9EB5-4424-BB40-5438AACC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From exact equality to expected similarity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7C7AE9-2537-4F16-9704-C2DF24E7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304AD-9C2C-48B7-9CB3-DA7CE5B5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FC9EF-8467-4396-8B01-4780231D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52636D"/>
                </a:solidFill>
              </a:defRPr>
            </a:pPr>
            <a:r>
              <a:rPr sz="1650" b="1" i="0">
                <a:solidFill>
                  <a:srgbClr val="52636D"/>
                </a:solidFill>
              </a:rPr>
              <a:t>CLASSICAL FD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8CD983-5F36-4FD0-9606-DF3AA3383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574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750" b="1" i="0">
                <a:solidFill>
                  <a:srgbClr val="13212A"/>
                </a:solidFill>
              </a:defRPr>
            </a:pPr>
            <a:r>
              <a:rPr sz="3750" b="1" i="0">
                <a:solidFill>
                  <a:srgbClr val="13212A"/>
                </a:solidFill>
              </a:rPr>
              <a:t>X₁ = X₂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08D5E-CB25-4193-ACCF-2DB3E88C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0992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implies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F0AA33-874C-4031-B527-D561FD24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195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750" b="1" i="0">
                <a:solidFill>
                  <a:srgbClr val="13212A"/>
                </a:solidFill>
              </a:defRPr>
            </a:pPr>
            <a:r>
              <a:rPr sz="3750" b="1" i="0">
                <a:solidFill>
                  <a:srgbClr val="13212A"/>
                </a:solidFill>
              </a:rPr>
              <a:t>Y₁ = Y₂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C74B98-F23F-4E24-97DC-28E1EC82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90500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74B74-F251-4269-BDFE-F74005C7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8478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RELAXED FD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C25815-7D71-433D-A6AD-D8830496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574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750" b="1" i="0">
                <a:solidFill>
                  <a:srgbClr val="167D73"/>
                </a:solidFill>
              </a:defRPr>
            </a:pPr>
            <a:r>
              <a:rPr sz="3750" b="1" i="0">
                <a:solidFill>
                  <a:srgbClr val="167D73"/>
                </a:solidFill>
              </a:rPr>
              <a:t>X₁ ≈ X₂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9F68C-0FBC-4229-B2D4-402FA073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099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implies expected similarity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27B62F-89E7-4D50-B39E-7814660B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1950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750" b="1" i="0">
                <a:solidFill>
                  <a:srgbClr val="167D73"/>
                </a:solidFill>
              </a:defRPr>
            </a:pPr>
            <a:r>
              <a:rPr sz="3750" b="1" i="0">
                <a:solidFill>
                  <a:srgbClr val="167D73"/>
                </a:solidFill>
              </a:rPr>
              <a:t>Y₁ ≈ Y₂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F56AFD-7ED5-46F6-B176-1F7B57BD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5534A"/>
                </a:solidFill>
              </a:defRPr>
            </a:pPr>
            <a:r>
              <a:rPr sz="1350" b="0" i="0">
                <a:solidFill>
                  <a:srgbClr val="B5534A"/>
                </a:solidFill>
              </a:rPr>
              <a:t>exact constraints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10DAF-85E9-443A-A1E8-28584CE6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476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2D6278"/>
                </a:solidFill>
              </a:defRPr>
            </a:pPr>
            <a:r>
              <a:rPr sz="1350" b="0" i="0">
                <a:solidFill>
                  <a:srgbClr val="2D6278"/>
                </a:solidFill>
              </a:rPr>
              <a:t>threshold-based regularities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C427D4-8534-4A7E-9D2F-B2330CE0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ED6960-B3BF-4184-AB96-7F91682B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RFDs match noisy environmental observations better than deterministic functional dependencies.</a:t>
            </a:r>
          </a:p>
        </p:txBody>
      </p:sp>
    </p:spTree>
    <p:extLst>
      <p:ext uri="{BB962C8B-B14F-4D97-AF65-F5344CB8AC3E}">
        <p14:creationId xmlns:p14="http://schemas.microsoft.com/office/powerpoint/2010/main" val="19916557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9AF853-028A-46B3-93CA-B16EDD82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B087E-B655-4705-9147-F4B8AC81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How similarity is defined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AEE10-FA80-4DBB-A7CC-E5CC388B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3DB3C0-4A10-45DF-A55E-B1B769E9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A8A5E-799D-4D43-960E-B0BBC1C8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CATEGORICAL ATTRIBUTES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AE746E-187B-4CF0-8486-F6873212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390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212A"/>
                </a:solidFill>
              </a:defRPr>
            </a:pPr>
            <a:r>
              <a:rPr sz="1725" b="1" i="0">
                <a:solidFill>
                  <a:srgbClr val="13212A"/>
                </a:solidFill>
              </a:rPr>
              <a:t>station, time_slot  →  exact match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40A23-2569-4EC8-BE87-4924CFF7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3B19E-A0D8-4175-B96B-8D0BFAE7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212A"/>
                </a:solidFill>
              </a:defRPr>
            </a:pPr>
            <a:r>
              <a:rPr sz="1725" b="1" i="0">
                <a:solidFill>
                  <a:srgbClr val="13212A"/>
                </a:solidFill>
              </a:rPr>
              <a:t>hour  →  circular distance ≤ 1 hour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23CF3C-3359-4855-8F2F-1970E10A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007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NUMERICAL ATTRIBUTES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91748F-B620-4EC5-AA8A-E8EF9FE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3212A"/>
                </a:solidFill>
              </a:defRPr>
            </a:pPr>
            <a:r>
              <a:rPr sz="1725" b="1" i="0">
                <a:solidFill>
                  <a:srgbClr val="13212A"/>
                </a:solidFill>
              </a:rPr>
              <a:t>absolute distance thresholds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4332E7-3CF4-4DE6-802C-431452EE3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714500"/>
            <a:ext cx="6191250" cy="346710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C7EF6-7450-4019-A302-791CE2A4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62150"/>
            <a:ext cx="552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67D73"/>
                </a:solidFill>
              </a:defRPr>
            </a:pPr>
            <a:r>
              <a:rPr sz="1500" b="1" i="0">
                <a:solidFill>
                  <a:srgbClr val="167D73"/>
                </a:solidFill>
              </a:rPr>
              <a:t>MEDIUM SETUP · MAIN CONFIGURATION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D2971-C461-42D4-8B90-80C8E14F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5336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TEMP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EAE45-34AD-4A50-A46F-C3C3B5EC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53365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2.0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18EB2F-387C-45A6-92FE-654EA78F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1146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DEWP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83EE3-4F82-4D17-9147-E6E912A0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1146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2.0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386EAB-35F6-433F-AA31-9BDC59F3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6957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WSPM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8EB0B8-B850-4BA8-9088-B217634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6957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CACA94-C9D4-4880-93C6-682F9870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27672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PM2.5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F953A6-96F2-4F5F-8B34-E535B690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27672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10.0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B21A6D-4D3C-4BE1-8C2C-6DDC9C91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5336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PM10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E6F1A5-02D2-4B67-A0A7-72569142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53365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15.0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69A4E3-680D-4167-A433-6DA5A228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1146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NO2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DFA1CD-7A73-4C19-97F1-E2CD8562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1146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10.0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F10FEE-F391-4586-BADF-4F1BB9D8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6957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O3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4B736-50BA-418B-A23D-528D6F21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695700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2D6278"/>
                </a:solidFill>
              </a:defRPr>
            </a:pPr>
            <a:r>
              <a:rPr sz="1650" b="0" i="0">
                <a:solidFill>
                  <a:srgbClr val="2D6278"/>
                </a:solidFill>
              </a:rPr>
              <a:t>≤ 10.0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CDC23D-E79D-4CD0-A0A8-0BC6AD9C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3816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Strict and relaxed settings are used as sensitivity analysis.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45321-9563-43A1-8B53-08A8904E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52AA13-111F-442D-A059-E32895A5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Similarity is manually defined through interpretable thresholds, then checked under strict, medium and relaxed settings.</a:t>
            </a:r>
          </a:p>
        </p:txBody>
      </p:sp>
    </p:spTree>
    <p:extLst>
      <p:ext uri="{BB962C8B-B14F-4D97-AF65-F5344CB8AC3E}">
        <p14:creationId xmlns:p14="http://schemas.microsoft.com/office/powerpoint/2010/main" val="1624174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7FF7E6-77FA-41DB-BEF2-6299CF17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0E5688-C056-4932-A9AC-80056261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Four metrics keep the interpretation honest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5A213-605E-46C9-BD80-A6F43E5F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80D97D-7E39-40BE-86DD-A449D6B6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16718E-C758-4B3C-AA03-D925100F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F8903-2188-461D-B9FA-5C9C11CA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antecedent pairs / all pairs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27B865-440C-4C91-A07B-D9E76B5E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527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How often are tuples comparable?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184134-B466-484D-BB4D-1212522F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771650"/>
            <a:ext cx="0" cy="209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F4AD1A-D80E-4992-BC8D-3346F31C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9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CONFIDENCE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DBE63-C222-4E68-AB72-48FB5549A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860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valid pairs / antecedent pairs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E092F-1ED0-4A9C-BBD8-A602D098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527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How often does the rule hold?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B15EB4-119B-4C6F-9C8C-D6DCDB07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71650"/>
            <a:ext cx="0" cy="209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2E71AE-843F-4386-8ED5-1259181E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09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E0640-A974-4E5E-AA0D-3327E69B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8600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mean confidence over 30 seeded RHS permutations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06B1C0-1834-460C-A114-DA08AD3C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527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What happens by chance?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FF29B7-CB7D-4133-9A4F-219FD655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38625"/>
            <a:ext cx="7429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2076E4-778A-44C3-B895-33D2FC59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76750"/>
            <a:ext cx="109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LIFT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180BFD-7352-4498-8849-7C8610D4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624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confidence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8D1EA2-E68C-4F5B-83C6-F6D3D26F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781550"/>
            <a:ext cx="1952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321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B08E2B-D3E4-4C2B-9B13-5A08E6EB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57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baseline confidence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929459-419E-439A-B673-A561A10B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572000"/>
            <a:ext cx="33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13212A"/>
                </a:solidFill>
              </a:defRPr>
            </a:pPr>
            <a:r>
              <a:rPr sz="2550" b="1" i="0">
                <a:solidFill>
                  <a:srgbClr val="13212A"/>
                </a:solidFill>
              </a:rPr>
              <a:t>=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6C3ED0-36D0-4A36-9D74-F255294C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57200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D6278"/>
                </a:solidFill>
              </a:defRPr>
            </a:pPr>
            <a:r>
              <a:rPr sz="1575" b="1" i="0">
                <a:solidFill>
                  <a:srgbClr val="2D6278"/>
                </a:solidFill>
              </a:rPr>
              <a:t>&gt; 1 means more informative than chance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3E39F8-E390-4ED1-A62F-4A9EB7BE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7E12BC-1E75-4D5A-B011-2587C525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Lift prevents moderate confidence from being mistaken for weak evidence—or overvalued in isolation.</a:t>
            </a:r>
          </a:p>
        </p:txBody>
      </p:sp>
    </p:spTree>
    <p:extLst>
      <p:ext uri="{BB962C8B-B14F-4D97-AF65-F5344CB8AC3E}">
        <p14:creationId xmlns:p14="http://schemas.microsoft.com/office/powerpoint/2010/main" val="13044102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503169-7B77-42D1-A677-F2A37E60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E630B-F717-4C12-92EF-AEBC0989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One pipeline, multiple checks on robustness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531002-B562-4955-A996-DA971F71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ADA48-A67C-4A73-8714-30654DE5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DCFEB-6FDD-4B36-B21A-A95BAB1B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00037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ADD131-C29B-4BDF-AC04-1C8C5575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0037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941055-B1B1-404F-9ACE-0AB28DA1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0037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80305D-D694-4E4F-9F3E-EB93AA2C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0037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F717F-5CB6-4D24-A2D9-CD525A41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00037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D5B090-9154-4703-A218-AF70BB7A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0037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FF4A8-EF76-4C8A-9296-B75E0952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00375"/>
            <a:ext cx="400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22F98-60BD-475C-BD52-5078D15FC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978A6-A915-4473-8A4D-5863C487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4B011-5710-4DDF-A4A5-65BBB3B0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Preprocess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410EE8-F616-481C-91AB-6EDE4E33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144425-3697-4729-939F-A8BC833A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243822-7747-4AA5-899E-0A5ED1769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Profile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376C61-8426-4F71-A784-545014A6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0E4A8B-7E78-4917-B576-2DB11EBD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54D5BC-8961-4DEF-BE37-EACD6DED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Candidate</a:t>
            </a:r>
          </a:p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RFDs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6C27F6-AE28-45E9-9F97-131A1A85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8EE697-89B2-4B56-A8FB-349680A8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EC1308-BFEF-45FF-BE3E-1933C260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Permutation</a:t>
            </a:r>
          </a:p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baseline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3AB98-C302-48CD-ADAB-D42A165F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B7BEE1-98BC-47A5-B2E8-6BE29F8E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217D34-493E-4F1E-941A-4C960C8A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Bootstrap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12405E-CDB1-46A7-9B0C-E214B7A9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8DBC20-F0C2-48AA-91DC-8A7D52C7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737FDB-C131-4F33-B2D5-21B9CBC3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Temporal</a:t>
            </a:r>
          </a:p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split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EE5BDE-E207-4580-9181-2937E33E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5F2229-5271-4646-ABE1-64E812EA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86B19F-0C91-48EF-8B16-2594ABF5E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Monthly</a:t>
            </a:r>
          </a:p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profiling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036839-1B34-43B5-8FBE-A604BF79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571750"/>
            <a:ext cx="11811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F31A2E-539B-4E9E-B124-B1661EA8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6860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7D73"/>
                </a:solidFill>
              </a:defRPr>
            </a:pPr>
            <a:r>
              <a:rPr sz="975" b="1" i="0">
                <a:solidFill>
                  <a:srgbClr val="167D73"/>
                </a:solidFill>
              </a:rPr>
              <a:t>08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36EBEB-E963-47D6-8DF3-77E95C7A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3000375"/>
            <a:ext cx="1066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3212A"/>
                </a:solidFill>
              </a:defRPr>
            </a:pPr>
            <a:r>
              <a:rPr sz="1200" b="1" i="0">
                <a:solidFill>
                  <a:srgbClr val="13212A"/>
                </a:solidFill>
              </a:rPr>
              <a:t>Violations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C3A62C-8C4B-48FC-9DE9-5F88B8A1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DESCRIBE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2CF85D-E151-4BB1-9C31-D3E1F1BD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4038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COMPARE WITH CHANCE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3D4A3D-EB57-4A23-9006-962281E9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38600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TEST STABILITY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F4F457-B25C-44D1-A913-74154887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0386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52636D"/>
                </a:solidFill>
              </a:defRPr>
            </a:pPr>
            <a:r>
              <a:rPr sz="1275" b="1" i="0">
                <a:solidFill>
                  <a:srgbClr val="52636D"/>
                </a:solidFill>
              </a:rPr>
              <a:t>INVESTIGATE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E0A035-1141-45C6-89D7-1ED0F8C2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AC82CE-11A6-474C-9840-E7E0A34E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experiment tests robustness and stability—not only whether a single rule looks plausible.</a:t>
            </a:r>
          </a:p>
        </p:txBody>
      </p:sp>
    </p:spTree>
    <p:extLst>
      <p:ext uri="{BB962C8B-B14F-4D97-AF65-F5344CB8AC3E}">
        <p14:creationId xmlns:p14="http://schemas.microsoft.com/office/powerpoint/2010/main" val="10072063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ACB8F7-DB4D-4320-A06E-9146FB49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258B5-1408-46BC-ACAA-1AE62FD8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Descriptive profiling reveals one dominant pattern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E299E-1C5B-4149-9178-8626E26E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36897-71D9-4D62-9319-026609151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F8E0F3-70CF-4F87-B272-9C72ECE2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6905625" cy="405765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3ca670cd74284"/>
          <a:stretch xmlns:a="http://schemas.openxmlformats.org/drawingml/2006/main"/>
        </p:blipFill>
        <p:spPr>
          <a:xfrm xmlns:a="http://schemas.openxmlformats.org/drawingml/2006/main">
            <a:off x="1775336" y="1752600"/>
            <a:ext cx="4536053" cy="37528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A75EF-DED3-4F3D-A330-06364B87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5100" b="1" i="0">
                <a:solidFill>
                  <a:srgbClr val="167D73"/>
                </a:solidFill>
              </a:defRPr>
            </a:pPr>
            <a:r>
              <a:rPr sz="5100" b="1" i="0">
                <a:solidFill>
                  <a:srgbClr val="167D73"/>
                </a:solidFill>
              </a:rPr>
              <a:t>0.874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8F192A-AF9C-4F22-B9EF-8F1E2A66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86125"/>
            <a:ext cx="285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PM2.5–PM10</a:t>
            </a:r>
          </a:p>
          <a:p xmlns:a="http://schemas.openxmlformats.org/drawingml/2006/main">
            <a:pPr algn="ctr"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Pearson correlation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735A68-78ED-44F2-B03A-A5DC5F42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43400"/>
            <a:ext cx="295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2636D"/>
                </a:solidFill>
              </a:defRPr>
            </a:pPr>
            <a:r>
              <a:rPr sz="1500" b="0" i="0">
                <a:solidFill>
                  <a:srgbClr val="52636D"/>
                </a:solidFill>
              </a:rPr>
              <a:t>Correlation is descriptive context—not an RFD metric and not causal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75B64C-0413-491D-901B-14C32E0C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FAD44-A711-4721-B382-8B59E958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Fine and coarse particulate matter form the clearest descriptive relationship in the dataset.</a:t>
            </a:r>
          </a:p>
        </p:txBody>
      </p:sp>
    </p:spTree>
    <p:extLst>
      <p:ext uri="{BB962C8B-B14F-4D97-AF65-F5344CB8AC3E}">
        <p14:creationId xmlns:p14="http://schemas.microsoft.com/office/powerpoint/2010/main" val="7853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387F9B-490B-4042-945E-0FABA286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3B7A60-600D-44A8-A2B2-A431428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PM2.5 behavior changes across time and stations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D59E81-3B2E-49C7-88FD-866C6341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42F64-05A8-4A98-8C8E-AB58C863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87F85-8AE4-4486-8ECF-49CEFEA4F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11001375" cy="394335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36840c54254ba7"/>
          <a:stretch xmlns:a="http://schemas.openxmlformats.org/drawingml/2006/main"/>
        </p:blipFill>
        <p:spPr>
          <a:xfrm xmlns:a="http://schemas.openxmlformats.org/drawingml/2006/main">
            <a:off x="2423989" y="1809750"/>
            <a:ext cx="7334497" cy="35623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849C9-6B53-4CFC-B0E6-DA18C04D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EDC8C-BF98-4E06-8DC0-4DCE1F2B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Temporal and site-level variability motivates continuous profiling rather than one static summary.</a:t>
            </a:r>
          </a:p>
        </p:txBody>
      </p:sp>
    </p:spTree>
    <p:extLst>
      <p:ext uri="{BB962C8B-B14F-4D97-AF65-F5344CB8AC3E}">
        <p14:creationId xmlns:p14="http://schemas.microsoft.com/office/powerpoint/2010/main" val="10715571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110AA1-1184-491D-BDFE-E686501F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A4DBA-FC81-4AA5-8F28-B2D9048E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Raw RFDs: moderate confidence, strong lift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7E91DF-27F3-44F5-9F3C-89FAF910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707FF-99B3-46FB-B8E5-F47EC6C67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6A0B64-0812-4CE3-9974-77196A50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Rule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E8BC4-09EB-4743-9BF0-07067F1C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811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Support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66C6D7-D1D3-4E99-B11C-E09087CD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811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Conf.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0FBC18-DB4E-4E6E-A00C-DB04C7DC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781175"/>
            <a:ext cx="1000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E36207-3E4F-4D7A-9FE7-06ABA636E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811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Lift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CCE919-634F-4520-9DF7-8C8F6256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3212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6A421-D4F6-4FBA-B3CE-23295F66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105918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3"/>
          </a:solidFill>
          <a:ln xmlns:a="http://schemas.openxmlformats.org/drawingml/2006/main" w="0">
            <a:solidFill>
              <a:srgbClr val="EEF4F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75271-EDC6-443F-A28D-15159124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station, PM2.5, NO2 → PM10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FB807-B4D7-426C-B29B-11579422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431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0.025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6222DA-02A5-4665-9476-3ED4FD3F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431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0.483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0FA988-FD50-43EF-9098-964EFDC2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43150"/>
            <a:ext cx="1000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0.149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500D78-EDB8-4FBF-A208-07CDB46E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431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3.24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227CE4-69E3-407B-B59D-AB3FC08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12EE4-398A-411D-9644-1E803D22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station, time_slot, PM2.5 → PM10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9DDD17-B880-4C46-A118-ABDDA4A0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194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5761DB-5985-450C-A471-8CFCD594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194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0.449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8DED24-199C-4EB7-BA35-F4A9B0AF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219450"/>
            <a:ext cx="1000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0.148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02F95B-5841-4825-B780-427D3B22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194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3.04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6CA17-E470-4A79-AAF9-9DED63FC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21A576-CAE1-4615-870D-BD459803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station, PM2.5 → PM10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6CE251-7047-4685-BC5A-2583062F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0.073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8B9546-8B68-4723-A058-E4CF7DB9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957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0.434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32DB22-7CAD-4FAE-AB22-072D7858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095750"/>
            <a:ext cx="1000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13212A"/>
                </a:solidFill>
              </a:defRPr>
            </a:pPr>
            <a:r>
              <a:rPr sz="1800" b="0" i="0">
                <a:solidFill>
                  <a:srgbClr val="13212A"/>
                </a:solidFill>
              </a:rPr>
              <a:t>0.147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366FC3-7099-480E-B331-F235AF50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95750"/>
            <a:ext cx="95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67D73"/>
                </a:solidFill>
              </a:defRPr>
            </a:pPr>
            <a:r>
              <a:rPr sz="1800" b="1" i="0">
                <a:solidFill>
                  <a:srgbClr val="167D73"/>
                </a:solidFill>
              </a:rPr>
              <a:t>2.94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323B97-D867-425F-A8EA-DC7D4CBE8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9BE711-00F1-42CB-9E80-E2367FCE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95875"/>
            <a:ext cx="87630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D9EFEC"/>
          </a:solidFill>
          <a:ln xmlns:a="http://schemas.openxmlformats.org/drawingml/2006/main" w="9525">
            <a:solidFill>
              <a:srgbClr val="D9EFE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286D59-512B-418F-A35E-F2994C71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48275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3212A"/>
                </a:solidFill>
              </a:defRPr>
            </a:pPr>
            <a:r>
              <a:rPr sz="1800" b="1" i="0">
                <a:solidFill>
                  <a:srgbClr val="13212A"/>
                </a:solidFill>
              </a:rPr>
              <a:t>3.24× above permutation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F92158-B2E2-4228-A69C-0B97A136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D27876-BB47-4DD7-8AF3-54EE5F00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Confidence is not deterministic, but the particulate rules are roughly three times above chance.</a:t>
            </a:r>
          </a:p>
        </p:txBody>
      </p:sp>
    </p:spTree>
    <p:extLst>
      <p:ext uri="{BB962C8B-B14F-4D97-AF65-F5344CB8AC3E}">
        <p14:creationId xmlns:p14="http://schemas.microsoft.com/office/powerpoint/2010/main" val="19941743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53D310-4F32-4ED4-ADC5-95549C35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A28C40-5809-4E1C-A47F-F5B28939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Environmental meaning: coherence is not causality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06D9BC-23E1-4173-8C77-D81C1623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73E80-EB22-40D7-B0D0-FC19B6FA8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0BF3B-1C1D-4689-9129-5B5AADD1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400050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19050">
            <a:solidFill>
              <a:srgbClr val="53A89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4A307-AE12-4673-ABD9-4FC06EB9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2095500"/>
            <a:ext cx="2238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2D6278"/>
                </a:solidFill>
              </a:defRPr>
            </a:pPr>
            <a:r>
              <a:rPr sz="2550" b="1" i="0">
                <a:solidFill>
                  <a:srgbClr val="2D6278"/>
                </a:solidFill>
              </a:rPr>
              <a:t>PM10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EC5DFE-B7E4-4B0D-BCC9-2CCE3470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3000375"/>
            <a:ext cx="200025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D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FA002A-D24B-465C-8B6B-9DAB7253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956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167D73"/>
                </a:solidFill>
              </a:defRPr>
            </a:pPr>
            <a:r>
              <a:rPr sz="2250" b="1" i="0">
                <a:solidFill>
                  <a:srgbClr val="167D73"/>
                </a:solidFill>
              </a:rPr>
              <a:t>PM2.5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A67209-EBCF-4A60-B5B9-5484B42F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57375"/>
            <a:ext cx="5143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Fine particles are included within the broader PM10 size fraction.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12AFBB-F3D9-4AAA-B525-16E2353A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943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89C21-4451-4001-8084-04F3FF11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857500"/>
            <a:ext cx="48672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Similar PM2.5 at the same station often accompanies similar PM10.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63B36E-C853-429A-9A67-CA711F33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590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BE60C6-F880-4207-B1CB-AA47EE39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505200"/>
            <a:ext cx="48672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NO2 may capture shared emission conditions or common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EF1E64-F17E-40CC-96C5-06E8F6FC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A772BD-C746-45C6-B5CE-00C47758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152900"/>
            <a:ext cx="48672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Meteorology and particle composition can still alter the relationship.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D8D2D-93BB-4D0D-B3FC-F0480F8F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9339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B5534A"/>
                </a:solidFill>
              </a:defRPr>
            </a:pPr>
            <a:r>
              <a:rPr sz="2250" b="1" i="0">
                <a:solidFill>
                  <a:srgbClr val="B5534A"/>
                </a:solidFill>
              </a:rPr>
              <a:t>COHERENCE ≠ CAUSALITY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2BD765-6F44-4189-BC8F-80926EF1E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303053-3DAF-4AD0-BDFE-B07464C99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rule describes consistency between measurements; it does not identify a causal mechanism.</a:t>
            </a:r>
          </a:p>
        </p:txBody>
      </p:sp>
    </p:spTree>
    <p:extLst>
      <p:ext uri="{BB962C8B-B14F-4D97-AF65-F5344CB8AC3E}">
        <p14:creationId xmlns:p14="http://schemas.microsoft.com/office/powerpoint/2010/main" val="14466680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96A3C4-AD5E-4BB6-A977-51B9BDBF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9451B-3B2B-4067-870A-6CFA5CE5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Discretized RFDs trade granularity for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E6D701-3E80-4196-B481-371A186E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36A15-0710-4D1E-A58E-26518CE5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221FD-8F88-42C2-9716-6FABE1AA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0429875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03F2E-C2AF-49D1-9496-605DBC3A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00275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13212A"/>
                </a:solidFill>
              </a:defRPr>
            </a:pPr>
            <a:r>
              <a:rPr sz="2325" b="1" i="0">
                <a:solidFill>
                  <a:srgbClr val="13212A"/>
                </a:solidFill>
              </a:rPr>
              <a:t>station, PM2.5_bin, NO2_bin  →  PM10_bin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520CE-F383-4CBC-AA77-B2E2C6A1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76625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0.079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E2BCE-4918-4548-BAED-C73D634A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114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support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493296-8240-4BB0-AC65-286F3150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476625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167D73"/>
                </a:solidFill>
              </a:defRPr>
            </a:pPr>
            <a:r>
              <a:rPr sz="3600" b="1" i="0">
                <a:solidFill>
                  <a:srgbClr val="167D73"/>
                </a:solidFill>
              </a:rPr>
              <a:t>0.689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FF19E9-D21E-4B1E-9D93-2FEBE7F8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114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confidence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47B96-F163-458A-938E-47AEB65F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476625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0.333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17361E-37B4-437E-BC5C-1F29348C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14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4AD639-3555-49EE-92E9-B3972DF4F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476625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2.07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952E37-55BA-42D0-81CA-7EB0048F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4114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lift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5664D6-866B-4EF7-A209-0D9A015A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625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13212A"/>
                </a:solidFill>
              </a:defRPr>
            </a:pPr>
            <a:r>
              <a:rPr sz="1650" b="0" i="0">
                <a:solidFill>
                  <a:srgbClr val="13212A"/>
                </a:solidFill>
              </a:rPr>
              <a:t>Low / medium / high quantile classes create broader equivalence groups.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780C72-474D-48D2-BBE4-643C5FDB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625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D6278"/>
                </a:solidFill>
              </a:defRPr>
            </a:pPr>
            <a:r>
              <a:rPr sz="1575" b="1" i="0">
                <a:solidFill>
                  <a:srgbClr val="2D6278"/>
                </a:solidFill>
              </a:rPr>
              <a:t>Higher confidence is expected; raw and binned rules do not impose the same severity.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14B4B2-DC5F-46EA-8C69-0AA5B230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CD14E0-8A8C-4AA5-911D-961E90DC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Binning supports qualitative profiling, but the easier comparison must not be confused with stronger raw evidence.</a:t>
            </a:r>
          </a:p>
        </p:txBody>
      </p:sp>
    </p:spTree>
    <p:extLst>
      <p:ext uri="{BB962C8B-B14F-4D97-AF65-F5344CB8AC3E}">
        <p14:creationId xmlns:p14="http://schemas.microsoft.com/office/powerpoint/2010/main" val="8729643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FA85A3-7CAE-4472-AC03-6E916CF4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CBFF53-F042-467D-BADD-2AAAC974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The top particulate rule remains relatively stable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6C702-F64B-4DCA-97E1-4B896BFA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0ABAC-6662-4BC0-8FEF-F1AE468A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AE25C-D8B3-496E-B565-BC4FA966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BOOTSTRAP · 30 BALANCED RESAMPLES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296442-70AC-4C17-9623-57858D8F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125" b="1" i="0">
                <a:solidFill>
                  <a:srgbClr val="13212A"/>
                </a:solidFill>
              </a:defRPr>
            </a:pPr>
            <a:r>
              <a:rPr sz="4125" b="1" i="0">
                <a:solidFill>
                  <a:srgbClr val="13212A"/>
                </a:solidFill>
              </a:rPr>
              <a:t>0.486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50435-AF34-489E-BFFD-254BDC0F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575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mean confidence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C4334E-1AFE-46E1-A321-54CFA5E3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362200"/>
            <a:ext cx="190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125" b="1" i="0">
                <a:solidFill>
                  <a:srgbClr val="167D73"/>
                </a:solidFill>
              </a:defRPr>
            </a:pPr>
            <a:r>
              <a:rPr sz="4125" b="1" i="0">
                <a:solidFill>
                  <a:srgbClr val="167D73"/>
                </a:solidFill>
              </a:rPr>
              <a:t>3.35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D698A8-DB8C-42D8-8655-A38CF4A7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0575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mean lift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75BAD-83E1-4D39-8282-E65A23DA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67125"/>
            <a:ext cx="42672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672958-54EB-44A7-A79F-F43D6639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29050"/>
            <a:ext cx="381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2636D"/>
                </a:solidFill>
              </a:defRPr>
            </a:pPr>
            <a:r>
              <a:rPr sz="1350" b="0" i="0">
                <a:solidFill>
                  <a:srgbClr val="52636D"/>
                </a:solidFill>
              </a:rPr>
              <a:t>95% empirical lift interval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8BC67-18D9-4904-A574-39237E34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3212A"/>
                </a:solidFill>
              </a:defRPr>
            </a:pPr>
            <a:r>
              <a:rPr sz="2100" b="1" i="0">
                <a:solidFill>
                  <a:srgbClr val="13212A"/>
                </a:solidFill>
              </a:rPr>
              <a:t>[3.15, 3.57]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995394-0A81-4DD2-87E6-601BBDBC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7526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FA461-5546-44E5-86F1-40415C01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8117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CHRONOLOGICAL VALIDATION · 75 / 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87EF5A-980E-42EE-A09D-021A5F91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336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TRAIN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3DF3E7-C56A-48E8-96B8-4B3258DF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52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Mar 2013–Feb 2016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0091EA-C4BD-45BA-9738-E022A196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528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3212A"/>
                </a:solidFill>
              </a:defRPr>
            </a:pPr>
            <a:r>
              <a:rPr sz="2400" b="1" i="0">
                <a:solidFill>
                  <a:srgbClr val="13212A"/>
                </a:solidFill>
              </a:rPr>
              <a:t>lift 3.15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1161CF-8A7A-4327-AFC4-E8EE7989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343275"/>
            <a:ext cx="7620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EFEC"/>
          </a:solidFill>
          <a:ln xmlns:a="http://schemas.openxmlformats.org/drawingml/2006/main" w="0">
            <a:solidFill>
              <a:srgbClr val="D9EF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968292-69B5-4800-B0BA-1243FECE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336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8BAC9E-E1D0-4F3F-9F85-F3FEFF41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52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Mar 2016–Feb 2017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1C4528-0ABE-4749-AEE6-0DB3F7E4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52800"/>
            <a:ext cx="190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167D73"/>
                </a:solidFill>
              </a:defRPr>
            </a:pPr>
            <a:r>
              <a:rPr sz="2400" b="1" i="0">
                <a:solidFill>
                  <a:srgbClr val="167D73"/>
                </a:solidFill>
              </a:rPr>
              <a:t>lift 3.35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2EFB50-A39A-4BBE-B64F-E65F9A8B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9100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0" i="0">
                <a:solidFill>
                  <a:srgbClr val="52636D"/>
                </a:solidFill>
              </a:defRPr>
            </a:pPr>
            <a:r>
              <a:rPr sz="1575" b="0" i="0">
                <a:solidFill>
                  <a:srgbClr val="52636D"/>
                </a:solidFill>
              </a:rPr>
              <a:t>Confidence also rises from 0.444 to 0.528.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F44741-6CC6-4286-846E-EB22A785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891C35-3B5A-41A1-ADE4-4040145D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Resampling and the held-out year both preserve a lift above three for the top rule.</a:t>
            </a:r>
          </a:p>
        </p:txBody>
      </p:sp>
    </p:spTree>
    <p:extLst>
      <p:ext uri="{BB962C8B-B14F-4D97-AF65-F5344CB8AC3E}">
        <p14:creationId xmlns:p14="http://schemas.microsoft.com/office/powerpoint/2010/main" val="184397929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12E51B-E986-4866-9459-7794B5E4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90446A-9FC8-4730-BF1F-7C7EBA19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Continuous profiling exposes changing regimes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F6DEE-EDEA-4BDB-BB01-FD7AFB0C8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5AFCF5-0007-4B01-AD22-74D274A8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6DC27E-31B3-436E-88EC-052E208F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0200"/>
            <a:ext cx="7953375" cy="405765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7d22795f24ba7"/>
          <a:stretch xmlns:a="http://schemas.openxmlformats.org/drawingml/2006/main"/>
        </p:blipFill>
        <p:spPr>
          <a:xfrm xmlns:a="http://schemas.openxmlformats.org/drawingml/2006/main">
            <a:off x="1293488" y="1752600"/>
            <a:ext cx="6566548" cy="37528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0E6E80-A9E5-4CE3-B611-08BE148C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09800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650" b="1" i="0">
                <a:solidFill>
                  <a:srgbClr val="167D73"/>
                </a:solidFill>
              </a:defRPr>
            </a:pPr>
            <a:r>
              <a:rPr sz="4650" b="1" i="0">
                <a:solidFill>
                  <a:srgbClr val="167D73"/>
                </a:solidFill>
              </a:rPr>
              <a:t>48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571D6-ACD8-4F3C-9F7E-FE83AA344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943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3212A"/>
                </a:solidFill>
              </a:defRPr>
            </a:pPr>
            <a:r>
              <a:rPr sz="1500" b="1" i="0">
                <a:solidFill>
                  <a:srgbClr val="13212A"/>
                </a:solidFill>
              </a:rPr>
              <a:t>monthly windows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799582-F3E5-405B-9BD7-4E62745C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86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3546AF-C348-4165-AA09-32946B84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00450"/>
            <a:ext cx="2343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3212A"/>
                </a:solidFill>
              </a:defRPr>
            </a:pPr>
            <a:r>
              <a:rPr sz="1350" b="0" i="0">
                <a:solidFill>
                  <a:srgbClr val="13212A"/>
                </a:solidFill>
              </a:rPr>
              <a:t>confidence varies over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5DB6A-C16D-4613-A020-0CF3CB83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688143-F5FF-4B13-9D8E-8C8F7023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152900"/>
            <a:ext cx="2343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3212A"/>
                </a:solidFill>
              </a:defRPr>
            </a:pPr>
            <a:r>
              <a:rPr sz="1350" b="0" i="0">
                <a:solidFill>
                  <a:srgbClr val="13212A"/>
                </a:solidFill>
              </a:rPr>
              <a:t>support changes with comparability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11F23B-C2D3-4B1E-9F96-D29CC012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910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74DE25-E111-496E-9E58-C49ABA89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05350"/>
            <a:ext cx="23431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3212A"/>
                </a:solidFill>
              </a:defRPr>
            </a:pPr>
            <a:r>
              <a:rPr sz="1350" b="0" i="0">
                <a:solidFill>
                  <a:srgbClr val="13212A"/>
                </a:solidFill>
              </a:rPr>
              <a:t>pair counts affect reliability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9F8B6-5D1B-4F94-96D7-F6209E5D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800961-7BC0-417D-98C4-759C3E0C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Monthly RFD metrics can flag regime changes—but confidence must be read with support and pair counts.</a:t>
            </a:r>
          </a:p>
        </p:txBody>
      </p:sp>
    </p:spTree>
    <p:extLst>
      <p:ext uri="{BB962C8B-B14F-4D97-AF65-F5344CB8AC3E}">
        <p14:creationId xmlns:p14="http://schemas.microsoft.com/office/powerpoint/2010/main" val="56768331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F5371C2-EA07-4525-A325-143FFB33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1265A-52A8-44EA-959A-DD27E589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Violations are investigation targets—not just errors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07CE8D-CF94-428B-BA69-CD5E65910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972BA8-F841-4FB5-8E02-CA418DE1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17523-D089-4B81-AB9B-AC1A7C33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67627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9F8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941FE0-C059-4110-92E5-CC769696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526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52636D"/>
                </a:solidFill>
              </a:defRPr>
            </a:pPr>
            <a:r>
              <a:rPr sz="1350" b="1" i="0">
                <a:solidFill>
                  <a:srgbClr val="52636D"/>
                </a:solidFill>
              </a:rPr>
              <a:t>Exported strongest violation pairs · 6-month aggregation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781050" y="2076450"/>
          <a:ext xmlns:a="http://schemas.openxmlformats.org/drawingml/2006/main" cx="6381750" cy="3276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10d44e12184df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958EE5-89A3-47B2-AD3D-0E40EACA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8288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67D73"/>
                </a:solidFill>
              </a:defRPr>
            </a:pPr>
            <a:r>
              <a:rPr sz="1950" b="1" i="0">
                <a:solidFill>
                  <a:srgbClr val="167D73"/>
                </a:solidFill>
              </a:rPr>
              <a:t>A violation may reflect: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07D99-E200-461F-B92A-36234478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43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8A761B-5D3C-4B19-99D3-855F96D9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30575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local site heterogeneity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C74554-E635-4FC0-B25B-1CA0D34B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57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AA1246-F1C6-4F6B-BA27-30755CF1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30575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unobserved emission events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BC99DA-C8D7-4173-B5E3-24F0B055E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1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E144E2-CF6E-4BD5-A442-D87F2CFE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30575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meteorology outside the rule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57F689-13F8-4324-9104-034C19A4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4B306D-E93C-4100-A29D-DCABD8FF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00500"/>
            <a:ext cx="30575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different particulate composition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878664-5351-44DD-940C-BA9C1B71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005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076FE9-47D3-4E78-9505-592F7956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14850"/>
            <a:ext cx="30575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3212A"/>
                </a:solidFill>
              </a:defRPr>
            </a:pPr>
            <a:r>
              <a:rPr sz="1500" b="0" i="0">
                <a:solidFill>
                  <a:srgbClr val="13212A"/>
                </a:solidFill>
              </a:rPr>
              <a:t>measurement or data-quality issues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A89C6F-82D1-4C10-B7F7-B5C39CD8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482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2636D"/>
                </a:solidFill>
              </a:defRPr>
            </a:pPr>
            <a:r>
              <a:rPr sz="1425" b="0" i="0">
                <a:solidFill>
                  <a:srgbClr val="52636D"/>
                </a:solidFill>
              </a:rPr>
              <a:t>Exported strongest pairs make the analysis traceable to concrete observations.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04798-4FB0-445E-B3FA-2ABECABA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97B58E-C89D-4EFE-AF8B-48EB0983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3212A"/>
                </a:solidFill>
              </a:defRPr>
            </a:pPr>
            <a:r>
              <a:rPr sz="1650" b="1" i="0">
                <a:solidFill>
                  <a:srgbClr val="13212A"/>
                </a:solidFill>
              </a:rPr>
              <a:t>The value of violations lies in targeted follow-up, not automatic labeling.</a:t>
            </a:r>
          </a:p>
        </p:txBody>
      </p:sp>
    </p:spTree>
    <p:extLst>
      <p:ext uri="{BB962C8B-B14F-4D97-AF65-F5344CB8AC3E}">
        <p14:creationId xmlns:p14="http://schemas.microsoft.com/office/powerpoint/2010/main" val="6548438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C42152-0628-4861-88BD-4BB3E2B4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RFD CONSISTENCY PROFILING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EC5DC-299F-436C-AE83-F62B0347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What this project contributes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37004-F59B-4BA8-BCD8-20EAD169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67A15-5D01-4559-88BD-64158D8B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FB4042-BC3C-4620-80C5-1934838D8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ABCD8-4DD9-420F-9EB2-FCCAD045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76400"/>
            <a:ext cx="1004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A reproducible workflow from preprocessing to violation export.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458A62-598B-4242-BE9C-E11CBE86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0B67B7-CCF9-419C-A9FC-29ACFD9C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76475"/>
            <a:ext cx="1004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B5534A"/>
                </a:solidFill>
              </a:defRPr>
            </a:pPr>
            <a:r>
              <a:rPr sz="1575" b="1" i="0">
                <a:solidFill>
                  <a:srgbClr val="B5534A"/>
                </a:solidFill>
              </a:rPr>
              <a:t>Not causal inference: RFDs profile consistency, not mechanisms.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930956-4DB1-4117-B1E4-C28D4E4D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CEB46A-0915-4737-BDDA-90A278ED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1004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Permutation baselines and lift support a defensible reading of confidence.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FCA793-E51F-4BD9-8072-8153C4FD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90817-B0CD-46D2-9ED2-08F6403A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004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3212A"/>
                </a:solidFill>
              </a:defRPr>
            </a:pPr>
            <a:r>
              <a:rPr sz="1575" b="0" i="0">
                <a:solidFill>
                  <a:srgbClr val="13212A"/>
                </a:solidFill>
              </a:rPr>
              <a:t>Monthly profiling connects the method to data-stream monitoring.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22A4D-3EA3-453E-8524-B0A380BE7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D73"/>
          </a:solidFill>
          <a:ln xmlns:a="http://schemas.openxmlformats.org/drawingml/2006/main" w="0">
            <a:solidFill>
              <a:srgbClr val="167D7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75B51-A0CC-4C10-A9AE-0F308F6B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1004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7D73"/>
                </a:solidFill>
              </a:defRPr>
            </a:pPr>
            <a:r>
              <a:rPr sz="1575" b="1" i="0">
                <a:solidFill>
                  <a:srgbClr val="167D73"/>
                </a:solidFill>
              </a:rPr>
              <a:t>0 rules above support ≥ 0.01 and confidence ≥ 0.85: a conservative result, not a failure.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9506AD-AADF-40C2-AC7F-112B70B3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86325"/>
            <a:ext cx="10096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F4F3"/>
          </a:solidFill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2ACB3F-8AC4-4383-9DF3-A608DAC2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124450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2D6278"/>
                </a:solidFill>
              </a:defRPr>
            </a:pPr>
            <a:r>
              <a:rPr sz="1725" b="1" i="0">
                <a:solidFill>
                  <a:srgbClr val="2D6278"/>
                </a:solidFill>
              </a:rPr>
              <a:t>“The contribution is not to find strong deterministic rules, but to measure how much approximate consistencies are more informative than chance—and how stable they remain over time.”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5332FD-3ADB-4290-B7EE-2F305B7A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305550"/>
            <a:ext cx="1285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167D73"/>
                </a:solidFill>
              </a:defRPr>
            </a:pPr>
            <a:r>
              <a:rPr sz="1275" b="1" i="0">
                <a:solidFill>
                  <a:srgbClr val="167D73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1983406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7003C5-B25D-4001-8E9D-7C49FD43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7D73"/>
                </a:solidFill>
              </a:defRPr>
            </a:pPr>
            <a:r>
              <a:rPr sz="1125" b="1" i="0">
                <a:solidFill>
                  <a:srgbClr val="167D73"/>
                </a:solidFill>
              </a:rPr>
              <a:t>KDIID · BACKUP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A8733A-EB79-4A5B-8D39-9A310126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3212A"/>
                </a:solidFill>
              </a:defRPr>
            </a:pPr>
            <a:r>
              <a:rPr sz="3600" b="1" i="0">
                <a:solidFill>
                  <a:srgbClr val="13212A"/>
                </a:solidFill>
              </a:rPr>
              <a:t>Backup · 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844583-6D96-4ADF-8F93-A15E5D70D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47BDA-F809-4AA9-9015-EDC0D5AA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52636D"/>
                </a:solidFill>
              </a:defRPr>
            </a:pPr>
            <a:r>
              <a:rPr sz="1125" b="1" i="0">
                <a:solidFill>
                  <a:srgbClr val="52636D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45EF3B-FAB7-460F-8B27-E8D514BB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76F36E-6A7A-47D6-924C-5B14B354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93357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3212A"/>
                </a:solidFill>
              </a:defRPr>
            </a:pPr>
            <a:r>
              <a:rPr sz="1875" b="1" i="0">
                <a:solidFill>
                  <a:srgbClr val="13212A"/>
                </a:solidFill>
              </a:rPr>
              <a:t>Beijing Multi-Site Air Quality Data Set, UCI Machine Learning Repository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838E1-887A-49E5-BDCE-7AE37742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28925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84065-4B5F-4207-8F84-28F5188A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9925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90E28-BCB3-44E1-A08D-E5C11D44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9087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3212A"/>
                </a:solidFill>
              </a:defRPr>
            </a:pPr>
            <a:r>
              <a:rPr sz="1875" b="0" i="0">
                <a:solidFill>
                  <a:srgbClr val="13212A"/>
                </a:solidFill>
              </a:rPr>
              <a:t>Caruccio, Deufemia, Polese, “Relaxed Functional Dependencies — A Survey of Approaches”, IEEE TKDE, 2016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39FE35-2C41-4AE2-B3CD-06CA1AAC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86225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BA40F-3C3A-416C-B281-E2B9C57D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67225"/>
            <a:ext cx="552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67D73"/>
                </a:solidFill>
              </a:defRPr>
            </a:pPr>
            <a:r>
              <a:rPr sz="1650" b="1" i="0">
                <a:solidFill>
                  <a:srgbClr val="167D7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70B704-6E01-4277-B0B2-3AA51B96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48175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13212A"/>
                </a:solidFill>
              </a:defRPr>
            </a:pPr>
            <a:r>
              <a:rPr sz="1875" b="0" i="0">
                <a:solidFill>
                  <a:srgbClr val="13212A"/>
                </a:solidFill>
              </a:rPr>
              <a:t>Caruccio, Deufemia, Polese, “Mining relaxed functional dependencies from data”, Data Mining and Knowledge Discovery, 2020</a:t>
            </a:r>
          </a:p>
        </p:txBody>
      </p:sp>
    </p:spTree>
    <p:extLst>
      <p:ext uri="{BB962C8B-B14F-4D97-AF65-F5344CB8AC3E}">
        <p14:creationId xmlns:p14="http://schemas.microsoft.com/office/powerpoint/2010/main" val="18528952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2026-06-27T13:29:53.1610000Z</dcterms:created>
  <dcterms:modified xsi:type="dcterms:W3CDTF">2026-06-27T13:29:53.1610000Z</dcterms:modified>
</coreProperties>
</file>