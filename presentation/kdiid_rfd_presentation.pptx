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charts/chart1.xml" ContentType="application/vnd.openxmlformats-officedocument.drawingml.chart+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22"/>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sldSz cx="12192000" cy="6858000"/>
  <p:notesSz cx="6858000" cy="9144000"/>
  <p:defaultTextStyle>
    <a:defPPr>
      <a:defRPr lang="en-US"/>
    </a:defPPr>
    <a:lvl1pPr marL="0" indent="0" algn="l" defTabSz="914400">
      <a:defRPr sz="1800" kern="1200">
        <a:solidFill>
          <a:schemeClr val="tx1"/>
        </a:solidFill>
        <a:latin typeface="+mn-lt"/>
        <a:ea typeface="+mn-ea"/>
        <a:cs typeface="+mn-cs"/>
      </a:defRPr>
    </a:lvl1pPr>
    <a:lvl2pPr marL="457200" indent="0" algn="l" defTabSz="914400">
      <a:defRPr sz="1800" kern="1200">
        <a:solidFill>
          <a:schemeClr val="tx1"/>
        </a:solidFill>
        <a:latin typeface="+mn-lt"/>
        <a:ea typeface="+mn-ea"/>
        <a:cs typeface="+mn-cs"/>
      </a:defRPr>
    </a:lvl2pPr>
    <a:lvl3pPr marL="914400" indent="0" algn="l" defTabSz="914400">
      <a:defRPr sz="1800" kern="1200">
        <a:solidFill>
          <a:schemeClr val="tx1"/>
        </a:solidFill>
        <a:latin typeface="+mn-lt"/>
        <a:ea typeface="+mn-ea"/>
        <a:cs typeface="+mn-cs"/>
      </a:defRPr>
    </a:lvl3pPr>
    <a:lvl4pPr marL="1371600" indent="0" algn="l" defTabSz="914400">
      <a:defRPr sz="1800" kern="1200">
        <a:solidFill>
          <a:schemeClr val="tx1"/>
        </a:solidFill>
        <a:latin typeface="+mn-lt"/>
        <a:ea typeface="+mn-ea"/>
        <a:cs typeface="+mn-cs"/>
      </a:defRPr>
    </a:lvl4pPr>
    <a:lvl5pPr marL="1828800" indent="0" algn="l" defTabSz="914400">
      <a:defRPr sz="1800" kern="1200">
        <a:solidFill>
          <a:schemeClr val="tx1"/>
        </a:solidFill>
        <a:latin typeface="+mn-lt"/>
        <a:ea typeface="+mn-ea"/>
        <a:cs typeface="+mn-cs"/>
      </a:defRPr>
    </a:lvl5pPr>
    <a:lvl6pPr marL="2286000" indent="0" algn="l" defTabSz="914400">
      <a:defRPr sz="1800" kern="1200">
        <a:solidFill>
          <a:schemeClr val="tx1"/>
        </a:solidFill>
        <a:latin typeface="+mn-lt"/>
        <a:ea typeface="+mn-ea"/>
        <a:cs typeface="+mn-cs"/>
      </a:defRPr>
    </a:lvl6pPr>
    <a:lvl7pPr marL="2743200" indent="0" algn="l" defTabSz="914400">
      <a:defRPr sz="1800" kern="1200">
        <a:solidFill>
          <a:schemeClr val="tx1"/>
        </a:solidFill>
        <a:latin typeface="+mn-lt"/>
        <a:ea typeface="+mn-ea"/>
        <a:cs typeface="+mn-cs"/>
      </a:defRPr>
    </a:lvl7pPr>
    <a:lvl8pPr marL="3200400" indent="0" algn="l" defTabSz="914400">
      <a:defRPr sz="1800" kern="1200">
        <a:solidFill>
          <a:schemeClr val="tx1"/>
        </a:solidFill>
        <a:latin typeface="+mn-lt"/>
        <a:ea typeface="+mn-ea"/>
        <a:cs typeface="+mn-cs"/>
      </a:defRPr>
    </a:lvl8pPr>
    <a:lvl9pPr marL="3657600" indent="0" algn="l" defTabSz="914400">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11"/>
    <p:restoredTop sz="94697"/>
  </p:normalViewPr>
  <p:slideViewPr>
    <p:cSldViewPr snapToGrid="0">
      <p:cViewPr varScale="1">
        <p:scale>
          <a:sx n="102" d="100"/>
          <a:sy n="102" d="100"/>
        </p:scale>
        <p:origin x="216" y="230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ableStyles" Target="tableStyle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notesMaster" Target="notesMasters/notesMaster1.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0"/>
  <c:style val="2"/>
  <c:chart>
    <c:autoTitleDeleted val="1"/>
    <c:plotArea>
      <c:layout/>
      <c:barChart>
        <c:barDir val="col"/>
        <c:grouping val="clustered"/>
        <c:varyColors val="0"/>
        <c:ser>
          <c:idx val="0"/>
          <c:order val="0"/>
          <c:tx>
            <c:v>Aotizhongxin</c:v>
          </c:tx>
          <c:spPr>
            <a:solidFill>
              <a:srgbClr val="5573A3"/>
            </a:solidFill>
          </c:spPr>
          <c:invertIfNegative val="1"/>
          <c:cat>
            <c:strLit>
              <c:ptCount val="7"/>
              <c:pt idx="0">
                <c:v>2014-12</c:v>
              </c:pt>
              <c:pt idx="1">
                <c:v>2013-12</c:v>
              </c:pt>
              <c:pt idx="2">
                <c:v>2016-02</c:v>
              </c:pt>
              <c:pt idx="3">
                <c:v>2016-01</c:v>
              </c:pt>
              <c:pt idx="4">
                <c:v>2013-11</c:v>
              </c:pt>
              <c:pt idx="5">
                <c:v>2013-04</c:v>
              </c:pt>
              <c:pt idx="6">
                <c:v>2015-09</c:v>
              </c:pt>
            </c:strLit>
          </c:cat>
          <c:val>
            <c:numLit>
              <c:formatCode>General</c:formatCode>
              <c:ptCount val="7"/>
              <c:pt idx="0">
                <c:v>8</c:v>
              </c:pt>
              <c:pt idx="1">
                <c:v>5</c:v>
              </c:pt>
              <c:pt idx="2">
                <c:v>17</c:v>
              </c:pt>
              <c:pt idx="3">
                <c:v>3</c:v>
              </c:pt>
              <c:pt idx="4">
                <c:v>9</c:v>
              </c:pt>
              <c:pt idx="5">
                <c:v>6</c:v>
              </c:pt>
              <c:pt idx="6">
                <c:v>2</c:v>
              </c:pt>
            </c:numLit>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0-67DA-964E-AD11-E8B878CC31C9}"/>
            </c:ext>
          </c:extLst>
        </c:ser>
        <c:ser>
          <c:idx val="1"/>
          <c:order val="1"/>
          <c:tx>
            <c:v>Changping</c:v>
          </c:tx>
          <c:spPr>
            <a:solidFill>
              <a:srgbClr val="CC8963"/>
            </a:solidFill>
          </c:spPr>
          <c:invertIfNegative val="1"/>
          <c:cat>
            <c:strLit>
              <c:ptCount val="7"/>
              <c:pt idx="0">
                <c:v>2014-12</c:v>
              </c:pt>
              <c:pt idx="1">
                <c:v>2013-12</c:v>
              </c:pt>
              <c:pt idx="2">
                <c:v>2016-02</c:v>
              </c:pt>
              <c:pt idx="3">
                <c:v>2016-01</c:v>
              </c:pt>
              <c:pt idx="4">
                <c:v>2013-11</c:v>
              </c:pt>
              <c:pt idx="5">
                <c:v>2013-04</c:v>
              </c:pt>
              <c:pt idx="6">
                <c:v>2015-09</c:v>
              </c:pt>
            </c:strLit>
          </c:cat>
          <c:val>
            <c:numLit>
              <c:formatCode>General</c:formatCode>
              <c:ptCount val="7"/>
              <c:pt idx="0">
                <c:v>28</c:v>
              </c:pt>
              <c:pt idx="1">
                <c:v>31</c:v>
              </c:pt>
              <c:pt idx="2">
                <c:v>16</c:v>
              </c:pt>
              <c:pt idx="3">
                <c:v>24</c:v>
              </c:pt>
              <c:pt idx="4">
                <c:v>15</c:v>
              </c:pt>
              <c:pt idx="5">
                <c:v>15</c:v>
              </c:pt>
              <c:pt idx="6">
                <c:v>13</c:v>
              </c:pt>
            </c:numLit>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1-67DA-964E-AD11-E8B878CC31C9}"/>
            </c:ext>
          </c:extLst>
        </c:ser>
        <c:dLbls>
          <c:showLegendKey val="0"/>
          <c:showVal val="0"/>
          <c:showCatName val="0"/>
          <c:showSerName val="0"/>
          <c:showPercent val="0"/>
          <c:showBubbleSize val="0"/>
        </c:dLbls>
        <c:gapWidth val="55"/>
        <c:axId val="48650112"/>
        <c:axId val="48672768"/>
      </c:barChart>
      <c:catAx>
        <c:axId val="48650112"/>
        <c:scaling>
          <c:orientation val="minMax"/>
        </c:scaling>
        <c:delete val="0"/>
        <c:axPos val="b"/>
        <c:numFmt formatCode="General" sourceLinked="1"/>
        <c:majorTickMark val="none"/>
        <c:minorTickMark val="none"/>
        <c:tickLblPos val="nextTo"/>
        <c:spPr>
          <a:ln w="9525">
            <a:solidFill>
              <a:srgbClr val="CBD7D6"/>
            </a:solidFill>
            <a:prstDash val="solid"/>
          </a:ln>
        </c:spPr>
        <c:txPr>
          <a:bodyPr anchorCtr="1"/>
          <a:lstStyle/>
          <a:p>
            <a:pPr>
              <a:defRPr sz="900">
                <a:solidFill>
                  <a:srgbClr val="52636D"/>
                </a:solidFill>
              </a:defRPr>
            </a:pPr>
            <a:endParaRPr lang="it-IT"/>
          </a:p>
        </c:txPr>
        <c:crossAx val="48672768"/>
        <c:crosses val="autoZero"/>
        <c:auto val="1"/>
        <c:lblAlgn val="ctr"/>
        <c:lblOffset val="100"/>
        <c:noMultiLvlLbl val="0"/>
      </c:catAx>
      <c:valAx>
        <c:axId val="48672768"/>
        <c:scaling>
          <c:orientation val="minMax"/>
          <c:max val="35"/>
        </c:scaling>
        <c:delete val="0"/>
        <c:axPos val="l"/>
        <c:majorGridlines>
          <c:spPr>
            <a:ln w="9525">
              <a:solidFill>
                <a:srgbClr val="E3E9E8"/>
              </a:solidFill>
              <a:prstDash val="solid"/>
            </a:ln>
          </c:spPr>
        </c:majorGridlines>
        <c:title>
          <c:tx>
            <c:rich>
              <a:bodyPr/>
              <a:lstStyle/>
              <a:p>
                <a:r>
                  <a:rPr sz="900">
                    <a:solidFill>
                      <a:srgbClr val="52636D"/>
                    </a:solidFill>
                  </a:rPr>
                  <a:t>Violation pairs</a:t>
                </a:r>
              </a:p>
            </c:rich>
          </c:tx>
          <c:overlay val="0"/>
        </c:title>
        <c:numFmt formatCode="General" sourceLinked="1"/>
        <c:majorTickMark val="none"/>
        <c:minorTickMark val="none"/>
        <c:tickLblPos val="nextTo"/>
        <c:spPr>
          <a:ln w="9525">
            <a:solidFill>
              <a:srgbClr val="CBD7D6"/>
            </a:solidFill>
            <a:prstDash val="solid"/>
          </a:ln>
        </c:spPr>
        <c:txPr>
          <a:bodyPr anchorCtr="1"/>
          <a:lstStyle/>
          <a:p>
            <a:pPr>
              <a:defRPr sz="900">
                <a:solidFill>
                  <a:srgbClr val="52636D"/>
                </a:solidFill>
              </a:defRPr>
            </a:pPr>
            <a:endParaRPr lang="it-IT"/>
          </a:p>
        </c:txPr>
        <c:crossAx val="48650112"/>
        <c:crosses val="autoZero"/>
        <c:crossBetween val="between"/>
      </c:valAx>
    </c:plotArea>
    <c:legend>
      <c:legendPos val="t"/>
      <c:overlay val="0"/>
      <c:txPr>
        <a:bodyPr anchorCtr="1"/>
        <a:lstStyle/>
        <a:p>
          <a:pPr>
            <a:defRPr sz="900">
              <a:solidFill>
                <a:srgbClr val="52636D"/>
              </a:solidFill>
            </a:defRPr>
          </a:pPr>
          <a:endParaRPr lang="it-IT"/>
        </a:p>
      </c:txPr>
    </c:legend>
    <c:plotVisOnly val="1"/>
    <c:dispBlanksAs val="zero"/>
    <c:showDLblsOverMax val="1"/>
  </c:chart>
  <c:spPr>
    <a:solidFill>
      <a:srgbClr val="FFFFFF"/>
    </a:solidFill>
    <a:ln w="0">
      <a:solidFill>
        <a:srgbClr val="FFFFFF"/>
      </a:solidFill>
      <a:prstDash val="solid"/>
    </a:ln>
  </c:spPr>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Introduce the project as an analysis of approximate consistency in urban air-quality observations.</a:t>
            </a:r>
          </a:p>
          <a:p>
            <a:r>
              <a:t>The central method is Relaxed Functional Dependencies, or RFDs.</a:t>
            </a:r>
          </a:p>
          <a:p>
            <a:r>
              <a:t>Clarify the scope immediately: the work does not predict pollution and does not make causal claims.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Explain why classical deterministic constraints are too rigid for this domain.</a:t>
            </a:r>
          </a:p>
          <a:p>
            <a:r>
              <a:t>The objective is descriptive and diagnostic: quantify how often a proposed consistency relation holds.</a:t>
            </a:r>
          </a:p>
          <a:p>
            <a:r>
              <a:t>This framing makes moderate confidence meaningful when it is clearly above chance.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Define Urban Digital Twin narrowly and explicitly.</a:t>
            </a:r>
          </a:p>
          <a:p>
            <a:r>
              <a:t>The twin is conceptual: it organizes historical data, approximate rules, violations, and monitoring.</a:t>
            </a:r>
          </a:p>
          <a:p>
            <a:r>
              <a:t>The implemented contribution is the reproducible workflow shown on the slide.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State the selected dataset, stations, and common four-year period.</a:t>
            </a:r>
          </a:p>
          <a:p>
            <a:r>
              <a:t>The full cleaned dataset is retained for descriptive profiling.</a:t>
            </a:r>
          </a:p>
          <a:p>
            <a:r>
              <a:t>Pairwise RFD validation is quadratic, so a deterministic balanced sample of 750 rows per station is used.</a:t>
            </a:r>
          </a:p>
          <a:p>
            <a:r>
              <a:t>The missing-value policy is transparent and does not impute values.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Contrast exact functional dependencies with threshold-based similarity.</a:t>
            </a:r>
          </a:p>
          <a:p>
            <a:r>
              <a:t>For categorical attributes, similarity can still mean exact equality.</a:t>
            </a:r>
          </a:p>
          <a:p>
            <a:r>
              <a:t>For numeric attributes, similarity is defined by absolute thresholds; hour uses circular distance.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These thresholds are heuristic and interpretable; they are not claimed to be statistically optimal.</a:t>
            </a:r>
          </a:p>
          <a:p>
            <a:r>
              <a:t>The medium setup is the main configuration used for the candidate-rule results.</a:t>
            </a:r>
          </a:p>
          <a:p>
            <a:r>
              <a:t>Strict and relaxed settings provide sensitivity analysis, checking that the interpretation does not depend on one threshold choice.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Define Urban Digital Twin narrowly and explicitly.</a:t>
            </a:r>
          </a:p>
          <a:p>
            <a:r>
              <a:t>The twin is conceptual: it organizes historical data, approximate rules, violations, and monitoring.</a:t>
            </a:r>
          </a:p>
          <a:p>
            <a:r>
              <a:t>The implemented contribution is the reproducible workflow shown on the slide.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Define support and confidence using pair counts.</a:t>
            </a:r>
          </a:p>
          <a:p>
            <a:r>
              <a:t>Explain that the RHS is permuted 30 times while antecedent structure remains fixed.</a:t>
            </a:r>
          </a:p>
          <a:p>
            <a:r>
              <a:t>Lift compares observed confidence with this permutation baseline.</a:t>
            </a:r>
          </a:p>
          <a:p>
            <a:r>
              <a:t>Support must still be considered: a high confidence rule with very few antecedent pairs can be unstable.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Walk through the pipeline from data cleaning to violation analysis.</a:t>
            </a:r>
          </a:p>
          <a:p>
            <a:r>
              <a:t>Candidate validation is followed by a chance baseline, resampling, chronological validation, and monthly monitoring.</a:t>
            </a:r>
          </a:p>
          <a:p>
            <a:r>
              <a:t>This sequence is the methodological contribution of the project.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Use the correlation matrix only as descriptive context.</a:t>
            </a:r>
          </a:p>
          <a:p>
            <a:r>
              <a:t>Highlight the PM2.5–PM10 correlation of 0.874, the strongest pollutant relationship.</a:t>
            </a:r>
          </a:p>
          <a:p>
            <a:r>
              <a:t>Stress that correlation, RFD consistency, and causality are three different concepts.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plot shows daily mean PM2.5 by station for readability.</a:t>
            </a:r>
          </a:p>
          <a:p>
            <a:r>
              <a:t>Point out that peaks and quieter periods do not align perfectly across the two sites.</a:t>
            </a:r>
          </a:p>
          <a:p>
            <a:r>
              <a:t>This motivates monthly monitoring of RFD metrics rather than relying only on a global estimate.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Present the three strongest raw candidate rules under the medium threshold configuration.</a:t>
            </a:r>
          </a:p>
          <a:p>
            <a:r>
              <a:t>The top rule has confidence 0.483, which is moderate and must not be described as a strong dependency.</a:t>
            </a:r>
          </a:p>
          <a:p>
            <a:r>
              <a:t>Its lift of 3.24 is the key result: the observed consistency is much higher than the permuted RHS baseline.</a:t>
            </a:r>
          </a:p>
          <a:p>
            <a:r>
              <a:t>Support is low as a fraction, but it still corresponds to many pairwise comparisons and is interpreted together with confidence, baseline, and lift.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Since DiMε depends on similarity thresholds, I tested whether the main result was stable under alternative threshold settings. The medium configuration gives a compact set of five RFDs, all with WSPM as RHS. With stricter thresholds, more RHS emerge, so WSPM dominance is not an absolute property of the dataset. With looser thresholds, the discovery collapses to almost trivial rules such as empty set -&gt; WSPM. For this reason, the medium configuration is used as the main setting and the sensitivity analysis is used as a robustness and interpretation check.</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PM2.5 is the fine fraction included in the PM10 size class, so coherence is environmentally plausible.</a:t>
            </a:r>
          </a:p>
          <a:p>
            <a:r>
              <a:t>Adding NO2 may represent shared emission conditions, but this is an interpretation—not causal proof.</a:t>
            </a:r>
          </a:p>
          <a:p>
            <a:r>
              <a:t>Unobserved weather, source mixtures, and particulate composition can explain violations.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Explain that pollutants and meteorological variables are grouped into low, medium, and high quantile bins.</a:t>
            </a:r>
          </a:p>
          <a:p>
            <a:r>
              <a:t>The top binned rule reaches confidence 0.689 and lift 2.07.</a:t>
            </a:r>
          </a:p>
          <a:p>
            <a:r>
              <a:t>This is not directly comparable to the raw rule because discretization makes similarity less demanding.</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Bootstrap results summarize 30 balanced resamples.</a:t>
            </a:r>
          </a:p>
          <a:p>
            <a:r>
              <a:t>The mean lift is 3.35, with empirical 95% interval from 3.15 to 3.57.</a:t>
            </a:r>
          </a:p>
          <a:p>
            <a:r>
              <a:t>The chronological split trains on the first three years and tests on the final year.</a:t>
            </a:r>
          </a:p>
          <a:p>
            <a:r>
              <a:t>The top rule's lift is 3.15 in train and 3.35 in test, supporting relative stability.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continuous profile covers 48 monthly windows.</a:t>
            </a:r>
          </a:p>
          <a:p>
            <a:r>
              <a:t>Monthly confidence varies substantially, which is expected in a seasonal environmental system.</a:t>
            </a:r>
          </a:p>
          <a:p>
            <a:r>
              <a:t>Do not interpret confidence alone: support and antecedent-pair counts show how much evidence is available in each month.</a:t>
            </a:r>
          </a:p>
          <a:p>
            <a:r>
              <a:t>Abrupt changes are monitoring signals, not automatic anomalies.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chart aggregates the same exported violation-pair counts by station into eight six-month periods so the time labels remain readable.</a:t>
            </a:r>
          </a:p>
          <a:p>
            <a:r>
              <a:t>It still represents the two strongest raw RFDs and preserves the original interpretation.</a:t>
            </a:r>
          </a:p>
          <a:p>
            <a:r>
              <a:t>Violations can indicate heterogeneous local conditions, missing explanatory variables, unusual events, or data-quality problems.</a:t>
            </a:r>
          </a:p>
          <a:p>
            <a:r>
              <a:t>They should be investigated with contextual data rather than labeled as errors by default.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Close by returning to the methodological contribution: a reproducible consistency-profiling workflow.</a:t>
            </a:r>
          </a:p>
          <a:p>
            <a:r>
              <a:t>The strongest results are approximate and clearly above chance, not deterministic.</a:t>
            </a:r>
          </a:p>
          <a:p>
            <a:r>
              <a:t>Continuous profiling shows how RFDs can support monitoring over time.</a:t>
            </a:r>
          </a:p>
          <a:p>
            <a:r>
              <a:t>The empty discovery result is intentional evidence of conservative thresholds rather than a failed experiment.</a:t>
            </a:r>
          </a:p>
          <a:p>
            <a:r>
              <a:t>End with the quoted sentence as the main answer to what the project contributes.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Backup slide; do not include it in the timed oral presentation unless the committee asks about data or methodological references.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Master">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Rettangolo 9">
            <a:extLst>
              <a:ext uri="{FF2B5EF4-FFF2-40B4-BE49-F238E27FC236}">
                <a16:creationId xmlns:a16="http://schemas.microsoft.com/office/drawing/2014/main" id="{2717142A-37E9-4F78-BD1B-0DE27973BF19}"/>
              </a:ext>
            </a:extLst>
          </p:cNvPr>
          <p:cNvSpPr>
            <a:spLocks noGrp="1"/>
          </p:cNvSpPr>
          <p:nvPr/>
        </p:nvSpPr>
        <p:spPr>
          <a:xfrm>
            <a:off x="0" y="0"/>
            <a:ext cx="209550" cy="6858000"/>
          </a:xfrm>
          <a:prstGeom prst="rect">
            <a:avLst/>
          </a:prstGeom>
          <a:solidFill>
            <a:srgbClr val="167D73"/>
          </a:solidFill>
          <a:ln w="0">
            <a:solidFill>
              <a:srgbClr val="167D73"/>
            </a:solidFill>
            <a:prstDash val="solid"/>
          </a:ln>
        </p:spPr>
        <p:txBody>
          <a:bodyPr/>
          <a:lstStyle/>
          <a:p>
            <a:endParaRPr/>
          </a:p>
        </p:txBody>
      </p:sp>
      <p:sp>
        <p:nvSpPr>
          <p:cNvPr id="2" name="Rettangolo 1">
            <a:extLst>
              <a:ext uri="{FF2B5EF4-FFF2-40B4-BE49-F238E27FC236}">
                <a16:creationId xmlns:a16="http://schemas.microsoft.com/office/drawing/2014/main" id="{84772573-BCB5-482B-A78A-3E0E84C66A47}"/>
              </a:ext>
            </a:extLst>
          </p:cNvPr>
          <p:cNvSpPr>
            <a:spLocks noGrp="1"/>
          </p:cNvSpPr>
          <p:nvPr/>
        </p:nvSpPr>
        <p:spPr>
          <a:xfrm>
            <a:off x="685800" y="800100"/>
            <a:ext cx="8763000" cy="1428750"/>
          </a:xfrm>
          <a:prstGeom prst="rect">
            <a:avLst/>
          </a:prstGeom>
          <a:noFill/>
          <a:ln w="0">
            <a:noFill/>
            <a:prstDash val="solid"/>
          </a:ln>
        </p:spPr>
        <p:txBody>
          <a:bodyPr anchor="t"/>
          <a:lstStyle/>
          <a:p>
            <a:pPr algn="l">
              <a:buNone/>
              <a:defRPr sz="4650" b="1" i="0">
                <a:solidFill>
                  <a:srgbClr val="13212A"/>
                </a:solidFill>
              </a:defRPr>
            </a:pPr>
            <a:r>
              <a:rPr sz="4650" b="1" i="0">
                <a:solidFill>
                  <a:srgbClr val="13212A"/>
                </a:solidFill>
              </a:rPr>
              <a:t>URBAN AIR-QUALITY</a:t>
            </a:r>
          </a:p>
          <a:p>
            <a:pPr algn="l">
              <a:buNone/>
              <a:defRPr sz="4650" b="1" i="0">
                <a:solidFill>
                  <a:srgbClr val="13212A"/>
                </a:solidFill>
              </a:defRPr>
            </a:pPr>
            <a:r>
              <a:rPr sz="4650" b="1" i="0">
                <a:solidFill>
                  <a:srgbClr val="13212A"/>
                </a:solidFill>
              </a:rPr>
              <a:t>CONSISTENCY PROFILING</a:t>
            </a:r>
          </a:p>
        </p:txBody>
      </p:sp>
      <p:sp>
        <p:nvSpPr>
          <p:cNvPr id="3" name="Rettangolo 2">
            <a:extLst>
              <a:ext uri="{FF2B5EF4-FFF2-40B4-BE49-F238E27FC236}">
                <a16:creationId xmlns:a16="http://schemas.microsoft.com/office/drawing/2014/main" id="{90044AE1-16CD-4912-B063-05ACFD9EB0C5}"/>
              </a:ext>
            </a:extLst>
          </p:cNvPr>
          <p:cNvSpPr>
            <a:spLocks noGrp="1"/>
          </p:cNvSpPr>
          <p:nvPr/>
        </p:nvSpPr>
        <p:spPr>
          <a:xfrm>
            <a:off x="723900" y="2400300"/>
            <a:ext cx="8096250" cy="514350"/>
          </a:xfrm>
          <a:prstGeom prst="rect">
            <a:avLst/>
          </a:prstGeom>
          <a:noFill/>
          <a:ln w="0">
            <a:noFill/>
            <a:prstDash val="solid"/>
          </a:ln>
        </p:spPr>
        <p:txBody>
          <a:bodyPr anchor="t"/>
          <a:lstStyle/>
          <a:p>
            <a:pPr algn="l">
              <a:buNone/>
              <a:defRPr sz="2550" b="1" i="0">
                <a:solidFill>
                  <a:srgbClr val="167D73"/>
                </a:solidFill>
              </a:defRPr>
            </a:pPr>
            <a:r>
              <a:rPr sz="2550" b="1" i="0">
                <a:solidFill>
                  <a:srgbClr val="167D73"/>
                </a:solidFill>
              </a:rPr>
              <a:t>with Relaxed Functional Dependencies</a:t>
            </a:r>
          </a:p>
        </p:txBody>
      </p:sp>
      <p:sp>
        <p:nvSpPr>
          <p:cNvPr id="4" name="Rettangolo 3">
            <a:extLst>
              <a:ext uri="{FF2B5EF4-FFF2-40B4-BE49-F238E27FC236}">
                <a16:creationId xmlns:a16="http://schemas.microsoft.com/office/drawing/2014/main" id="{BCDF6F1C-1969-4CC4-B221-4C39531C85EA}"/>
              </a:ext>
            </a:extLst>
          </p:cNvPr>
          <p:cNvSpPr>
            <a:spLocks noGrp="1"/>
          </p:cNvSpPr>
          <p:nvPr/>
        </p:nvSpPr>
        <p:spPr>
          <a:xfrm>
            <a:off x="723900" y="3181350"/>
            <a:ext cx="7239000" cy="571500"/>
          </a:xfrm>
          <a:prstGeom prst="rect">
            <a:avLst/>
          </a:prstGeom>
          <a:noFill/>
          <a:ln w="0">
            <a:noFill/>
            <a:prstDash val="solid"/>
          </a:ln>
        </p:spPr>
        <p:txBody>
          <a:bodyPr anchor="t"/>
          <a:lstStyle/>
          <a:p>
            <a:pPr algn="l">
              <a:buNone/>
              <a:defRPr sz="1800" b="0" i="0">
                <a:solidFill>
                  <a:srgbClr val="52636D"/>
                </a:solidFill>
              </a:defRPr>
            </a:pPr>
            <a:r>
              <a:rPr sz="1800" b="0" i="0">
                <a:solidFill>
                  <a:srgbClr val="52636D"/>
                </a:solidFill>
              </a:rPr>
              <a:t>A reproducible analytical workflow for approximate environmental rules</a:t>
            </a:r>
          </a:p>
        </p:txBody>
      </p:sp>
      <p:sp>
        <p:nvSpPr>
          <p:cNvPr id="5" name="Connettore dritto 4">
            <a:extLst>
              <a:ext uri="{FF2B5EF4-FFF2-40B4-BE49-F238E27FC236}">
                <a16:creationId xmlns:a16="http://schemas.microsoft.com/office/drawing/2014/main" id="{0BF20BFD-200B-4283-8579-C2268E28D1AB}"/>
              </a:ext>
            </a:extLst>
          </p:cNvPr>
          <p:cNvSpPr>
            <a:spLocks noGrp="1"/>
          </p:cNvSpPr>
          <p:nvPr/>
        </p:nvSpPr>
        <p:spPr>
          <a:xfrm>
            <a:off x="723900" y="4171950"/>
            <a:ext cx="4000500" cy="0"/>
          </a:xfrm>
          <a:prstGeom prst="line">
            <a:avLst/>
          </a:prstGeom>
          <a:noFill/>
          <a:ln w="19050">
            <a:solidFill>
              <a:srgbClr val="CBD7D6"/>
            </a:solidFill>
            <a:prstDash val="solid"/>
          </a:ln>
        </p:spPr>
        <p:txBody>
          <a:bodyPr/>
          <a:lstStyle/>
          <a:p>
            <a:endParaRPr/>
          </a:p>
        </p:txBody>
      </p:sp>
      <p:sp>
        <p:nvSpPr>
          <p:cNvPr id="6" name="Rettangolo 5">
            <a:extLst>
              <a:ext uri="{FF2B5EF4-FFF2-40B4-BE49-F238E27FC236}">
                <a16:creationId xmlns:a16="http://schemas.microsoft.com/office/drawing/2014/main" id="{5E719168-A47C-4E99-9AEE-8DE026728D4B}"/>
              </a:ext>
            </a:extLst>
          </p:cNvPr>
          <p:cNvSpPr>
            <a:spLocks noGrp="1"/>
          </p:cNvSpPr>
          <p:nvPr/>
        </p:nvSpPr>
        <p:spPr>
          <a:xfrm>
            <a:off x="723900" y="4429125"/>
            <a:ext cx="4095750" cy="323850"/>
          </a:xfrm>
          <a:prstGeom prst="rect">
            <a:avLst/>
          </a:prstGeom>
          <a:noFill/>
          <a:ln w="0">
            <a:noFill/>
            <a:prstDash val="solid"/>
          </a:ln>
        </p:spPr>
        <p:txBody>
          <a:bodyPr anchor="t"/>
          <a:lstStyle/>
          <a:p>
            <a:pPr algn="l">
              <a:buNone/>
              <a:defRPr sz="1800" b="1" i="0">
                <a:solidFill>
                  <a:srgbClr val="13212A"/>
                </a:solidFill>
              </a:defRPr>
            </a:pPr>
            <a:r>
              <a:rPr sz="1800" b="1" i="0">
                <a:solidFill>
                  <a:srgbClr val="13212A"/>
                </a:solidFill>
              </a:rPr>
              <a:t>Matteo Ercolino</a:t>
            </a:r>
          </a:p>
        </p:txBody>
      </p:sp>
      <p:sp>
        <p:nvSpPr>
          <p:cNvPr id="7" name="Rettangolo 6">
            <a:extLst>
              <a:ext uri="{FF2B5EF4-FFF2-40B4-BE49-F238E27FC236}">
                <a16:creationId xmlns:a16="http://schemas.microsoft.com/office/drawing/2014/main" id="{9D98B714-4BF2-4D7A-92AC-DE6EC2E89DD4}"/>
              </a:ext>
            </a:extLst>
          </p:cNvPr>
          <p:cNvSpPr>
            <a:spLocks noGrp="1"/>
          </p:cNvSpPr>
          <p:nvPr/>
        </p:nvSpPr>
        <p:spPr>
          <a:xfrm>
            <a:off x="723900" y="4819650"/>
            <a:ext cx="4762500" cy="285750"/>
          </a:xfrm>
          <a:prstGeom prst="rect">
            <a:avLst/>
          </a:prstGeom>
          <a:noFill/>
          <a:ln w="0">
            <a:noFill/>
            <a:prstDash val="solid"/>
          </a:ln>
        </p:spPr>
        <p:txBody>
          <a:bodyPr anchor="t"/>
          <a:lstStyle/>
          <a:p>
            <a:pPr algn="l">
              <a:buNone/>
              <a:defRPr sz="1500" b="0" i="0">
                <a:solidFill>
                  <a:srgbClr val="52636D"/>
                </a:solidFill>
              </a:defRPr>
            </a:pPr>
            <a:r>
              <a:rPr sz="1500" b="0" i="0">
                <a:solidFill>
                  <a:srgbClr val="52636D"/>
                </a:solidFill>
              </a:rPr>
              <a:t>KDIID · Final project presentation</a:t>
            </a:r>
          </a:p>
        </p:txBody>
      </p:sp>
      <p:sp>
        <p:nvSpPr>
          <p:cNvPr id="9" name="Rettangolo 8">
            <a:extLst>
              <a:ext uri="{FF2B5EF4-FFF2-40B4-BE49-F238E27FC236}">
                <a16:creationId xmlns:a16="http://schemas.microsoft.com/office/drawing/2014/main" id="{A1DD4F5E-51A4-4D82-827A-19BF376806E0}"/>
              </a:ext>
            </a:extLst>
          </p:cNvPr>
          <p:cNvSpPr>
            <a:spLocks noGrp="1"/>
          </p:cNvSpPr>
          <p:nvPr/>
        </p:nvSpPr>
        <p:spPr>
          <a:xfrm>
            <a:off x="11144250" y="6419850"/>
            <a:ext cx="438150" cy="209550"/>
          </a:xfrm>
          <a:prstGeom prst="rect">
            <a:avLst/>
          </a:prstGeom>
          <a:noFill/>
          <a:ln w="0">
            <a:noFill/>
            <a:prstDash val="solid"/>
          </a:ln>
        </p:spPr>
        <p:txBody>
          <a:bodyPr anchor="t"/>
          <a:lstStyle/>
          <a:p>
            <a:pPr algn="r">
              <a:buNone/>
              <a:defRPr sz="1125" b="1" i="0">
                <a:solidFill>
                  <a:srgbClr val="52636D"/>
                </a:solidFill>
              </a:defRPr>
            </a:pPr>
            <a:r>
              <a:rPr sz="1125" b="1" i="0">
                <a:solidFill>
                  <a:srgbClr val="52636D"/>
                </a:solidFill>
              </a:rPr>
              <a:t>01</a:t>
            </a:r>
          </a:p>
        </p:txBody>
      </p:sp>
    </p:spTree>
    <p:extLst>
      <p:ext uri="{BB962C8B-B14F-4D97-AF65-F5344CB8AC3E}">
        <p14:creationId xmlns:p14="http://schemas.microsoft.com/office/powerpoint/2010/main" val="19723275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8" name="Rettangolo 17">
            <a:extLst>
              <a:ext uri="{FF2B5EF4-FFF2-40B4-BE49-F238E27FC236}">
                <a16:creationId xmlns:a16="http://schemas.microsoft.com/office/drawing/2014/main" id="{B9CE93DD-86C9-4E0C-8CFC-8B31EAFA2197}"/>
              </a:ext>
            </a:extLst>
          </p:cNvPr>
          <p:cNvSpPr>
            <a:spLocks noGrp="1"/>
          </p:cNvSpPr>
          <p:nvPr/>
        </p:nvSpPr>
        <p:spPr>
          <a:xfrm>
            <a:off x="609600" y="323850"/>
            <a:ext cx="5905500" cy="228600"/>
          </a:xfrm>
          <a:prstGeom prst="rect">
            <a:avLst/>
          </a:prstGeom>
          <a:noFill/>
          <a:ln w="0">
            <a:noFill/>
            <a:prstDash val="solid"/>
          </a:ln>
        </p:spPr>
        <p:txBody>
          <a:bodyPr anchor="t"/>
          <a:lstStyle/>
          <a:p>
            <a:pPr algn="l">
              <a:buNone/>
              <a:defRPr sz="1125" b="1" i="0">
                <a:solidFill>
                  <a:srgbClr val="167D73"/>
                </a:solidFill>
              </a:defRPr>
            </a:pPr>
            <a:r>
              <a:rPr sz="1125" b="1" i="0">
                <a:solidFill>
                  <a:srgbClr val="167D73"/>
                </a:solidFill>
              </a:rPr>
              <a:t>KDIID · RFD CONSISTENCY PROFILING</a:t>
            </a:r>
          </a:p>
        </p:txBody>
      </p:sp>
      <p:sp>
        <p:nvSpPr>
          <p:cNvPr id="2" name="Rettangolo 1">
            <a:extLst>
              <a:ext uri="{FF2B5EF4-FFF2-40B4-BE49-F238E27FC236}">
                <a16:creationId xmlns:a16="http://schemas.microsoft.com/office/drawing/2014/main" id="{E69B0F20-D552-4447-BCE7-6A2859E34DCF}"/>
              </a:ext>
            </a:extLst>
          </p:cNvPr>
          <p:cNvSpPr>
            <a:spLocks noGrp="1"/>
          </p:cNvSpPr>
          <p:nvPr/>
        </p:nvSpPr>
        <p:spPr>
          <a:xfrm>
            <a:off x="609600" y="647700"/>
            <a:ext cx="10668000" cy="666750"/>
          </a:xfrm>
          <a:prstGeom prst="rect">
            <a:avLst/>
          </a:prstGeom>
          <a:noFill/>
          <a:ln w="0">
            <a:noFill/>
            <a:prstDash val="solid"/>
          </a:ln>
        </p:spPr>
        <p:txBody>
          <a:bodyPr anchor="t"/>
          <a:lstStyle/>
          <a:p>
            <a:pPr algn="l">
              <a:buNone/>
              <a:defRPr sz="3600" b="1" i="0">
                <a:solidFill>
                  <a:srgbClr val="13212A"/>
                </a:solidFill>
              </a:defRPr>
            </a:pPr>
            <a:r>
              <a:rPr sz="3600" b="1" i="0">
                <a:solidFill>
                  <a:srgbClr val="13212A"/>
                </a:solidFill>
              </a:rPr>
              <a:t>Why deterministic rules are the wrong target</a:t>
            </a:r>
          </a:p>
        </p:txBody>
      </p:sp>
      <p:sp>
        <p:nvSpPr>
          <p:cNvPr id="3" name="Connettore dritto 2">
            <a:extLst>
              <a:ext uri="{FF2B5EF4-FFF2-40B4-BE49-F238E27FC236}">
                <a16:creationId xmlns:a16="http://schemas.microsoft.com/office/drawing/2014/main" id="{6C331A79-AA85-41C7-B1C4-BCAE8F9E5ABF}"/>
              </a:ext>
            </a:extLst>
          </p:cNvPr>
          <p:cNvSpPr>
            <a:spLocks noGrp="1"/>
          </p:cNvSpPr>
          <p:nvPr/>
        </p:nvSpPr>
        <p:spPr>
          <a:xfrm>
            <a:off x="609600" y="1381125"/>
            <a:ext cx="10972800" cy="0"/>
          </a:xfrm>
          <a:prstGeom prst="line">
            <a:avLst/>
          </a:prstGeom>
          <a:noFill/>
          <a:ln w="9525">
            <a:solidFill>
              <a:srgbClr val="CBD7D6"/>
            </a:solidFill>
            <a:prstDash val="solid"/>
          </a:ln>
        </p:spPr>
        <p:txBody>
          <a:bodyPr/>
          <a:lstStyle/>
          <a:p>
            <a:endParaRPr/>
          </a:p>
        </p:txBody>
      </p:sp>
      <p:sp>
        <p:nvSpPr>
          <p:cNvPr id="4" name="Rettangolo 3">
            <a:extLst>
              <a:ext uri="{FF2B5EF4-FFF2-40B4-BE49-F238E27FC236}">
                <a16:creationId xmlns:a16="http://schemas.microsoft.com/office/drawing/2014/main" id="{A7A7E57F-A3EF-434F-81C7-FBE9BD065197}"/>
              </a:ext>
            </a:extLst>
          </p:cNvPr>
          <p:cNvSpPr>
            <a:spLocks noGrp="1"/>
          </p:cNvSpPr>
          <p:nvPr/>
        </p:nvSpPr>
        <p:spPr>
          <a:xfrm>
            <a:off x="11144250" y="6419850"/>
            <a:ext cx="438150" cy="209550"/>
          </a:xfrm>
          <a:prstGeom prst="rect">
            <a:avLst/>
          </a:prstGeom>
          <a:noFill/>
          <a:ln w="0">
            <a:noFill/>
            <a:prstDash val="solid"/>
          </a:ln>
        </p:spPr>
        <p:txBody>
          <a:bodyPr anchor="t"/>
          <a:lstStyle/>
          <a:p>
            <a:pPr algn="r">
              <a:buNone/>
              <a:defRPr sz="1125" b="1" i="0">
                <a:solidFill>
                  <a:srgbClr val="52636D"/>
                </a:solidFill>
              </a:defRPr>
            </a:pPr>
            <a:r>
              <a:rPr sz="1125" b="1" i="0">
                <a:solidFill>
                  <a:srgbClr val="52636D"/>
                </a:solidFill>
              </a:rPr>
              <a:t>02</a:t>
            </a:r>
          </a:p>
        </p:txBody>
      </p:sp>
      <p:sp>
        <p:nvSpPr>
          <p:cNvPr id="5" name="Rettangolo 4">
            <a:extLst>
              <a:ext uri="{FF2B5EF4-FFF2-40B4-BE49-F238E27FC236}">
                <a16:creationId xmlns:a16="http://schemas.microsoft.com/office/drawing/2014/main" id="{2B8857B0-8B50-4011-A7AC-71F55CE066AA}"/>
              </a:ext>
            </a:extLst>
          </p:cNvPr>
          <p:cNvSpPr>
            <a:spLocks noGrp="1"/>
          </p:cNvSpPr>
          <p:nvPr/>
        </p:nvSpPr>
        <p:spPr>
          <a:xfrm>
            <a:off x="666750" y="1790700"/>
            <a:ext cx="3905250" cy="381000"/>
          </a:xfrm>
          <a:prstGeom prst="rect">
            <a:avLst/>
          </a:prstGeom>
          <a:noFill/>
          <a:ln w="0">
            <a:noFill/>
            <a:prstDash val="solid"/>
          </a:ln>
        </p:spPr>
        <p:txBody>
          <a:bodyPr anchor="t"/>
          <a:lstStyle/>
          <a:p>
            <a:pPr algn="l">
              <a:buNone/>
              <a:defRPr sz="2100" b="1" i="0">
                <a:solidFill>
                  <a:srgbClr val="13212A"/>
                </a:solidFill>
              </a:defRPr>
            </a:pPr>
            <a:r>
              <a:rPr sz="2100" b="1" i="0">
                <a:solidFill>
                  <a:srgbClr val="13212A"/>
                </a:solidFill>
              </a:rPr>
              <a:t>Urban environmental data are:</a:t>
            </a:r>
          </a:p>
        </p:txBody>
      </p:sp>
      <p:sp>
        <p:nvSpPr>
          <p:cNvPr id="6" name="Ovale 5">
            <a:extLst>
              <a:ext uri="{FF2B5EF4-FFF2-40B4-BE49-F238E27FC236}">
                <a16:creationId xmlns:a16="http://schemas.microsoft.com/office/drawing/2014/main" id="{D2A9DDBB-E4A0-479F-8F83-DF30C5BD20B4}"/>
              </a:ext>
            </a:extLst>
          </p:cNvPr>
          <p:cNvSpPr>
            <a:spLocks noGrp="1"/>
          </p:cNvSpPr>
          <p:nvPr/>
        </p:nvSpPr>
        <p:spPr>
          <a:xfrm>
            <a:off x="742950" y="2486025"/>
            <a:ext cx="95250" cy="95250"/>
          </a:xfrm>
          <a:prstGeom prst="ellipse">
            <a:avLst/>
          </a:prstGeom>
          <a:solidFill>
            <a:srgbClr val="167D73"/>
          </a:solidFill>
          <a:ln w="0">
            <a:solidFill>
              <a:srgbClr val="167D73"/>
            </a:solidFill>
            <a:prstDash val="solid"/>
          </a:ln>
        </p:spPr>
        <p:txBody>
          <a:bodyPr/>
          <a:lstStyle/>
          <a:p>
            <a:endParaRPr/>
          </a:p>
        </p:txBody>
      </p:sp>
      <p:sp>
        <p:nvSpPr>
          <p:cNvPr id="7" name="Rettangolo 6">
            <a:extLst>
              <a:ext uri="{FF2B5EF4-FFF2-40B4-BE49-F238E27FC236}">
                <a16:creationId xmlns:a16="http://schemas.microsoft.com/office/drawing/2014/main" id="{BD13ABED-63C6-4458-961D-025A7C5AB027}"/>
              </a:ext>
            </a:extLst>
          </p:cNvPr>
          <p:cNvSpPr>
            <a:spLocks noGrp="1"/>
          </p:cNvSpPr>
          <p:nvPr/>
        </p:nvSpPr>
        <p:spPr>
          <a:xfrm>
            <a:off x="971550" y="2400300"/>
            <a:ext cx="4533900" cy="695325"/>
          </a:xfrm>
          <a:prstGeom prst="rect">
            <a:avLst/>
          </a:prstGeom>
          <a:noFill/>
          <a:ln w="0">
            <a:noFill/>
            <a:prstDash val="solid"/>
          </a:ln>
        </p:spPr>
        <p:txBody>
          <a:bodyPr anchor="t"/>
          <a:lstStyle/>
          <a:p>
            <a:pPr algn="l">
              <a:buNone/>
              <a:defRPr sz="1650" b="0" i="0">
                <a:solidFill>
                  <a:srgbClr val="13212A"/>
                </a:solidFill>
              </a:defRPr>
            </a:pPr>
            <a:r>
              <a:rPr sz="1650" b="0" i="0">
                <a:solidFill>
                  <a:srgbClr val="13212A"/>
                </a:solidFill>
              </a:rPr>
              <a:t>noisy and affected by measurement uncertainty</a:t>
            </a:r>
          </a:p>
        </p:txBody>
      </p:sp>
      <p:sp>
        <p:nvSpPr>
          <p:cNvPr id="8" name="Ovale 7">
            <a:extLst>
              <a:ext uri="{FF2B5EF4-FFF2-40B4-BE49-F238E27FC236}">
                <a16:creationId xmlns:a16="http://schemas.microsoft.com/office/drawing/2014/main" id="{9C379CE1-90AC-465F-97B0-2205CECCC690}"/>
              </a:ext>
            </a:extLst>
          </p:cNvPr>
          <p:cNvSpPr>
            <a:spLocks noGrp="1"/>
          </p:cNvSpPr>
          <p:nvPr/>
        </p:nvSpPr>
        <p:spPr>
          <a:xfrm>
            <a:off x="742950" y="3209925"/>
            <a:ext cx="95250" cy="95250"/>
          </a:xfrm>
          <a:prstGeom prst="ellipse">
            <a:avLst/>
          </a:prstGeom>
          <a:solidFill>
            <a:srgbClr val="167D73"/>
          </a:solidFill>
          <a:ln w="0">
            <a:solidFill>
              <a:srgbClr val="167D73"/>
            </a:solidFill>
            <a:prstDash val="solid"/>
          </a:ln>
        </p:spPr>
        <p:txBody>
          <a:bodyPr/>
          <a:lstStyle/>
          <a:p>
            <a:endParaRPr/>
          </a:p>
        </p:txBody>
      </p:sp>
      <p:sp>
        <p:nvSpPr>
          <p:cNvPr id="9" name="Rettangolo 8">
            <a:extLst>
              <a:ext uri="{FF2B5EF4-FFF2-40B4-BE49-F238E27FC236}">
                <a16:creationId xmlns:a16="http://schemas.microsoft.com/office/drawing/2014/main" id="{54C0CE3B-D180-4F0C-B28D-AE8A4B2DD09B}"/>
              </a:ext>
            </a:extLst>
          </p:cNvPr>
          <p:cNvSpPr>
            <a:spLocks noGrp="1"/>
          </p:cNvSpPr>
          <p:nvPr/>
        </p:nvSpPr>
        <p:spPr>
          <a:xfrm>
            <a:off x="971550" y="3124200"/>
            <a:ext cx="4533900" cy="695325"/>
          </a:xfrm>
          <a:prstGeom prst="rect">
            <a:avLst/>
          </a:prstGeom>
          <a:noFill/>
          <a:ln w="0">
            <a:noFill/>
            <a:prstDash val="solid"/>
          </a:ln>
        </p:spPr>
        <p:txBody>
          <a:bodyPr anchor="t"/>
          <a:lstStyle/>
          <a:p>
            <a:pPr algn="l">
              <a:buNone/>
              <a:defRPr sz="1650" b="0" i="0">
                <a:solidFill>
                  <a:srgbClr val="13212A"/>
                </a:solidFill>
              </a:defRPr>
            </a:pPr>
            <a:r>
              <a:rPr sz="1650" b="0" i="0">
                <a:solidFill>
                  <a:srgbClr val="13212A"/>
                </a:solidFill>
              </a:rPr>
              <a:t>variable across time, sites, and weather conditions</a:t>
            </a:r>
          </a:p>
        </p:txBody>
      </p:sp>
      <p:sp>
        <p:nvSpPr>
          <p:cNvPr id="10" name="Ovale 9">
            <a:extLst>
              <a:ext uri="{FF2B5EF4-FFF2-40B4-BE49-F238E27FC236}">
                <a16:creationId xmlns:a16="http://schemas.microsoft.com/office/drawing/2014/main" id="{70E79DB1-209D-4E1D-B7A0-59618D64E9AA}"/>
              </a:ext>
            </a:extLst>
          </p:cNvPr>
          <p:cNvSpPr>
            <a:spLocks noGrp="1"/>
          </p:cNvSpPr>
          <p:nvPr/>
        </p:nvSpPr>
        <p:spPr>
          <a:xfrm>
            <a:off x="742950" y="3933825"/>
            <a:ext cx="95250" cy="95250"/>
          </a:xfrm>
          <a:prstGeom prst="ellipse">
            <a:avLst/>
          </a:prstGeom>
          <a:solidFill>
            <a:srgbClr val="167D73"/>
          </a:solidFill>
          <a:ln w="0">
            <a:solidFill>
              <a:srgbClr val="167D73"/>
            </a:solidFill>
            <a:prstDash val="solid"/>
          </a:ln>
        </p:spPr>
        <p:txBody>
          <a:bodyPr/>
          <a:lstStyle/>
          <a:p>
            <a:endParaRPr/>
          </a:p>
        </p:txBody>
      </p:sp>
      <p:sp>
        <p:nvSpPr>
          <p:cNvPr id="11" name="Rettangolo 10">
            <a:extLst>
              <a:ext uri="{FF2B5EF4-FFF2-40B4-BE49-F238E27FC236}">
                <a16:creationId xmlns:a16="http://schemas.microsoft.com/office/drawing/2014/main" id="{13203159-0FED-4D11-94CE-BC6C1E0F9194}"/>
              </a:ext>
            </a:extLst>
          </p:cNvPr>
          <p:cNvSpPr>
            <a:spLocks noGrp="1"/>
          </p:cNvSpPr>
          <p:nvPr/>
        </p:nvSpPr>
        <p:spPr>
          <a:xfrm>
            <a:off x="971550" y="3848100"/>
            <a:ext cx="4533900" cy="695325"/>
          </a:xfrm>
          <a:prstGeom prst="rect">
            <a:avLst/>
          </a:prstGeom>
          <a:noFill/>
          <a:ln w="0">
            <a:noFill/>
            <a:prstDash val="solid"/>
          </a:ln>
        </p:spPr>
        <p:txBody>
          <a:bodyPr anchor="t"/>
          <a:lstStyle/>
          <a:p>
            <a:pPr algn="l">
              <a:buNone/>
              <a:defRPr sz="1650" b="0" i="0">
                <a:solidFill>
                  <a:srgbClr val="13212A"/>
                </a:solidFill>
              </a:defRPr>
            </a:pPr>
            <a:r>
              <a:rPr sz="1650" b="0" i="0">
                <a:solidFill>
                  <a:srgbClr val="13212A"/>
                </a:solidFill>
              </a:rPr>
              <a:t>influenced by factors that are not fully observed</a:t>
            </a:r>
          </a:p>
        </p:txBody>
      </p:sp>
      <p:sp>
        <p:nvSpPr>
          <p:cNvPr id="12" name="Connettore dritto 11">
            <a:extLst>
              <a:ext uri="{FF2B5EF4-FFF2-40B4-BE49-F238E27FC236}">
                <a16:creationId xmlns:a16="http://schemas.microsoft.com/office/drawing/2014/main" id="{139F525A-2889-4A65-BAFB-7CA4E072FA1E}"/>
              </a:ext>
            </a:extLst>
          </p:cNvPr>
          <p:cNvSpPr>
            <a:spLocks noGrp="1"/>
          </p:cNvSpPr>
          <p:nvPr/>
        </p:nvSpPr>
        <p:spPr>
          <a:xfrm>
            <a:off x="5953125" y="1857375"/>
            <a:ext cx="0" cy="3143250"/>
          </a:xfrm>
          <a:prstGeom prst="line">
            <a:avLst/>
          </a:prstGeom>
          <a:noFill/>
          <a:ln w="19050">
            <a:solidFill>
              <a:srgbClr val="CBD7D6"/>
            </a:solidFill>
            <a:prstDash val="solid"/>
          </a:ln>
        </p:spPr>
        <p:txBody>
          <a:bodyPr/>
          <a:lstStyle/>
          <a:p>
            <a:endParaRPr/>
          </a:p>
        </p:txBody>
      </p:sp>
      <p:sp>
        <p:nvSpPr>
          <p:cNvPr id="13" name="Rettangolo 12">
            <a:extLst>
              <a:ext uri="{FF2B5EF4-FFF2-40B4-BE49-F238E27FC236}">
                <a16:creationId xmlns:a16="http://schemas.microsoft.com/office/drawing/2014/main" id="{9FBE7C88-1D4A-4798-9348-12770C10F865}"/>
              </a:ext>
            </a:extLst>
          </p:cNvPr>
          <p:cNvSpPr>
            <a:spLocks noGrp="1"/>
          </p:cNvSpPr>
          <p:nvPr/>
        </p:nvSpPr>
        <p:spPr>
          <a:xfrm>
            <a:off x="6572250" y="1809750"/>
            <a:ext cx="4095750" cy="400050"/>
          </a:xfrm>
          <a:prstGeom prst="rect">
            <a:avLst/>
          </a:prstGeom>
          <a:noFill/>
          <a:ln w="0">
            <a:noFill/>
            <a:prstDash val="solid"/>
          </a:ln>
        </p:spPr>
        <p:txBody>
          <a:bodyPr anchor="t"/>
          <a:lstStyle/>
          <a:p>
            <a:pPr algn="l">
              <a:buNone/>
              <a:defRPr sz="2100" b="1" i="0">
                <a:solidFill>
                  <a:srgbClr val="167D73"/>
                </a:solidFill>
              </a:defRPr>
            </a:pPr>
            <a:r>
              <a:rPr sz="2100" b="1" i="0">
                <a:solidFill>
                  <a:srgbClr val="167D73"/>
                </a:solidFill>
              </a:rPr>
              <a:t>The analytical question</a:t>
            </a:r>
          </a:p>
        </p:txBody>
      </p:sp>
      <p:sp>
        <p:nvSpPr>
          <p:cNvPr id="14" name="Rettangolo 13">
            <a:extLst>
              <a:ext uri="{FF2B5EF4-FFF2-40B4-BE49-F238E27FC236}">
                <a16:creationId xmlns:a16="http://schemas.microsoft.com/office/drawing/2014/main" id="{2E6581D3-12E0-4748-B010-601101E165FA}"/>
              </a:ext>
            </a:extLst>
          </p:cNvPr>
          <p:cNvSpPr>
            <a:spLocks noGrp="1"/>
          </p:cNvSpPr>
          <p:nvPr/>
        </p:nvSpPr>
        <p:spPr>
          <a:xfrm>
            <a:off x="6572250" y="2400300"/>
            <a:ext cx="4381500" cy="1524000"/>
          </a:xfrm>
          <a:prstGeom prst="rect">
            <a:avLst/>
          </a:prstGeom>
          <a:noFill/>
          <a:ln w="0">
            <a:noFill/>
            <a:prstDash val="solid"/>
          </a:ln>
        </p:spPr>
        <p:txBody>
          <a:bodyPr anchor="t"/>
          <a:lstStyle/>
          <a:p>
            <a:pPr algn="l">
              <a:buNone/>
              <a:defRPr sz="2400" b="1" i="0">
                <a:solidFill>
                  <a:srgbClr val="13212A"/>
                </a:solidFill>
              </a:defRPr>
            </a:pPr>
            <a:r>
              <a:rPr sz="2400" b="1" i="0">
                <a:solidFill>
                  <a:srgbClr val="13212A"/>
                </a:solidFill>
              </a:rPr>
              <a:t>When observations are similar in context and pollutant levels, how often do other measurements remain similar?</a:t>
            </a:r>
          </a:p>
        </p:txBody>
      </p:sp>
      <p:sp>
        <p:nvSpPr>
          <p:cNvPr id="15" name="Rettangolo 14">
            <a:extLst>
              <a:ext uri="{FF2B5EF4-FFF2-40B4-BE49-F238E27FC236}">
                <a16:creationId xmlns:a16="http://schemas.microsoft.com/office/drawing/2014/main" id="{2CBC2F86-AD41-4CB6-B428-F36AAEFC8825}"/>
              </a:ext>
            </a:extLst>
          </p:cNvPr>
          <p:cNvSpPr>
            <a:spLocks noGrp="1"/>
          </p:cNvSpPr>
          <p:nvPr/>
        </p:nvSpPr>
        <p:spPr>
          <a:xfrm>
            <a:off x="6572250" y="4267200"/>
            <a:ext cx="4095750" cy="666750"/>
          </a:xfrm>
          <a:prstGeom prst="rect">
            <a:avLst/>
          </a:prstGeom>
          <a:noFill/>
          <a:ln w="0">
            <a:noFill/>
            <a:prstDash val="solid"/>
          </a:ln>
        </p:spPr>
        <p:txBody>
          <a:bodyPr anchor="t"/>
          <a:lstStyle/>
          <a:p>
            <a:pPr algn="l">
              <a:buNone/>
              <a:defRPr sz="1725" b="0" i="0">
                <a:solidFill>
                  <a:srgbClr val="52636D"/>
                </a:solidFill>
              </a:defRPr>
            </a:pPr>
            <a:r>
              <a:rPr sz="1725" b="0" i="0">
                <a:solidFill>
                  <a:srgbClr val="52636D"/>
                </a:solidFill>
              </a:rPr>
              <a:t>Measure approximate regularity—without forcing exact laws.</a:t>
            </a:r>
          </a:p>
        </p:txBody>
      </p:sp>
      <p:sp>
        <p:nvSpPr>
          <p:cNvPr id="16" name="Rettangolo 15">
            <a:extLst>
              <a:ext uri="{FF2B5EF4-FFF2-40B4-BE49-F238E27FC236}">
                <a16:creationId xmlns:a16="http://schemas.microsoft.com/office/drawing/2014/main" id="{0B722DF9-6A94-4A01-B450-3CCB46E1B21B}"/>
              </a:ext>
            </a:extLst>
          </p:cNvPr>
          <p:cNvSpPr>
            <a:spLocks noGrp="1"/>
          </p:cNvSpPr>
          <p:nvPr/>
        </p:nvSpPr>
        <p:spPr>
          <a:xfrm>
            <a:off x="609600" y="5953125"/>
            <a:ext cx="57150" cy="400050"/>
          </a:xfrm>
          <a:prstGeom prst="rect">
            <a:avLst/>
          </a:prstGeom>
          <a:solidFill>
            <a:srgbClr val="167D73"/>
          </a:solidFill>
          <a:ln w="0">
            <a:solidFill>
              <a:srgbClr val="167D73"/>
            </a:solidFill>
            <a:prstDash val="solid"/>
          </a:ln>
        </p:spPr>
        <p:txBody>
          <a:bodyPr/>
          <a:lstStyle/>
          <a:p>
            <a:endParaRPr/>
          </a:p>
        </p:txBody>
      </p:sp>
      <p:sp>
        <p:nvSpPr>
          <p:cNvPr id="17" name="Rettangolo 16">
            <a:extLst>
              <a:ext uri="{FF2B5EF4-FFF2-40B4-BE49-F238E27FC236}">
                <a16:creationId xmlns:a16="http://schemas.microsoft.com/office/drawing/2014/main" id="{58E6875D-A188-42A0-89CD-E96F25D1D881}"/>
              </a:ext>
            </a:extLst>
          </p:cNvPr>
          <p:cNvSpPr>
            <a:spLocks noGrp="1"/>
          </p:cNvSpPr>
          <p:nvPr/>
        </p:nvSpPr>
        <p:spPr>
          <a:xfrm>
            <a:off x="800100" y="5943600"/>
            <a:ext cx="10287000" cy="457200"/>
          </a:xfrm>
          <a:prstGeom prst="rect">
            <a:avLst/>
          </a:prstGeom>
          <a:noFill/>
          <a:ln w="0">
            <a:noFill/>
            <a:prstDash val="solid"/>
          </a:ln>
        </p:spPr>
        <p:txBody>
          <a:bodyPr anchor="t"/>
          <a:lstStyle/>
          <a:p>
            <a:pPr algn="l">
              <a:buNone/>
              <a:defRPr sz="1650" b="1" i="0">
                <a:solidFill>
                  <a:srgbClr val="13212A"/>
                </a:solidFill>
              </a:defRPr>
            </a:pPr>
            <a:r>
              <a:rPr sz="1650" b="1" i="0">
                <a:solidFill>
                  <a:srgbClr val="13212A"/>
                </a:solidFill>
              </a:rPr>
              <a:t>The goal is to quantify approximate consistency, not to predict outcomes or prove causality.</a:t>
            </a:r>
          </a:p>
        </p:txBody>
      </p:sp>
    </p:spTree>
    <p:extLst>
      <p:ext uri="{BB962C8B-B14F-4D97-AF65-F5344CB8AC3E}">
        <p14:creationId xmlns:p14="http://schemas.microsoft.com/office/powerpoint/2010/main" val="55018782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9" name="Rettangolo 28">
            <a:extLst>
              <a:ext uri="{FF2B5EF4-FFF2-40B4-BE49-F238E27FC236}">
                <a16:creationId xmlns:a16="http://schemas.microsoft.com/office/drawing/2014/main" id="{AF256C6B-AD76-4B95-8EFB-E2C928DC03A0}"/>
              </a:ext>
            </a:extLst>
          </p:cNvPr>
          <p:cNvSpPr>
            <a:spLocks noGrp="1"/>
          </p:cNvSpPr>
          <p:nvPr/>
        </p:nvSpPr>
        <p:spPr>
          <a:xfrm>
            <a:off x="609600" y="323850"/>
            <a:ext cx="5905500" cy="228600"/>
          </a:xfrm>
          <a:prstGeom prst="rect">
            <a:avLst/>
          </a:prstGeom>
          <a:noFill/>
          <a:ln w="0">
            <a:noFill/>
            <a:prstDash val="solid"/>
          </a:ln>
        </p:spPr>
        <p:txBody>
          <a:bodyPr anchor="t"/>
          <a:lstStyle/>
          <a:p>
            <a:pPr algn="l">
              <a:buNone/>
              <a:defRPr sz="1125" b="1" i="0">
                <a:solidFill>
                  <a:srgbClr val="167D73"/>
                </a:solidFill>
              </a:defRPr>
            </a:pPr>
            <a:r>
              <a:rPr sz="1125" b="1" i="0">
                <a:solidFill>
                  <a:srgbClr val="167D73"/>
                </a:solidFill>
              </a:rPr>
              <a:t>KDIID · RFD CONSISTENCY PROFILING</a:t>
            </a:r>
          </a:p>
        </p:txBody>
      </p:sp>
      <p:sp>
        <p:nvSpPr>
          <p:cNvPr id="2" name="Rettangolo 1">
            <a:extLst>
              <a:ext uri="{FF2B5EF4-FFF2-40B4-BE49-F238E27FC236}">
                <a16:creationId xmlns:a16="http://schemas.microsoft.com/office/drawing/2014/main" id="{1D6E3C9B-D31B-4416-8EAD-D133438D4F62}"/>
              </a:ext>
            </a:extLst>
          </p:cNvPr>
          <p:cNvSpPr>
            <a:spLocks noGrp="1"/>
          </p:cNvSpPr>
          <p:nvPr/>
        </p:nvSpPr>
        <p:spPr>
          <a:xfrm>
            <a:off x="609600" y="647700"/>
            <a:ext cx="10668000" cy="666750"/>
          </a:xfrm>
          <a:prstGeom prst="rect">
            <a:avLst/>
          </a:prstGeom>
          <a:noFill/>
          <a:ln w="0">
            <a:noFill/>
            <a:prstDash val="solid"/>
          </a:ln>
        </p:spPr>
        <p:txBody>
          <a:bodyPr anchor="t"/>
          <a:lstStyle/>
          <a:p>
            <a:pPr algn="l">
              <a:buNone/>
              <a:defRPr sz="3600" b="1" i="0">
                <a:solidFill>
                  <a:srgbClr val="13212A"/>
                </a:solidFill>
              </a:defRPr>
            </a:pPr>
            <a:r>
              <a:rPr sz="3600" b="1" i="0">
                <a:solidFill>
                  <a:srgbClr val="13212A"/>
                </a:solidFill>
              </a:rPr>
              <a:t>A conceptual Urban Digital Twin</a:t>
            </a:r>
          </a:p>
        </p:txBody>
      </p:sp>
      <p:sp>
        <p:nvSpPr>
          <p:cNvPr id="3" name="Connettore dritto 2">
            <a:extLst>
              <a:ext uri="{FF2B5EF4-FFF2-40B4-BE49-F238E27FC236}">
                <a16:creationId xmlns:a16="http://schemas.microsoft.com/office/drawing/2014/main" id="{E8E6D88E-1CAC-4F77-B94F-5282D99A6017}"/>
              </a:ext>
            </a:extLst>
          </p:cNvPr>
          <p:cNvSpPr>
            <a:spLocks noGrp="1"/>
          </p:cNvSpPr>
          <p:nvPr/>
        </p:nvSpPr>
        <p:spPr>
          <a:xfrm>
            <a:off x="609600" y="1381125"/>
            <a:ext cx="10972800" cy="0"/>
          </a:xfrm>
          <a:prstGeom prst="line">
            <a:avLst/>
          </a:prstGeom>
          <a:noFill/>
          <a:ln w="9525">
            <a:solidFill>
              <a:srgbClr val="CBD7D6"/>
            </a:solidFill>
            <a:prstDash val="solid"/>
          </a:ln>
        </p:spPr>
        <p:txBody>
          <a:bodyPr/>
          <a:lstStyle/>
          <a:p>
            <a:endParaRPr/>
          </a:p>
        </p:txBody>
      </p:sp>
      <p:sp>
        <p:nvSpPr>
          <p:cNvPr id="4" name="Rettangolo 3">
            <a:extLst>
              <a:ext uri="{FF2B5EF4-FFF2-40B4-BE49-F238E27FC236}">
                <a16:creationId xmlns:a16="http://schemas.microsoft.com/office/drawing/2014/main" id="{7830003F-3EBA-4265-88B6-C26343FF2B8B}"/>
              </a:ext>
            </a:extLst>
          </p:cNvPr>
          <p:cNvSpPr>
            <a:spLocks noGrp="1"/>
          </p:cNvSpPr>
          <p:nvPr/>
        </p:nvSpPr>
        <p:spPr>
          <a:xfrm>
            <a:off x="11144250" y="6419850"/>
            <a:ext cx="438150" cy="209550"/>
          </a:xfrm>
          <a:prstGeom prst="rect">
            <a:avLst/>
          </a:prstGeom>
          <a:noFill/>
          <a:ln w="0">
            <a:noFill/>
            <a:prstDash val="solid"/>
          </a:ln>
        </p:spPr>
        <p:txBody>
          <a:bodyPr anchor="t"/>
          <a:lstStyle/>
          <a:p>
            <a:pPr algn="r">
              <a:buNone/>
              <a:defRPr sz="1125" b="1" i="0">
                <a:solidFill>
                  <a:srgbClr val="52636D"/>
                </a:solidFill>
              </a:defRPr>
            </a:pPr>
            <a:r>
              <a:rPr sz="1125" b="1" i="0">
                <a:solidFill>
                  <a:srgbClr val="52636D"/>
                </a:solidFill>
              </a:rPr>
              <a:t>03</a:t>
            </a:r>
          </a:p>
        </p:txBody>
      </p:sp>
      <p:sp>
        <p:nvSpPr>
          <p:cNvPr id="5" name="Rettangolo 4">
            <a:extLst>
              <a:ext uri="{FF2B5EF4-FFF2-40B4-BE49-F238E27FC236}">
                <a16:creationId xmlns:a16="http://schemas.microsoft.com/office/drawing/2014/main" id="{3A9A00AB-EF0E-41A2-98AB-F5A1E919BB94}"/>
              </a:ext>
            </a:extLst>
          </p:cNvPr>
          <p:cNvSpPr>
            <a:spLocks noGrp="1"/>
          </p:cNvSpPr>
          <p:nvPr/>
        </p:nvSpPr>
        <p:spPr>
          <a:xfrm>
            <a:off x="609600" y="1685925"/>
            <a:ext cx="8096250" cy="361950"/>
          </a:xfrm>
          <a:prstGeom prst="rect">
            <a:avLst/>
          </a:prstGeom>
          <a:noFill/>
          <a:ln w="0">
            <a:noFill/>
            <a:prstDash val="solid"/>
          </a:ln>
        </p:spPr>
        <p:txBody>
          <a:bodyPr anchor="t"/>
          <a:lstStyle/>
          <a:p>
            <a:pPr algn="l">
              <a:buNone/>
              <a:defRPr sz="1875" b="0" i="0">
                <a:solidFill>
                  <a:srgbClr val="52636D"/>
                </a:solidFill>
              </a:defRPr>
            </a:pPr>
            <a:r>
              <a:rPr sz="1875" b="0" i="0">
                <a:solidFill>
                  <a:srgbClr val="52636D"/>
                </a:solidFill>
              </a:rPr>
              <a:t>The Digital Twin is a framing device for an analytical loop:</a:t>
            </a:r>
          </a:p>
        </p:txBody>
      </p:sp>
      <p:sp>
        <p:nvSpPr>
          <p:cNvPr id="6" name="Freccia destra 5">
            <a:extLst>
              <a:ext uri="{FF2B5EF4-FFF2-40B4-BE49-F238E27FC236}">
                <a16:creationId xmlns:a16="http://schemas.microsoft.com/office/drawing/2014/main" id="{60E171D5-4FAD-4B75-9337-8C0B17E98358}"/>
              </a:ext>
            </a:extLst>
          </p:cNvPr>
          <p:cNvSpPr>
            <a:spLocks noGrp="1"/>
          </p:cNvSpPr>
          <p:nvPr/>
        </p:nvSpPr>
        <p:spPr>
          <a:xfrm>
            <a:off x="2686050" y="3028950"/>
            <a:ext cx="590550" cy="323850"/>
          </a:xfrm>
          <a:prstGeom prst="rightArrow">
            <a:avLst/>
          </a:prstGeom>
          <a:solidFill>
            <a:srgbClr val="D9EFEC"/>
          </a:solidFill>
          <a:ln w="0">
            <a:solidFill>
              <a:srgbClr val="D9EFEC"/>
            </a:solidFill>
            <a:prstDash val="solid"/>
          </a:ln>
        </p:spPr>
        <p:txBody>
          <a:bodyPr/>
          <a:lstStyle/>
          <a:p>
            <a:endParaRPr/>
          </a:p>
        </p:txBody>
      </p:sp>
      <p:sp>
        <p:nvSpPr>
          <p:cNvPr id="7" name="Freccia destra 6">
            <a:extLst>
              <a:ext uri="{FF2B5EF4-FFF2-40B4-BE49-F238E27FC236}">
                <a16:creationId xmlns:a16="http://schemas.microsoft.com/office/drawing/2014/main" id="{1F62CBA9-D1A3-4CB7-8353-DAC4083A8467}"/>
              </a:ext>
            </a:extLst>
          </p:cNvPr>
          <p:cNvSpPr>
            <a:spLocks noGrp="1"/>
          </p:cNvSpPr>
          <p:nvPr/>
        </p:nvSpPr>
        <p:spPr>
          <a:xfrm>
            <a:off x="5391150" y="3028950"/>
            <a:ext cx="590550" cy="323850"/>
          </a:xfrm>
          <a:prstGeom prst="rightArrow">
            <a:avLst/>
          </a:prstGeom>
          <a:solidFill>
            <a:srgbClr val="D9EFEC"/>
          </a:solidFill>
          <a:ln w="0">
            <a:solidFill>
              <a:srgbClr val="D9EFEC"/>
            </a:solidFill>
            <a:prstDash val="solid"/>
          </a:ln>
        </p:spPr>
        <p:txBody>
          <a:bodyPr/>
          <a:lstStyle/>
          <a:p>
            <a:endParaRPr/>
          </a:p>
        </p:txBody>
      </p:sp>
      <p:sp>
        <p:nvSpPr>
          <p:cNvPr id="8" name="Freccia destra 7">
            <a:extLst>
              <a:ext uri="{FF2B5EF4-FFF2-40B4-BE49-F238E27FC236}">
                <a16:creationId xmlns:a16="http://schemas.microsoft.com/office/drawing/2014/main" id="{28862123-F1A6-4E40-92F7-0E4ABFDD0DE4}"/>
              </a:ext>
            </a:extLst>
          </p:cNvPr>
          <p:cNvSpPr>
            <a:spLocks noGrp="1"/>
          </p:cNvSpPr>
          <p:nvPr/>
        </p:nvSpPr>
        <p:spPr>
          <a:xfrm>
            <a:off x="8096250" y="3028950"/>
            <a:ext cx="590550" cy="323850"/>
          </a:xfrm>
          <a:prstGeom prst="rightArrow">
            <a:avLst/>
          </a:prstGeom>
          <a:solidFill>
            <a:srgbClr val="D9EFEC"/>
          </a:solidFill>
          <a:ln w="0">
            <a:solidFill>
              <a:srgbClr val="D9EFEC"/>
            </a:solidFill>
            <a:prstDash val="solid"/>
          </a:ln>
        </p:spPr>
        <p:txBody>
          <a:bodyPr/>
          <a:lstStyle/>
          <a:p>
            <a:endParaRPr/>
          </a:p>
        </p:txBody>
      </p:sp>
      <p:sp>
        <p:nvSpPr>
          <p:cNvPr id="9" name="Rettangolo con angoli arrotondati 8">
            <a:extLst>
              <a:ext uri="{FF2B5EF4-FFF2-40B4-BE49-F238E27FC236}">
                <a16:creationId xmlns:a16="http://schemas.microsoft.com/office/drawing/2014/main" id="{F1E33EF5-F45E-4062-B7EC-41497038CFB3}"/>
              </a:ext>
            </a:extLst>
          </p:cNvPr>
          <p:cNvSpPr>
            <a:spLocks noGrp="1"/>
          </p:cNvSpPr>
          <p:nvPr/>
        </p:nvSpPr>
        <p:spPr>
          <a:xfrm>
            <a:off x="685800" y="2400300"/>
            <a:ext cx="2095500" cy="1619250"/>
          </a:xfrm>
          <a:prstGeom prst="roundRect">
            <a:avLst>
              <a:gd name="adj" fmla="val 7059"/>
            </a:avLst>
          </a:prstGeom>
          <a:solidFill>
            <a:srgbClr val="F7F9F8"/>
          </a:solidFill>
          <a:ln w="9525">
            <a:solidFill>
              <a:srgbClr val="CBD7D6"/>
            </a:solidFill>
            <a:prstDash val="solid"/>
          </a:ln>
        </p:spPr>
        <p:txBody>
          <a:bodyPr/>
          <a:lstStyle/>
          <a:p>
            <a:endParaRPr/>
          </a:p>
        </p:txBody>
      </p:sp>
      <p:sp>
        <p:nvSpPr>
          <p:cNvPr id="10" name="Rettangolo 9">
            <a:extLst>
              <a:ext uri="{FF2B5EF4-FFF2-40B4-BE49-F238E27FC236}">
                <a16:creationId xmlns:a16="http://schemas.microsoft.com/office/drawing/2014/main" id="{6D897D85-45B3-41A1-875D-DB21F48FDF2F}"/>
              </a:ext>
            </a:extLst>
          </p:cNvPr>
          <p:cNvSpPr>
            <a:spLocks noGrp="1"/>
          </p:cNvSpPr>
          <p:nvPr/>
        </p:nvSpPr>
        <p:spPr>
          <a:xfrm>
            <a:off x="857250" y="2571750"/>
            <a:ext cx="514350" cy="247650"/>
          </a:xfrm>
          <a:prstGeom prst="rect">
            <a:avLst/>
          </a:prstGeom>
          <a:noFill/>
          <a:ln w="0">
            <a:noFill/>
            <a:prstDash val="solid"/>
          </a:ln>
        </p:spPr>
        <p:txBody>
          <a:bodyPr anchor="t"/>
          <a:lstStyle/>
          <a:p>
            <a:pPr algn="l">
              <a:buNone/>
              <a:defRPr sz="1275" b="1" i="0">
                <a:solidFill>
                  <a:srgbClr val="167D73"/>
                </a:solidFill>
              </a:defRPr>
            </a:pPr>
            <a:r>
              <a:rPr sz="1275" b="1" i="0">
                <a:solidFill>
                  <a:srgbClr val="167D73"/>
                </a:solidFill>
              </a:rPr>
              <a:t>01</a:t>
            </a:r>
          </a:p>
        </p:txBody>
      </p:sp>
      <p:sp>
        <p:nvSpPr>
          <p:cNvPr id="11" name="Rettangolo 10">
            <a:extLst>
              <a:ext uri="{FF2B5EF4-FFF2-40B4-BE49-F238E27FC236}">
                <a16:creationId xmlns:a16="http://schemas.microsoft.com/office/drawing/2014/main" id="{9D7CA4BF-A71E-47A8-B7D1-01C28E3D7995}"/>
              </a:ext>
            </a:extLst>
          </p:cNvPr>
          <p:cNvSpPr>
            <a:spLocks noGrp="1"/>
          </p:cNvSpPr>
          <p:nvPr/>
        </p:nvSpPr>
        <p:spPr>
          <a:xfrm>
            <a:off x="857250" y="2943225"/>
            <a:ext cx="1762125" cy="419100"/>
          </a:xfrm>
          <a:prstGeom prst="rect">
            <a:avLst/>
          </a:prstGeom>
          <a:noFill/>
          <a:ln w="0">
            <a:noFill/>
            <a:prstDash val="solid"/>
          </a:ln>
        </p:spPr>
        <p:txBody>
          <a:bodyPr anchor="t"/>
          <a:lstStyle/>
          <a:p>
            <a:pPr algn="l">
              <a:buNone/>
              <a:defRPr sz="1650" b="1" i="0">
                <a:solidFill>
                  <a:srgbClr val="13212A"/>
                </a:solidFill>
              </a:defRPr>
            </a:pPr>
            <a:r>
              <a:rPr sz="1650" b="1" i="0">
                <a:solidFill>
                  <a:srgbClr val="13212A"/>
                </a:solidFill>
              </a:rPr>
              <a:t>HISTORICAL DATA</a:t>
            </a:r>
          </a:p>
        </p:txBody>
      </p:sp>
      <p:sp>
        <p:nvSpPr>
          <p:cNvPr id="12" name="Rettangolo 11">
            <a:extLst>
              <a:ext uri="{FF2B5EF4-FFF2-40B4-BE49-F238E27FC236}">
                <a16:creationId xmlns:a16="http://schemas.microsoft.com/office/drawing/2014/main" id="{05E8FCAB-3D93-4FCE-A498-77F911091E4B}"/>
              </a:ext>
            </a:extLst>
          </p:cNvPr>
          <p:cNvSpPr>
            <a:spLocks noGrp="1"/>
          </p:cNvSpPr>
          <p:nvPr/>
        </p:nvSpPr>
        <p:spPr>
          <a:xfrm>
            <a:off x="857250" y="3457575"/>
            <a:ext cx="1762125" cy="476250"/>
          </a:xfrm>
          <a:prstGeom prst="rect">
            <a:avLst/>
          </a:prstGeom>
          <a:noFill/>
          <a:ln w="0">
            <a:noFill/>
            <a:prstDash val="solid"/>
          </a:ln>
        </p:spPr>
        <p:txBody>
          <a:bodyPr anchor="t"/>
          <a:lstStyle/>
          <a:p>
            <a:pPr algn="l">
              <a:buNone/>
              <a:defRPr sz="1125" b="0" i="0">
                <a:solidFill>
                  <a:srgbClr val="52636D"/>
                </a:solidFill>
              </a:defRPr>
            </a:pPr>
            <a:r>
              <a:rPr sz="1125" b="0" i="0">
                <a:solidFill>
                  <a:srgbClr val="52636D"/>
                </a:solidFill>
              </a:rPr>
              <a:t>Two stations, pollutants, meteorology</a:t>
            </a:r>
          </a:p>
        </p:txBody>
      </p:sp>
      <p:sp>
        <p:nvSpPr>
          <p:cNvPr id="13" name="Rettangolo con angoli arrotondati 12">
            <a:extLst>
              <a:ext uri="{FF2B5EF4-FFF2-40B4-BE49-F238E27FC236}">
                <a16:creationId xmlns:a16="http://schemas.microsoft.com/office/drawing/2014/main" id="{158BF771-D80B-4F31-9F89-00F2F1F4E55D}"/>
              </a:ext>
            </a:extLst>
          </p:cNvPr>
          <p:cNvSpPr>
            <a:spLocks noGrp="1"/>
          </p:cNvSpPr>
          <p:nvPr/>
        </p:nvSpPr>
        <p:spPr>
          <a:xfrm>
            <a:off x="3390900" y="2400300"/>
            <a:ext cx="2095500" cy="1619250"/>
          </a:xfrm>
          <a:prstGeom prst="roundRect">
            <a:avLst>
              <a:gd name="adj" fmla="val 7059"/>
            </a:avLst>
          </a:prstGeom>
          <a:solidFill>
            <a:srgbClr val="F7F9F8"/>
          </a:solidFill>
          <a:ln w="9525">
            <a:solidFill>
              <a:srgbClr val="CBD7D6"/>
            </a:solidFill>
            <a:prstDash val="solid"/>
          </a:ln>
        </p:spPr>
        <p:txBody>
          <a:bodyPr/>
          <a:lstStyle/>
          <a:p>
            <a:endParaRPr/>
          </a:p>
        </p:txBody>
      </p:sp>
      <p:sp>
        <p:nvSpPr>
          <p:cNvPr id="14" name="Rettangolo 13">
            <a:extLst>
              <a:ext uri="{FF2B5EF4-FFF2-40B4-BE49-F238E27FC236}">
                <a16:creationId xmlns:a16="http://schemas.microsoft.com/office/drawing/2014/main" id="{828D350C-DA36-444F-88CE-8797A59F7294}"/>
              </a:ext>
            </a:extLst>
          </p:cNvPr>
          <p:cNvSpPr>
            <a:spLocks noGrp="1"/>
          </p:cNvSpPr>
          <p:nvPr/>
        </p:nvSpPr>
        <p:spPr>
          <a:xfrm>
            <a:off x="3562350" y="2571750"/>
            <a:ext cx="514350" cy="247650"/>
          </a:xfrm>
          <a:prstGeom prst="rect">
            <a:avLst/>
          </a:prstGeom>
          <a:noFill/>
          <a:ln w="0">
            <a:noFill/>
            <a:prstDash val="solid"/>
          </a:ln>
        </p:spPr>
        <p:txBody>
          <a:bodyPr anchor="t"/>
          <a:lstStyle/>
          <a:p>
            <a:pPr algn="l">
              <a:buNone/>
              <a:defRPr sz="1275" b="1" i="0">
                <a:solidFill>
                  <a:srgbClr val="167D73"/>
                </a:solidFill>
              </a:defRPr>
            </a:pPr>
            <a:r>
              <a:rPr sz="1275" b="1" i="0">
                <a:solidFill>
                  <a:srgbClr val="167D73"/>
                </a:solidFill>
              </a:rPr>
              <a:t>02</a:t>
            </a:r>
          </a:p>
        </p:txBody>
      </p:sp>
      <p:sp>
        <p:nvSpPr>
          <p:cNvPr id="15" name="Rettangolo 14">
            <a:extLst>
              <a:ext uri="{FF2B5EF4-FFF2-40B4-BE49-F238E27FC236}">
                <a16:creationId xmlns:a16="http://schemas.microsoft.com/office/drawing/2014/main" id="{B4ED0673-0126-4235-BD55-0C66625CF6DB}"/>
              </a:ext>
            </a:extLst>
          </p:cNvPr>
          <p:cNvSpPr>
            <a:spLocks noGrp="1"/>
          </p:cNvSpPr>
          <p:nvPr/>
        </p:nvSpPr>
        <p:spPr>
          <a:xfrm>
            <a:off x="3562350" y="2943225"/>
            <a:ext cx="1762125" cy="419100"/>
          </a:xfrm>
          <a:prstGeom prst="rect">
            <a:avLst/>
          </a:prstGeom>
          <a:noFill/>
          <a:ln w="0">
            <a:noFill/>
            <a:prstDash val="solid"/>
          </a:ln>
        </p:spPr>
        <p:txBody>
          <a:bodyPr anchor="t"/>
          <a:lstStyle/>
          <a:p>
            <a:pPr algn="l">
              <a:buNone/>
              <a:defRPr sz="1650" b="1" i="0">
                <a:solidFill>
                  <a:srgbClr val="13212A"/>
                </a:solidFill>
              </a:defRPr>
            </a:pPr>
            <a:r>
              <a:rPr sz="1650" b="1" i="0">
                <a:solidFill>
                  <a:srgbClr val="13212A"/>
                </a:solidFill>
              </a:rPr>
              <a:t>APPROXIMATE RULES</a:t>
            </a:r>
          </a:p>
        </p:txBody>
      </p:sp>
      <p:sp>
        <p:nvSpPr>
          <p:cNvPr id="16" name="Rettangolo 15">
            <a:extLst>
              <a:ext uri="{FF2B5EF4-FFF2-40B4-BE49-F238E27FC236}">
                <a16:creationId xmlns:a16="http://schemas.microsoft.com/office/drawing/2014/main" id="{FCEDC8C9-67BD-4A1F-BB42-78E66AD2310B}"/>
              </a:ext>
            </a:extLst>
          </p:cNvPr>
          <p:cNvSpPr>
            <a:spLocks noGrp="1"/>
          </p:cNvSpPr>
          <p:nvPr/>
        </p:nvSpPr>
        <p:spPr>
          <a:xfrm>
            <a:off x="3562350" y="3457575"/>
            <a:ext cx="1762125" cy="476250"/>
          </a:xfrm>
          <a:prstGeom prst="rect">
            <a:avLst/>
          </a:prstGeom>
          <a:noFill/>
          <a:ln w="0">
            <a:noFill/>
            <a:prstDash val="solid"/>
          </a:ln>
        </p:spPr>
        <p:txBody>
          <a:bodyPr anchor="t"/>
          <a:lstStyle/>
          <a:p>
            <a:pPr algn="l">
              <a:buNone/>
              <a:defRPr sz="1125" b="0" i="0">
                <a:solidFill>
                  <a:srgbClr val="52636D"/>
                </a:solidFill>
              </a:defRPr>
            </a:pPr>
            <a:r>
              <a:rPr sz="1125" b="0" i="0">
                <a:solidFill>
                  <a:srgbClr val="52636D"/>
                </a:solidFill>
              </a:rPr>
              <a:t>RFDs describe expected similarity</a:t>
            </a:r>
          </a:p>
        </p:txBody>
      </p:sp>
      <p:sp>
        <p:nvSpPr>
          <p:cNvPr id="17" name="Rettangolo con angoli arrotondati 16">
            <a:extLst>
              <a:ext uri="{FF2B5EF4-FFF2-40B4-BE49-F238E27FC236}">
                <a16:creationId xmlns:a16="http://schemas.microsoft.com/office/drawing/2014/main" id="{9FC37396-DC6E-49A6-B2E7-D2023A03A627}"/>
              </a:ext>
            </a:extLst>
          </p:cNvPr>
          <p:cNvSpPr>
            <a:spLocks noGrp="1"/>
          </p:cNvSpPr>
          <p:nvPr/>
        </p:nvSpPr>
        <p:spPr>
          <a:xfrm>
            <a:off x="6096000" y="2400300"/>
            <a:ext cx="2095500" cy="1619250"/>
          </a:xfrm>
          <a:prstGeom prst="roundRect">
            <a:avLst>
              <a:gd name="adj" fmla="val 7059"/>
            </a:avLst>
          </a:prstGeom>
          <a:solidFill>
            <a:srgbClr val="F7F9F8"/>
          </a:solidFill>
          <a:ln w="9525">
            <a:solidFill>
              <a:srgbClr val="CBD7D6"/>
            </a:solidFill>
            <a:prstDash val="solid"/>
          </a:ln>
        </p:spPr>
        <p:txBody>
          <a:bodyPr/>
          <a:lstStyle/>
          <a:p>
            <a:endParaRPr/>
          </a:p>
        </p:txBody>
      </p:sp>
      <p:sp>
        <p:nvSpPr>
          <p:cNvPr id="18" name="Rettangolo 17">
            <a:extLst>
              <a:ext uri="{FF2B5EF4-FFF2-40B4-BE49-F238E27FC236}">
                <a16:creationId xmlns:a16="http://schemas.microsoft.com/office/drawing/2014/main" id="{A8406D7C-B986-4AF3-A54E-83AA21B6F72D}"/>
              </a:ext>
            </a:extLst>
          </p:cNvPr>
          <p:cNvSpPr>
            <a:spLocks noGrp="1"/>
          </p:cNvSpPr>
          <p:nvPr/>
        </p:nvSpPr>
        <p:spPr>
          <a:xfrm>
            <a:off x="6267450" y="2571750"/>
            <a:ext cx="514350" cy="247650"/>
          </a:xfrm>
          <a:prstGeom prst="rect">
            <a:avLst/>
          </a:prstGeom>
          <a:noFill/>
          <a:ln w="0">
            <a:noFill/>
            <a:prstDash val="solid"/>
          </a:ln>
        </p:spPr>
        <p:txBody>
          <a:bodyPr anchor="t"/>
          <a:lstStyle/>
          <a:p>
            <a:pPr algn="l">
              <a:buNone/>
              <a:defRPr sz="1275" b="1" i="0">
                <a:solidFill>
                  <a:srgbClr val="167D73"/>
                </a:solidFill>
              </a:defRPr>
            </a:pPr>
            <a:r>
              <a:rPr sz="1275" b="1" i="0">
                <a:solidFill>
                  <a:srgbClr val="167D73"/>
                </a:solidFill>
              </a:rPr>
              <a:t>03</a:t>
            </a:r>
          </a:p>
        </p:txBody>
      </p:sp>
      <p:sp>
        <p:nvSpPr>
          <p:cNvPr id="19" name="Rettangolo 18">
            <a:extLst>
              <a:ext uri="{FF2B5EF4-FFF2-40B4-BE49-F238E27FC236}">
                <a16:creationId xmlns:a16="http://schemas.microsoft.com/office/drawing/2014/main" id="{FD24FF9C-A3A7-4CEF-9DCE-D1DA9E71485E}"/>
              </a:ext>
            </a:extLst>
          </p:cNvPr>
          <p:cNvSpPr>
            <a:spLocks noGrp="1"/>
          </p:cNvSpPr>
          <p:nvPr/>
        </p:nvSpPr>
        <p:spPr>
          <a:xfrm>
            <a:off x="6267450" y="2943225"/>
            <a:ext cx="1762125" cy="419100"/>
          </a:xfrm>
          <a:prstGeom prst="rect">
            <a:avLst/>
          </a:prstGeom>
          <a:noFill/>
          <a:ln w="0">
            <a:noFill/>
            <a:prstDash val="solid"/>
          </a:ln>
        </p:spPr>
        <p:txBody>
          <a:bodyPr anchor="t"/>
          <a:lstStyle/>
          <a:p>
            <a:pPr algn="l">
              <a:buNone/>
              <a:defRPr sz="1650" b="1" i="0">
                <a:solidFill>
                  <a:srgbClr val="13212A"/>
                </a:solidFill>
              </a:defRPr>
            </a:pPr>
            <a:r>
              <a:rPr sz="1650" b="1" i="0">
                <a:solidFill>
                  <a:srgbClr val="13212A"/>
                </a:solidFill>
              </a:rPr>
              <a:t>VIOLATIONS</a:t>
            </a:r>
          </a:p>
        </p:txBody>
      </p:sp>
      <p:sp>
        <p:nvSpPr>
          <p:cNvPr id="20" name="Rettangolo 19">
            <a:extLst>
              <a:ext uri="{FF2B5EF4-FFF2-40B4-BE49-F238E27FC236}">
                <a16:creationId xmlns:a16="http://schemas.microsoft.com/office/drawing/2014/main" id="{012FE7C5-521B-415B-8A8A-2B7EEC05F04C}"/>
              </a:ext>
            </a:extLst>
          </p:cNvPr>
          <p:cNvSpPr>
            <a:spLocks noGrp="1"/>
          </p:cNvSpPr>
          <p:nvPr/>
        </p:nvSpPr>
        <p:spPr>
          <a:xfrm>
            <a:off x="6267450" y="3457575"/>
            <a:ext cx="1762125" cy="476250"/>
          </a:xfrm>
          <a:prstGeom prst="rect">
            <a:avLst/>
          </a:prstGeom>
          <a:noFill/>
          <a:ln w="0">
            <a:noFill/>
            <a:prstDash val="solid"/>
          </a:ln>
        </p:spPr>
        <p:txBody>
          <a:bodyPr anchor="t"/>
          <a:lstStyle/>
          <a:p>
            <a:pPr algn="l">
              <a:buNone/>
              <a:defRPr sz="1125" b="0" i="0">
                <a:solidFill>
                  <a:srgbClr val="52636D"/>
                </a:solidFill>
              </a:defRPr>
            </a:pPr>
            <a:r>
              <a:rPr sz="1125" b="0" i="0">
                <a:solidFill>
                  <a:srgbClr val="52636D"/>
                </a:solidFill>
              </a:rPr>
              <a:t>Cases that break the expected pattern</a:t>
            </a:r>
          </a:p>
        </p:txBody>
      </p:sp>
      <p:sp>
        <p:nvSpPr>
          <p:cNvPr id="21" name="Rettangolo con angoli arrotondati 20">
            <a:extLst>
              <a:ext uri="{FF2B5EF4-FFF2-40B4-BE49-F238E27FC236}">
                <a16:creationId xmlns:a16="http://schemas.microsoft.com/office/drawing/2014/main" id="{312468F4-67C3-446D-8922-1B283EE1045B}"/>
              </a:ext>
            </a:extLst>
          </p:cNvPr>
          <p:cNvSpPr>
            <a:spLocks noGrp="1"/>
          </p:cNvSpPr>
          <p:nvPr/>
        </p:nvSpPr>
        <p:spPr>
          <a:xfrm>
            <a:off x="8801100" y="2400300"/>
            <a:ext cx="2095500" cy="1619250"/>
          </a:xfrm>
          <a:prstGeom prst="roundRect">
            <a:avLst>
              <a:gd name="adj" fmla="val 7059"/>
            </a:avLst>
          </a:prstGeom>
          <a:solidFill>
            <a:srgbClr val="D9EFEC"/>
          </a:solidFill>
          <a:ln w="9525">
            <a:solidFill>
              <a:srgbClr val="CBD7D6"/>
            </a:solidFill>
            <a:prstDash val="solid"/>
          </a:ln>
        </p:spPr>
        <p:txBody>
          <a:bodyPr/>
          <a:lstStyle/>
          <a:p>
            <a:endParaRPr/>
          </a:p>
        </p:txBody>
      </p:sp>
      <p:sp>
        <p:nvSpPr>
          <p:cNvPr id="22" name="Rettangolo 21">
            <a:extLst>
              <a:ext uri="{FF2B5EF4-FFF2-40B4-BE49-F238E27FC236}">
                <a16:creationId xmlns:a16="http://schemas.microsoft.com/office/drawing/2014/main" id="{B9F606A0-76FB-4BB4-B517-18D4B20C9761}"/>
              </a:ext>
            </a:extLst>
          </p:cNvPr>
          <p:cNvSpPr>
            <a:spLocks noGrp="1"/>
          </p:cNvSpPr>
          <p:nvPr/>
        </p:nvSpPr>
        <p:spPr>
          <a:xfrm>
            <a:off x="8972550" y="2571750"/>
            <a:ext cx="514350" cy="247650"/>
          </a:xfrm>
          <a:prstGeom prst="rect">
            <a:avLst/>
          </a:prstGeom>
          <a:noFill/>
          <a:ln w="0">
            <a:noFill/>
            <a:prstDash val="solid"/>
          </a:ln>
        </p:spPr>
        <p:txBody>
          <a:bodyPr anchor="t"/>
          <a:lstStyle/>
          <a:p>
            <a:pPr algn="l">
              <a:buNone/>
              <a:defRPr sz="1275" b="1" i="0">
                <a:solidFill>
                  <a:srgbClr val="167D73"/>
                </a:solidFill>
              </a:defRPr>
            </a:pPr>
            <a:r>
              <a:rPr sz="1275" b="1" i="0">
                <a:solidFill>
                  <a:srgbClr val="167D73"/>
                </a:solidFill>
              </a:rPr>
              <a:t>04</a:t>
            </a:r>
          </a:p>
        </p:txBody>
      </p:sp>
      <p:sp>
        <p:nvSpPr>
          <p:cNvPr id="23" name="Rettangolo 22">
            <a:extLst>
              <a:ext uri="{FF2B5EF4-FFF2-40B4-BE49-F238E27FC236}">
                <a16:creationId xmlns:a16="http://schemas.microsoft.com/office/drawing/2014/main" id="{5B613A06-DCB3-45E0-84EB-0488E9741C5D}"/>
              </a:ext>
            </a:extLst>
          </p:cNvPr>
          <p:cNvSpPr>
            <a:spLocks noGrp="1"/>
          </p:cNvSpPr>
          <p:nvPr/>
        </p:nvSpPr>
        <p:spPr>
          <a:xfrm>
            <a:off x="8972550" y="2943225"/>
            <a:ext cx="1762125" cy="419100"/>
          </a:xfrm>
          <a:prstGeom prst="rect">
            <a:avLst/>
          </a:prstGeom>
          <a:noFill/>
          <a:ln w="0">
            <a:noFill/>
            <a:prstDash val="solid"/>
          </a:ln>
        </p:spPr>
        <p:txBody>
          <a:bodyPr anchor="t"/>
          <a:lstStyle/>
          <a:p>
            <a:pPr algn="l">
              <a:buNone/>
              <a:defRPr sz="1650" b="1" i="0">
                <a:solidFill>
                  <a:srgbClr val="13212A"/>
                </a:solidFill>
              </a:defRPr>
            </a:pPr>
            <a:r>
              <a:rPr sz="1650" b="1" i="0">
                <a:solidFill>
                  <a:srgbClr val="13212A"/>
                </a:solidFill>
              </a:rPr>
              <a:t>MONITORING</a:t>
            </a:r>
          </a:p>
        </p:txBody>
      </p:sp>
      <p:sp>
        <p:nvSpPr>
          <p:cNvPr id="24" name="Rettangolo 23">
            <a:extLst>
              <a:ext uri="{FF2B5EF4-FFF2-40B4-BE49-F238E27FC236}">
                <a16:creationId xmlns:a16="http://schemas.microsoft.com/office/drawing/2014/main" id="{33A70CD8-9182-4AF8-873B-4D0003B08369}"/>
              </a:ext>
            </a:extLst>
          </p:cNvPr>
          <p:cNvSpPr>
            <a:spLocks noGrp="1"/>
          </p:cNvSpPr>
          <p:nvPr/>
        </p:nvSpPr>
        <p:spPr>
          <a:xfrm>
            <a:off x="8972550" y="3457575"/>
            <a:ext cx="1762125" cy="476250"/>
          </a:xfrm>
          <a:prstGeom prst="rect">
            <a:avLst/>
          </a:prstGeom>
          <a:noFill/>
          <a:ln w="0">
            <a:noFill/>
            <a:prstDash val="solid"/>
          </a:ln>
        </p:spPr>
        <p:txBody>
          <a:bodyPr anchor="t"/>
          <a:lstStyle/>
          <a:p>
            <a:pPr algn="l">
              <a:buNone/>
              <a:defRPr sz="1125" b="0" i="0">
                <a:solidFill>
                  <a:srgbClr val="52636D"/>
                </a:solidFill>
              </a:defRPr>
            </a:pPr>
            <a:r>
              <a:rPr sz="1125" b="0" i="0">
                <a:solidFill>
                  <a:srgbClr val="52636D"/>
                </a:solidFill>
              </a:rPr>
              <a:t>Monthly metrics reveal regime changes</a:t>
            </a:r>
          </a:p>
        </p:txBody>
      </p:sp>
      <p:sp>
        <p:nvSpPr>
          <p:cNvPr id="25" name="Rettangolo 24">
            <a:extLst>
              <a:ext uri="{FF2B5EF4-FFF2-40B4-BE49-F238E27FC236}">
                <a16:creationId xmlns:a16="http://schemas.microsoft.com/office/drawing/2014/main" id="{E4E47C6E-DC4B-4736-9748-849E63CFF8A0}"/>
              </a:ext>
            </a:extLst>
          </p:cNvPr>
          <p:cNvSpPr>
            <a:spLocks noGrp="1"/>
          </p:cNvSpPr>
          <p:nvPr/>
        </p:nvSpPr>
        <p:spPr>
          <a:xfrm>
            <a:off x="685800" y="4524375"/>
            <a:ext cx="1524000" cy="285750"/>
          </a:xfrm>
          <a:prstGeom prst="rect">
            <a:avLst/>
          </a:prstGeom>
          <a:noFill/>
          <a:ln w="0">
            <a:noFill/>
            <a:prstDash val="solid"/>
          </a:ln>
        </p:spPr>
        <p:txBody>
          <a:bodyPr anchor="t"/>
          <a:lstStyle/>
          <a:p>
            <a:pPr algn="l">
              <a:buNone/>
              <a:defRPr sz="1500" b="1" i="0">
                <a:solidFill>
                  <a:srgbClr val="B5534A"/>
                </a:solidFill>
              </a:defRPr>
            </a:pPr>
            <a:r>
              <a:rPr sz="1500" b="1" i="0">
                <a:solidFill>
                  <a:srgbClr val="B5534A"/>
                </a:solidFill>
              </a:rPr>
              <a:t>Not built here</a:t>
            </a:r>
          </a:p>
        </p:txBody>
      </p:sp>
      <p:sp>
        <p:nvSpPr>
          <p:cNvPr id="26" name="Rettangolo 25">
            <a:extLst>
              <a:ext uri="{FF2B5EF4-FFF2-40B4-BE49-F238E27FC236}">
                <a16:creationId xmlns:a16="http://schemas.microsoft.com/office/drawing/2014/main" id="{880E2F5A-2084-44DF-B470-B7F0710628C1}"/>
              </a:ext>
            </a:extLst>
          </p:cNvPr>
          <p:cNvSpPr>
            <a:spLocks noGrp="1"/>
          </p:cNvSpPr>
          <p:nvPr/>
        </p:nvSpPr>
        <p:spPr>
          <a:xfrm>
            <a:off x="2286000" y="4524375"/>
            <a:ext cx="7239000" cy="304800"/>
          </a:xfrm>
          <a:prstGeom prst="rect">
            <a:avLst/>
          </a:prstGeom>
          <a:noFill/>
          <a:ln w="0">
            <a:noFill/>
            <a:prstDash val="solid"/>
          </a:ln>
        </p:spPr>
        <p:txBody>
          <a:bodyPr anchor="t"/>
          <a:lstStyle/>
          <a:p>
            <a:pPr algn="l">
              <a:buNone/>
              <a:defRPr sz="1500" b="0" i="0">
                <a:solidFill>
                  <a:srgbClr val="52636D"/>
                </a:solidFill>
              </a:defRPr>
            </a:pPr>
            <a:r>
              <a:rPr sz="1500" b="0" i="0">
                <a:solidFill>
                  <a:srgbClr val="52636D"/>
                </a:solidFill>
              </a:rPr>
              <a:t>3D platform · real-time infrastructure · operational control system</a:t>
            </a:r>
          </a:p>
        </p:txBody>
      </p:sp>
      <p:sp>
        <p:nvSpPr>
          <p:cNvPr id="27" name="Rettangolo 26">
            <a:extLst>
              <a:ext uri="{FF2B5EF4-FFF2-40B4-BE49-F238E27FC236}">
                <a16:creationId xmlns:a16="http://schemas.microsoft.com/office/drawing/2014/main" id="{E7629B46-B38D-4077-9100-39F900E520F5}"/>
              </a:ext>
            </a:extLst>
          </p:cNvPr>
          <p:cNvSpPr>
            <a:spLocks noGrp="1"/>
          </p:cNvSpPr>
          <p:nvPr/>
        </p:nvSpPr>
        <p:spPr>
          <a:xfrm>
            <a:off x="609600" y="5953125"/>
            <a:ext cx="57150" cy="400050"/>
          </a:xfrm>
          <a:prstGeom prst="rect">
            <a:avLst/>
          </a:prstGeom>
          <a:solidFill>
            <a:srgbClr val="167D73"/>
          </a:solidFill>
          <a:ln w="0">
            <a:solidFill>
              <a:srgbClr val="167D73"/>
            </a:solidFill>
            <a:prstDash val="solid"/>
          </a:ln>
        </p:spPr>
        <p:txBody>
          <a:bodyPr/>
          <a:lstStyle/>
          <a:p>
            <a:endParaRPr/>
          </a:p>
        </p:txBody>
      </p:sp>
      <p:sp>
        <p:nvSpPr>
          <p:cNvPr id="28" name="Rettangolo 27">
            <a:extLst>
              <a:ext uri="{FF2B5EF4-FFF2-40B4-BE49-F238E27FC236}">
                <a16:creationId xmlns:a16="http://schemas.microsoft.com/office/drawing/2014/main" id="{36A071C9-05D8-4AFC-BE8E-DE8F8B05BCEA}"/>
              </a:ext>
            </a:extLst>
          </p:cNvPr>
          <p:cNvSpPr>
            <a:spLocks noGrp="1"/>
          </p:cNvSpPr>
          <p:nvPr/>
        </p:nvSpPr>
        <p:spPr>
          <a:xfrm>
            <a:off x="800100" y="5943600"/>
            <a:ext cx="10287000" cy="457200"/>
          </a:xfrm>
          <a:prstGeom prst="rect">
            <a:avLst/>
          </a:prstGeom>
          <a:noFill/>
          <a:ln w="0">
            <a:noFill/>
            <a:prstDash val="solid"/>
          </a:ln>
        </p:spPr>
        <p:txBody>
          <a:bodyPr anchor="t"/>
          <a:lstStyle/>
          <a:p>
            <a:pPr algn="l">
              <a:buNone/>
              <a:defRPr sz="1650" b="1" i="0">
                <a:solidFill>
                  <a:srgbClr val="13212A"/>
                </a:solidFill>
              </a:defRPr>
            </a:pPr>
            <a:r>
              <a:rPr sz="1650" b="1" i="0">
                <a:solidFill>
                  <a:srgbClr val="13212A"/>
                </a:solidFill>
              </a:rPr>
              <a:t>The contribution is a reproducible analytical workflow—not a 3D or real-time platform.</a:t>
            </a:r>
          </a:p>
        </p:txBody>
      </p:sp>
    </p:spTree>
    <p:extLst>
      <p:ext uri="{BB962C8B-B14F-4D97-AF65-F5344CB8AC3E}">
        <p14:creationId xmlns:p14="http://schemas.microsoft.com/office/powerpoint/2010/main" val="146323557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3" name="Rettangolo 22">
            <a:extLst>
              <a:ext uri="{FF2B5EF4-FFF2-40B4-BE49-F238E27FC236}">
                <a16:creationId xmlns:a16="http://schemas.microsoft.com/office/drawing/2014/main" id="{DEEA68EE-244B-4848-B5D7-4A7E81DED60F}"/>
              </a:ext>
            </a:extLst>
          </p:cNvPr>
          <p:cNvSpPr>
            <a:spLocks noGrp="1"/>
          </p:cNvSpPr>
          <p:nvPr/>
        </p:nvSpPr>
        <p:spPr>
          <a:xfrm>
            <a:off x="609600" y="323850"/>
            <a:ext cx="5905500" cy="228600"/>
          </a:xfrm>
          <a:prstGeom prst="rect">
            <a:avLst/>
          </a:prstGeom>
          <a:noFill/>
          <a:ln w="0">
            <a:noFill/>
            <a:prstDash val="solid"/>
          </a:ln>
        </p:spPr>
        <p:txBody>
          <a:bodyPr anchor="t"/>
          <a:lstStyle/>
          <a:p>
            <a:pPr algn="l">
              <a:buNone/>
              <a:defRPr sz="1125" b="1" i="0">
                <a:solidFill>
                  <a:srgbClr val="167D73"/>
                </a:solidFill>
              </a:defRPr>
            </a:pPr>
            <a:r>
              <a:rPr sz="1125" b="1" i="0">
                <a:solidFill>
                  <a:srgbClr val="167D73"/>
                </a:solidFill>
              </a:rPr>
              <a:t>KDIID · RFD CONSISTENCY PROFILING</a:t>
            </a:r>
          </a:p>
        </p:txBody>
      </p:sp>
      <p:sp>
        <p:nvSpPr>
          <p:cNvPr id="2" name="Rettangolo 1">
            <a:extLst>
              <a:ext uri="{FF2B5EF4-FFF2-40B4-BE49-F238E27FC236}">
                <a16:creationId xmlns:a16="http://schemas.microsoft.com/office/drawing/2014/main" id="{2F1E798E-922F-4235-B147-59F862DB491E}"/>
              </a:ext>
            </a:extLst>
          </p:cNvPr>
          <p:cNvSpPr>
            <a:spLocks noGrp="1"/>
          </p:cNvSpPr>
          <p:nvPr/>
        </p:nvSpPr>
        <p:spPr>
          <a:xfrm>
            <a:off x="609600" y="647700"/>
            <a:ext cx="10668000" cy="666750"/>
          </a:xfrm>
          <a:prstGeom prst="rect">
            <a:avLst/>
          </a:prstGeom>
          <a:noFill/>
          <a:ln w="0">
            <a:noFill/>
            <a:prstDash val="solid"/>
          </a:ln>
        </p:spPr>
        <p:txBody>
          <a:bodyPr anchor="t"/>
          <a:lstStyle/>
          <a:p>
            <a:pPr algn="l">
              <a:buNone/>
              <a:defRPr sz="3600" b="1" i="0">
                <a:solidFill>
                  <a:srgbClr val="13212A"/>
                </a:solidFill>
              </a:defRPr>
            </a:pPr>
            <a:r>
              <a:rPr sz="3600" b="1" i="0">
                <a:solidFill>
                  <a:srgbClr val="13212A"/>
                </a:solidFill>
              </a:rPr>
              <a:t>Dataset design</a:t>
            </a:r>
          </a:p>
        </p:txBody>
      </p:sp>
      <p:sp>
        <p:nvSpPr>
          <p:cNvPr id="3" name="Connettore dritto 2">
            <a:extLst>
              <a:ext uri="{FF2B5EF4-FFF2-40B4-BE49-F238E27FC236}">
                <a16:creationId xmlns:a16="http://schemas.microsoft.com/office/drawing/2014/main" id="{172B951B-68CD-4530-B1F7-079D79CB065C}"/>
              </a:ext>
            </a:extLst>
          </p:cNvPr>
          <p:cNvSpPr>
            <a:spLocks noGrp="1"/>
          </p:cNvSpPr>
          <p:nvPr/>
        </p:nvSpPr>
        <p:spPr>
          <a:xfrm>
            <a:off x="609600" y="1381125"/>
            <a:ext cx="10972800" cy="0"/>
          </a:xfrm>
          <a:prstGeom prst="line">
            <a:avLst/>
          </a:prstGeom>
          <a:noFill/>
          <a:ln w="9525">
            <a:solidFill>
              <a:srgbClr val="CBD7D6"/>
            </a:solidFill>
            <a:prstDash val="solid"/>
          </a:ln>
        </p:spPr>
        <p:txBody>
          <a:bodyPr/>
          <a:lstStyle/>
          <a:p>
            <a:endParaRPr/>
          </a:p>
        </p:txBody>
      </p:sp>
      <p:sp>
        <p:nvSpPr>
          <p:cNvPr id="4" name="Rettangolo 3">
            <a:extLst>
              <a:ext uri="{FF2B5EF4-FFF2-40B4-BE49-F238E27FC236}">
                <a16:creationId xmlns:a16="http://schemas.microsoft.com/office/drawing/2014/main" id="{021F9FA5-4FC5-47BE-B987-5299ED0C51C2}"/>
              </a:ext>
            </a:extLst>
          </p:cNvPr>
          <p:cNvSpPr>
            <a:spLocks noGrp="1"/>
          </p:cNvSpPr>
          <p:nvPr/>
        </p:nvSpPr>
        <p:spPr>
          <a:xfrm>
            <a:off x="11144250" y="6419850"/>
            <a:ext cx="438150" cy="209550"/>
          </a:xfrm>
          <a:prstGeom prst="rect">
            <a:avLst/>
          </a:prstGeom>
          <a:noFill/>
          <a:ln w="0">
            <a:noFill/>
            <a:prstDash val="solid"/>
          </a:ln>
        </p:spPr>
        <p:txBody>
          <a:bodyPr anchor="t"/>
          <a:lstStyle/>
          <a:p>
            <a:pPr algn="r">
              <a:buNone/>
              <a:defRPr sz="1125" b="1" i="0">
                <a:solidFill>
                  <a:srgbClr val="52636D"/>
                </a:solidFill>
              </a:defRPr>
            </a:pPr>
            <a:r>
              <a:rPr sz="1125" b="1" i="0">
                <a:solidFill>
                  <a:srgbClr val="52636D"/>
                </a:solidFill>
              </a:rPr>
              <a:t>04</a:t>
            </a:r>
          </a:p>
        </p:txBody>
      </p:sp>
      <p:sp>
        <p:nvSpPr>
          <p:cNvPr id="5" name="Rettangolo 4">
            <a:extLst>
              <a:ext uri="{FF2B5EF4-FFF2-40B4-BE49-F238E27FC236}">
                <a16:creationId xmlns:a16="http://schemas.microsoft.com/office/drawing/2014/main" id="{B88370D8-7376-4469-96DA-6E1EC5AA08F3}"/>
              </a:ext>
            </a:extLst>
          </p:cNvPr>
          <p:cNvSpPr>
            <a:spLocks noGrp="1"/>
          </p:cNvSpPr>
          <p:nvPr/>
        </p:nvSpPr>
        <p:spPr>
          <a:xfrm>
            <a:off x="628650" y="1657350"/>
            <a:ext cx="5905500" cy="400050"/>
          </a:xfrm>
          <a:prstGeom prst="rect">
            <a:avLst/>
          </a:prstGeom>
          <a:noFill/>
          <a:ln w="0">
            <a:noFill/>
            <a:prstDash val="solid"/>
          </a:ln>
        </p:spPr>
        <p:txBody>
          <a:bodyPr anchor="t"/>
          <a:lstStyle/>
          <a:p>
            <a:pPr algn="l">
              <a:buNone/>
              <a:defRPr sz="2100" b="1" i="0">
                <a:solidFill>
                  <a:srgbClr val="13212A"/>
                </a:solidFill>
              </a:defRPr>
            </a:pPr>
            <a:r>
              <a:rPr sz="2100" b="1" i="0">
                <a:solidFill>
                  <a:srgbClr val="13212A"/>
                </a:solidFill>
              </a:rPr>
              <a:t>Beijing Multi-Site Air Quality Data Set</a:t>
            </a:r>
          </a:p>
        </p:txBody>
      </p:sp>
      <p:sp>
        <p:nvSpPr>
          <p:cNvPr id="6" name="Rettangolo 5">
            <a:extLst>
              <a:ext uri="{FF2B5EF4-FFF2-40B4-BE49-F238E27FC236}">
                <a16:creationId xmlns:a16="http://schemas.microsoft.com/office/drawing/2014/main" id="{D57B3A8F-121A-4E35-BBCF-D54D87FE855B}"/>
              </a:ext>
            </a:extLst>
          </p:cNvPr>
          <p:cNvSpPr>
            <a:spLocks noGrp="1"/>
          </p:cNvSpPr>
          <p:nvPr/>
        </p:nvSpPr>
        <p:spPr>
          <a:xfrm>
            <a:off x="628650" y="2114550"/>
            <a:ext cx="6667500" cy="323850"/>
          </a:xfrm>
          <a:prstGeom prst="rect">
            <a:avLst/>
          </a:prstGeom>
          <a:noFill/>
          <a:ln w="0">
            <a:noFill/>
            <a:prstDash val="solid"/>
          </a:ln>
        </p:spPr>
        <p:txBody>
          <a:bodyPr anchor="t"/>
          <a:lstStyle/>
          <a:p>
            <a:pPr algn="l">
              <a:buNone/>
              <a:defRPr sz="1650" b="0" i="0">
                <a:solidFill>
                  <a:srgbClr val="52636D"/>
                </a:solidFill>
              </a:defRPr>
            </a:pPr>
            <a:r>
              <a:rPr sz="1650" b="0" i="0">
                <a:solidFill>
                  <a:srgbClr val="52636D"/>
                </a:solidFill>
              </a:rPr>
              <a:t>Aotizhongxin + Changping · March 2013–February 2017</a:t>
            </a:r>
          </a:p>
        </p:txBody>
      </p:sp>
      <p:sp>
        <p:nvSpPr>
          <p:cNvPr id="7" name="Rettangolo 6">
            <a:extLst>
              <a:ext uri="{FF2B5EF4-FFF2-40B4-BE49-F238E27FC236}">
                <a16:creationId xmlns:a16="http://schemas.microsoft.com/office/drawing/2014/main" id="{8363E62F-48B6-4F47-9DFC-332A5B697A3C}"/>
              </a:ext>
            </a:extLst>
          </p:cNvPr>
          <p:cNvSpPr>
            <a:spLocks noGrp="1"/>
          </p:cNvSpPr>
          <p:nvPr/>
        </p:nvSpPr>
        <p:spPr>
          <a:xfrm>
            <a:off x="666750" y="3009900"/>
            <a:ext cx="2381250" cy="666750"/>
          </a:xfrm>
          <a:prstGeom prst="rect">
            <a:avLst/>
          </a:prstGeom>
          <a:noFill/>
          <a:ln w="0">
            <a:noFill/>
            <a:prstDash val="solid"/>
          </a:ln>
        </p:spPr>
        <p:txBody>
          <a:bodyPr anchor="t"/>
          <a:lstStyle/>
          <a:p>
            <a:pPr algn="l">
              <a:buNone/>
              <a:defRPr sz="3900" b="1" i="0">
                <a:solidFill>
                  <a:srgbClr val="13212A"/>
                </a:solidFill>
              </a:defRPr>
            </a:pPr>
            <a:r>
              <a:rPr sz="3900" b="1" i="0">
                <a:solidFill>
                  <a:srgbClr val="13212A"/>
                </a:solidFill>
              </a:rPr>
              <a:t>66,619</a:t>
            </a:r>
          </a:p>
        </p:txBody>
      </p:sp>
      <p:sp>
        <p:nvSpPr>
          <p:cNvPr id="8" name="Rettangolo 7">
            <a:extLst>
              <a:ext uri="{FF2B5EF4-FFF2-40B4-BE49-F238E27FC236}">
                <a16:creationId xmlns:a16="http://schemas.microsoft.com/office/drawing/2014/main" id="{A4842A12-DE23-4CCD-93FD-DD1189EC876E}"/>
              </a:ext>
            </a:extLst>
          </p:cNvPr>
          <p:cNvSpPr>
            <a:spLocks noGrp="1"/>
          </p:cNvSpPr>
          <p:nvPr/>
        </p:nvSpPr>
        <p:spPr>
          <a:xfrm>
            <a:off x="666750" y="3714750"/>
            <a:ext cx="2238375" cy="361950"/>
          </a:xfrm>
          <a:prstGeom prst="rect">
            <a:avLst/>
          </a:prstGeom>
          <a:noFill/>
          <a:ln w="0">
            <a:noFill/>
            <a:prstDash val="solid"/>
          </a:ln>
        </p:spPr>
        <p:txBody>
          <a:bodyPr anchor="t"/>
          <a:lstStyle/>
          <a:p>
            <a:pPr algn="l">
              <a:buNone/>
              <a:defRPr sz="1425" b="0" i="0">
                <a:solidFill>
                  <a:srgbClr val="52636D"/>
                </a:solidFill>
              </a:defRPr>
            </a:pPr>
            <a:r>
              <a:rPr sz="1425" b="0" i="0">
                <a:solidFill>
                  <a:srgbClr val="52636D"/>
                </a:solidFill>
              </a:rPr>
              <a:t>clean observations</a:t>
            </a:r>
          </a:p>
        </p:txBody>
      </p:sp>
      <p:sp>
        <p:nvSpPr>
          <p:cNvPr id="9" name="Connettore dritto 8">
            <a:extLst>
              <a:ext uri="{FF2B5EF4-FFF2-40B4-BE49-F238E27FC236}">
                <a16:creationId xmlns:a16="http://schemas.microsoft.com/office/drawing/2014/main" id="{40108491-AC85-4ACE-B264-CFBF7CFB3EAD}"/>
              </a:ext>
            </a:extLst>
          </p:cNvPr>
          <p:cNvSpPr>
            <a:spLocks noGrp="1"/>
          </p:cNvSpPr>
          <p:nvPr/>
        </p:nvSpPr>
        <p:spPr>
          <a:xfrm>
            <a:off x="3124200" y="3095625"/>
            <a:ext cx="0" cy="952500"/>
          </a:xfrm>
          <a:prstGeom prst="line">
            <a:avLst/>
          </a:prstGeom>
          <a:noFill/>
          <a:ln w="9525">
            <a:solidFill>
              <a:srgbClr val="CBD7D6"/>
            </a:solidFill>
            <a:prstDash val="solid"/>
          </a:ln>
        </p:spPr>
        <p:txBody>
          <a:bodyPr/>
          <a:lstStyle/>
          <a:p>
            <a:endParaRPr/>
          </a:p>
        </p:txBody>
      </p:sp>
      <p:sp>
        <p:nvSpPr>
          <p:cNvPr id="10" name="Rettangolo 9">
            <a:extLst>
              <a:ext uri="{FF2B5EF4-FFF2-40B4-BE49-F238E27FC236}">
                <a16:creationId xmlns:a16="http://schemas.microsoft.com/office/drawing/2014/main" id="{13C2F390-12E0-41CA-BDDB-D4C3F38C4E93}"/>
              </a:ext>
            </a:extLst>
          </p:cNvPr>
          <p:cNvSpPr>
            <a:spLocks noGrp="1"/>
          </p:cNvSpPr>
          <p:nvPr/>
        </p:nvSpPr>
        <p:spPr>
          <a:xfrm>
            <a:off x="3448050" y="3009900"/>
            <a:ext cx="2381250" cy="666750"/>
          </a:xfrm>
          <a:prstGeom prst="rect">
            <a:avLst/>
          </a:prstGeom>
          <a:noFill/>
          <a:ln w="0">
            <a:noFill/>
            <a:prstDash val="solid"/>
          </a:ln>
        </p:spPr>
        <p:txBody>
          <a:bodyPr anchor="t"/>
          <a:lstStyle/>
          <a:p>
            <a:pPr algn="l">
              <a:buNone/>
              <a:defRPr sz="3900" b="1" i="0">
                <a:solidFill>
                  <a:srgbClr val="13212A"/>
                </a:solidFill>
              </a:defRPr>
            </a:pPr>
            <a:r>
              <a:rPr sz="3900" b="1" i="0">
                <a:solidFill>
                  <a:srgbClr val="13212A"/>
                </a:solidFill>
              </a:rPr>
              <a:t>11</a:t>
            </a:r>
          </a:p>
        </p:txBody>
      </p:sp>
      <p:sp>
        <p:nvSpPr>
          <p:cNvPr id="11" name="Rettangolo 10">
            <a:extLst>
              <a:ext uri="{FF2B5EF4-FFF2-40B4-BE49-F238E27FC236}">
                <a16:creationId xmlns:a16="http://schemas.microsoft.com/office/drawing/2014/main" id="{215E8878-2FB8-4BCA-822F-BD13D97B9D22}"/>
              </a:ext>
            </a:extLst>
          </p:cNvPr>
          <p:cNvSpPr>
            <a:spLocks noGrp="1"/>
          </p:cNvSpPr>
          <p:nvPr/>
        </p:nvSpPr>
        <p:spPr>
          <a:xfrm>
            <a:off x="3448050" y="3714750"/>
            <a:ext cx="2238375" cy="361950"/>
          </a:xfrm>
          <a:prstGeom prst="rect">
            <a:avLst/>
          </a:prstGeom>
          <a:noFill/>
          <a:ln w="0">
            <a:noFill/>
            <a:prstDash val="solid"/>
          </a:ln>
        </p:spPr>
        <p:txBody>
          <a:bodyPr anchor="t"/>
          <a:lstStyle/>
          <a:p>
            <a:pPr algn="l">
              <a:buNone/>
              <a:defRPr sz="1425" b="0" i="0">
                <a:solidFill>
                  <a:srgbClr val="52636D"/>
                </a:solidFill>
              </a:defRPr>
            </a:pPr>
            <a:r>
              <a:rPr sz="1425" b="0" i="0">
                <a:solidFill>
                  <a:srgbClr val="52636D"/>
                </a:solidFill>
              </a:rPr>
              <a:t>final variables</a:t>
            </a:r>
          </a:p>
        </p:txBody>
      </p:sp>
      <p:sp>
        <p:nvSpPr>
          <p:cNvPr id="12" name="Connettore dritto 11">
            <a:extLst>
              <a:ext uri="{FF2B5EF4-FFF2-40B4-BE49-F238E27FC236}">
                <a16:creationId xmlns:a16="http://schemas.microsoft.com/office/drawing/2014/main" id="{F5E6FF49-C51F-4F11-89BC-27F7B1EA0A0C}"/>
              </a:ext>
            </a:extLst>
          </p:cNvPr>
          <p:cNvSpPr>
            <a:spLocks noGrp="1"/>
          </p:cNvSpPr>
          <p:nvPr/>
        </p:nvSpPr>
        <p:spPr>
          <a:xfrm>
            <a:off x="5905500" y="3095625"/>
            <a:ext cx="0" cy="952500"/>
          </a:xfrm>
          <a:prstGeom prst="line">
            <a:avLst/>
          </a:prstGeom>
          <a:noFill/>
          <a:ln w="9525">
            <a:solidFill>
              <a:srgbClr val="CBD7D6"/>
            </a:solidFill>
            <a:prstDash val="solid"/>
          </a:ln>
        </p:spPr>
        <p:txBody>
          <a:bodyPr/>
          <a:lstStyle/>
          <a:p>
            <a:endParaRPr/>
          </a:p>
        </p:txBody>
      </p:sp>
      <p:sp>
        <p:nvSpPr>
          <p:cNvPr id="13" name="Rettangolo 12">
            <a:extLst>
              <a:ext uri="{FF2B5EF4-FFF2-40B4-BE49-F238E27FC236}">
                <a16:creationId xmlns:a16="http://schemas.microsoft.com/office/drawing/2014/main" id="{A34DF95E-DA68-4843-AA18-DA5E1850423F}"/>
              </a:ext>
            </a:extLst>
          </p:cNvPr>
          <p:cNvSpPr>
            <a:spLocks noGrp="1"/>
          </p:cNvSpPr>
          <p:nvPr/>
        </p:nvSpPr>
        <p:spPr>
          <a:xfrm>
            <a:off x="6229350" y="3009900"/>
            <a:ext cx="2381250" cy="666750"/>
          </a:xfrm>
          <a:prstGeom prst="rect">
            <a:avLst/>
          </a:prstGeom>
          <a:noFill/>
          <a:ln w="0">
            <a:noFill/>
            <a:prstDash val="solid"/>
          </a:ln>
        </p:spPr>
        <p:txBody>
          <a:bodyPr anchor="t"/>
          <a:lstStyle/>
          <a:p>
            <a:pPr algn="l">
              <a:buNone/>
              <a:defRPr sz="3900" b="1" i="0">
                <a:solidFill>
                  <a:srgbClr val="167D73"/>
                </a:solidFill>
              </a:defRPr>
            </a:pPr>
            <a:r>
              <a:rPr sz="3900" b="1" i="0">
                <a:solidFill>
                  <a:srgbClr val="167D73"/>
                </a:solidFill>
              </a:rPr>
              <a:t>1,676</a:t>
            </a:r>
          </a:p>
        </p:txBody>
      </p:sp>
      <p:sp>
        <p:nvSpPr>
          <p:cNvPr id="14" name="Rettangolo 13">
            <a:extLst>
              <a:ext uri="{FF2B5EF4-FFF2-40B4-BE49-F238E27FC236}">
                <a16:creationId xmlns:a16="http://schemas.microsoft.com/office/drawing/2014/main" id="{DC7AC04B-27B9-4EBF-A4B5-EFFA7C4964E4}"/>
              </a:ext>
            </a:extLst>
          </p:cNvPr>
          <p:cNvSpPr>
            <a:spLocks noGrp="1"/>
          </p:cNvSpPr>
          <p:nvPr/>
        </p:nvSpPr>
        <p:spPr>
          <a:xfrm>
            <a:off x="6229350" y="3714750"/>
            <a:ext cx="2238375" cy="361950"/>
          </a:xfrm>
          <a:prstGeom prst="rect">
            <a:avLst/>
          </a:prstGeom>
          <a:noFill/>
          <a:ln w="0">
            <a:noFill/>
            <a:prstDash val="solid"/>
          </a:ln>
        </p:spPr>
        <p:txBody>
          <a:bodyPr anchor="t"/>
          <a:lstStyle/>
          <a:p>
            <a:pPr algn="l">
              <a:buNone/>
              <a:defRPr sz="1425" b="0" i="0">
                <a:solidFill>
                  <a:srgbClr val="52636D"/>
                </a:solidFill>
              </a:defRPr>
            </a:pPr>
            <a:r>
              <a:rPr sz="1425" b="0" i="0">
                <a:solidFill>
                  <a:srgbClr val="52636D"/>
                </a:solidFill>
              </a:rPr>
              <a:t>weekly profiles</a:t>
            </a:r>
          </a:p>
        </p:txBody>
      </p:sp>
      <p:sp>
        <p:nvSpPr>
          <p:cNvPr id="15" name="Connettore dritto 14">
            <a:extLst>
              <a:ext uri="{FF2B5EF4-FFF2-40B4-BE49-F238E27FC236}">
                <a16:creationId xmlns:a16="http://schemas.microsoft.com/office/drawing/2014/main" id="{34E47953-3612-49E1-A8F2-269578B94895}"/>
              </a:ext>
            </a:extLst>
          </p:cNvPr>
          <p:cNvSpPr>
            <a:spLocks noGrp="1"/>
          </p:cNvSpPr>
          <p:nvPr/>
        </p:nvSpPr>
        <p:spPr>
          <a:xfrm>
            <a:off x="8686800" y="3095625"/>
            <a:ext cx="0" cy="952500"/>
          </a:xfrm>
          <a:prstGeom prst="line">
            <a:avLst/>
          </a:prstGeom>
          <a:noFill/>
          <a:ln w="9525">
            <a:solidFill>
              <a:srgbClr val="CBD7D6"/>
            </a:solidFill>
            <a:prstDash val="solid"/>
          </a:ln>
        </p:spPr>
        <p:txBody>
          <a:bodyPr/>
          <a:lstStyle/>
          <a:p>
            <a:endParaRPr/>
          </a:p>
        </p:txBody>
      </p:sp>
      <p:sp>
        <p:nvSpPr>
          <p:cNvPr id="16" name="Rettangolo 15">
            <a:extLst>
              <a:ext uri="{FF2B5EF4-FFF2-40B4-BE49-F238E27FC236}">
                <a16:creationId xmlns:a16="http://schemas.microsoft.com/office/drawing/2014/main" id="{8C9FECB5-A994-4185-90DE-363D48B91DB6}"/>
              </a:ext>
            </a:extLst>
          </p:cNvPr>
          <p:cNvSpPr>
            <a:spLocks noGrp="1"/>
          </p:cNvSpPr>
          <p:nvPr/>
        </p:nvSpPr>
        <p:spPr>
          <a:xfrm>
            <a:off x="9010650" y="3009900"/>
            <a:ext cx="2381250" cy="666750"/>
          </a:xfrm>
          <a:prstGeom prst="rect">
            <a:avLst/>
          </a:prstGeom>
          <a:noFill/>
          <a:ln w="0">
            <a:noFill/>
            <a:prstDash val="solid"/>
          </a:ln>
        </p:spPr>
        <p:txBody>
          <a:bodyPr anchor="t"/>
          <a:lstStyle/>
          <a:p>
            <a:pPr algn="l">
              <a:buNone/>
              <a:defRPr sz="3150" b="1" i="0">
                <a:solidFill>
                  <a:srgbClr val="13212A"/>
                </a:solidFill>
              </a:defRPr>
            </a:pPr>
            <a:r>
              <a:rPr sz="3150" b="1" i="0">
                <a:solidFill>
                  <a:srgbClr val="13212A"/>
                </a:solidFill>
              </a:rPr>
              <a:t>1,403,650</a:t>
            </a:r>
          </a:p>
        </p:txBody>
      </p:sp>
      <p:sp>
        <p:nvSpPr>
          <p:cNvPr id="17" name="Rettangolo 16">
            <a:extLst>
              <a:ext uri="{FF2B5EF4-FFF2-40B4-BE49-F238E27FC236}">
                <a16:creationId xmlns:a16="http://schemas.microsoft.com/office/drawing/2014/main" id="{FA320A91-43BA-4044-862E-28A3F0BE0D63}"/>
              </a:ext>
            </a:extLst>
          </p:cNvPr>
          <p:cNvSpPr>
            <a:spLocks noGrp="1"/>
          </p:cNvSpPr>
          <p:nvPr/>
        </p:nvSpPr>
        <p:spPr>
          <a:xfrm>
            <a:off x="9010650" y="3714750"/>
            <a:ext cx="2238375" cy="361950"/>
          </a:xfrm>
          <a:prstGeom prst="rect">
            <a:avLst/>
          </a:prstGeom>
          <a:noFill/>
          <a:ln w="0">
            <a:noFill/>
            <a:prstDash val="solid"/>
          </a:ln>
        </p:spPr>
        <p:txBody>
          <a:bodyPr anchor="t"/>
          <a:lstStyle/>
          <a:p>
            <a:pPr algn="l">
              <a:buNone/>
              <a:defRPr sz="1425" b="0" i="0">
                <a:solidFill>
                  <a:srgbClr val="52636D"/>
                </a:solidFill>
              </a:defRPr>
            </a:pPr>
            <a:r>
              <a:rPr sz="1425" b="0" i="0">
                <a:solidFill>
                  <a:srgbClr val="52636D"/>
                </a:solidFill>
              </a:rPr>
              <a:t>pairwise comparisons</a:t>
            </a:r>
          </a:p>
        </p:txBody>
      </p:sp>
      <p:sp>
        <p:nvSpPr>
          <p:cNvPr id="18" name="Rettangolo con angoli arrotondati 17">
            <a:extLst>
              <a:ext uri="{FF2B5EF4-FFF2-40B4-BE49-F238E27FC236}">
                <a16:creationId xmlns:a16="http://schemas.microsoft.com/office/drawing/2014/main" id="{6789DC72-C878-4F7D-B242-36D083CB7570}"/>
              </a:ext>
            </a:extLst>
          </p:cNvPr>
          <p:cNvSpPr>
            <a:spLocks noGrp="1"/>
          </p:cNvSpPr>
          <p:nvPr/>
        </p:nvSpPr>
        <p:spPr>
          <a:xfrm>
            <a:off x="647700" y="4591050"/>
            <a:ext cx="10572750" cy="895350"/>
          </a:xfrm>
          <a:prstGeom prst="roundRect">
            <a:avLst>
              <a:gd name="adj" fmla="val 12766"/>
            </a:avLst>
          </a:prstGeom>
          <a:solidFill>
            <a:srgbClr val="EEF4F3"/>
          </a:solidFill>
          <a:ln w="9525">
            <a:solidFill>
              <a:srgbClr val="CBD7D6"/>
            </a:solidFill>
            <a:prstDash val="solid"/>
          </a:ln>
        </p:spPr>
        <p:txBody>
          <a:bodyPr/>
          <a:lstStyle/>
          <a:p>
            <a:endParaRPr/>
          </a:p>
        </p:txBody>
      </p:sp>
      <p:sp>
        <p:nvSpPr>
          <p:cNvPr id="19" name="Rettangolo 18">
            <a:extLst>
              <a:ext uri="{FF2B5EF4-FFF2-40B4-BE49-F238E27FC236}">
                <a16:creationId xmlns:a16="http://schemas.microsoft.com/office/drawing/2014/main" id="{8983F0F7-FF66-4364-AC33-350A27130A0D}"/>
              </a:ext>
            </a:extLst>
          </p:cNvPr>
          <p:cNvSpPr>
            <a:spLocks noGrp="1"/>
          </p:cNvSpPr>
          <p:nvPr/>
        </p:nvSpPr>
        <p:spPr>
          <a:xfrm>
            <a:off x="876300" y="4772025"/>
            <a:ext cx="2143125" cy="266700"/>
          </a:xfrm>
          <a:prstGeom prst="rect">
            <a:avLst/>
          </a:prstGeom>
          <a:noFill/>
          <a:ln w="0">
            <a:noFill/>
            <a:prstDash val="solid"/>
          </a:ln>
        </p:spPr>
        <p:txBody>
          <a:bodyPr anchor="t"/>
          <a:lstStyle/>
          <a:p>
            <a:pPr algn="l">
              <a:buNone/>
              <a:defRPr sz="1500" b="1" i="0">
                <a:solidFill>
                  <a:srgbClr val="167D73"/>
                </a:solidFill>
              </a:defRPr>
            </a:pPr>
            <a:r>
              <a:rPr sz="1500" b="1" i="0">
                <a:solidFill>
                  <a:srgbClr val="167D73"/>
                </a:solidFill>
              </a:rPr>
              <a:t>Missing-value policy</a:t>
            </a:r>
          </a:p>
        </p:txBody>
      </p:sp>
      <p:sp>
        <p:nvSpPr>
          <p:cNvPr id="20" name="Rettangolo 19">
            <a:extLst>
              <a:ext uri="{FF2B5EF4-FFF2-40B4-BE49-F238E27FC236}">
                <a16:creationId xmlns:a16="http://schemas.microsoft.com/office/drawing/2014/main" id="{2D046DE7-07DC-43A0-80FF-81FEBB2E6975}"/>
              </a:ext>
            </a:extLst>
          </p:cNvPr>
          <p:cNvSpPr>
            <a:spLocks noGrp="1"/>
          </p:cNvSpPr>
          <p:nvPr/>
        </p:nvSpPr>
        <p:spPr>
          <a:xfrm>
            <a:off x="3048000" y="4743450"/>
            <a:ext cx="7810500" cy="428625"/>
          </a:xfrm>
          <a:prstGeom prst="rect">
            <a:avLst/>
          </a:prstGeom>
          <a:noFill/>
          <a:ln w="0">
            <a:noFill/>
            <a:prstDash val="solid"/>
          </a:ln>
        </p:spPr>
        <p:txBody>
          <a:bodyPr anchor="t"/>
          <a:lstStyle/>
          <a:p>
            <a:pPr algn="l">
              <a:buNone/>
              <a:defRPr sz="1575" b="0" i="0">
                <a:solidFill>
                  <a:srgbClr val="13212A"/>
                </a:solidFill>
              </a:defRPr>
            </a:pPr>
            <a:r>
              <a:rPr sz="1575" b="0" i="0">
                <a:solidFill>
                  <a:srgbClr val="13212A"/>
                </a:solidFill>
              </a:rPr>
              <a:t>summarize missingness → drop incomplete rows on selected columns → no imputation</a:t>
            </a:r>
          </a:p>
        </p:txBody>
      </p:sp>
      <p:sp>
        <p:nvSpPr>
          <p:cNvPr id="21" name="Rettangolo 20">
            <a:extLst>
              <a:ext uri="{FF2B5EF4-FFF2-40B4-BE49-F238E27FC236}">
                <a16:creationId xmlns:a16="http://schemas.microsoft.com/office/drawing/2014/main" id="{C88CE2E9-C054-4372-8D18-A1AE3F34F589}"/>
              </a:ext>
            </a:extLst>
          </p:cNvPr>
          <p:cNvSpPr>
            <a:spLocks noGrp="1"/>
          </p:cNvSpPr>
          <p:nvPr/>
        </p:nvSpPr>
        <p:spPr>
          <a:xfrm>
            <a:off x="609600" y="5953125"/>
            <a:ext cx="57150" cy="400050"/>
          </a:xfrm>
          <a:prstGeom prst="rect">
            <a:avLst/>
          </a:prstGeom>
          <a:solidFill>
            <a:srgbClr val="167D73"/>
          </a:solidFill>
          <a:ln w="0">
            <a:solidFill>
              <a:srgbClr val="167D73"/>
            </a:solidFill>
            <a:prstDash val="solid"/>
          </a:ln>
        </p:spPr>
        <p:txBody>
          <a:bodyPr/>
          <a:lstStyle/>
          <a:p>
            <a:endParaRPr/>
          </a:p>
        </p:txBody>
      </p:sp>
      <p:sp>
        <p:nvSpPr>
          <p:cNvPr id="22" name="Rettangolo 21">
            <a:extLst>
              <a:ext uri="{FF2B5EF4-FFF2-40B4-BE49-F238E27FC236}">
                <a16:creationId xmlns:a16="http://schemas.microsoft.com/office/drawing/2014/main" id="{96D34556-3AD5-4BF4-8665-9627A0028627}"/>
              </a:ext>
            </a:extLst>
          </p:cNvPr>
          <p:cNvSpPr>
            <a:spLocks noGrp="1"/>
          </p:cNvSpPr>
          <p:nvPr/>
        </p:nvSpPr>
        <p:spPr>
          <a:xfrm>
            <a:off x="800100" y="5943600"/>
            <a:ext cx="10287000" cy="457200"/>
          </a:xfrm>
          <a:prstGeom prst="rect">
            <a:avLst/>
          </a:prstGeom>
          <a:noFill/>
          <a:ln w="0">
            <a:noFill/>
            <a:prstDash val="solid"/>
          </a:ln>
        </p:spPr>
        <p:txBody>
          <a:bodyPr anchor="t"/>
          <a:lstStyle/>
          <a:p>
            <a:pPr algn="l">
              <a:buNone/>
              <a:defRPr sz="1650" b="1" i="0">
                <a:solidFill>
                  <a:srgbClr val="13212A"/>
                </a:solidFill>
              </a:defRPr>
            </a:pPr>
            <a:r>
              <a:rPr sz="1650" b="1" i="0">
                <a:solidFill>
                  <a:srgbClr val="13212A"/>
                </a:solidFill>
              </a:rPr>
              <a:t>All 66,619 rows feed weekly station × time-slot medians; DiMε uses eight projected attributes.</a:t>
            </a:r>
          </a:p>
        </p:txBody>
      </p:sp>
    </p:spTree>
    <p:extLst>
      <p:ext uri="{BB962C8B-B14F-4D97-AF65-F5344CB8AC3E}">
        <p14:creationId xmlns:p14="http://schemas.microsoft.com/office/powerpoint/2010/main" val="1925246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8" name="Rettangolo 17">
            <a:extLst>
              <a:ext uri="{FF2B5EF4-FFF2-40B4-BE49-F238E27FC236}">
                <a16:creationId xmlns:a16="http://schemas.microsoft.com/office/drawing/2014/main" id="{297BB717-9FA0-4F93-93B3-B7FF9C88F591}"/>
              </a:ext>
            </a:extLst>
          </p:cNvPr>
          <p:cNvSpPr>
            <a:spLocks noGrp="1"/>
          </p:cNvSpPr>
          <p:nvPr/>
        </p:nvSpPr>
        <p:spPr>
          <a:xfrm>
            <a:off x="609600" y="323850"/>
            <a:ext cx="5905500" cy="228600"/>
          </a:xfrm>
          <a:prstGeom prst="rect">
            <a:avLst/>
          </a:prstGeom>
          <a:noFill/>
          <a:ln w="0">
            <a:noFill/>
            <a:prstDash val="solid"/>
          </a:ln>
        </p:spPr>
        <p:txBody>
          <a:bodyPr anchor="t"/>
          <a:lstStyle/>
          <a:p>
            <a:pPr algn="l">
              <a:buNone/>
              <a:defRPr sz="1125" b="1" i="0">
                <a:solidFill>
                  <a:srgbClr val="167D73"/>
                </a:solidFill>
              </a:defRPr>
            </a:pPr>
            <a:r>
              <a:rPr sz="1125" b="1" i="0">
                <a:solidFill>
                  <a:srgbClr val="167D73"/>
                </a:solidFill>
              </a:rPr>
              <a:t>KDIID · RFD CONSISTENCY PROFILING</a:t>
            </a:r>
          </a:p>
        </p:txBody>
      </p:sp>
      <p:sp>
        <p:nvSpPr>
          <p:cNvPr id="2" name="Rettangolo 1">
            <a:extLst>
              <a:ext uri="{FF2B5EF4-FFF2-40B4-BE49-F238E27FC236}">
                <a16:creationId xmlns:a16="http://schemas.microsoft.com/office/drawing/2014/main" id="{DA3DDEE5-9EB5-4424-BB40-5438AACC08A6}"/>
              </a:ext>
            </a:extLst>
          </p:cNvPr>
          <p:cNvSpPr>
            <a:spLocks noGrp="1"/>
          </p:cNvSpPr>
          <p:nvPr/>
        </p:nvSpPr>
        <p:spPr>
          <a:xfrm>
            <a:off x="609600" y="647700"/>
            <a:ext cx="10668000" cy="666750"/>
          </a:xfrm>
          <a:prstGeom prst="rect">
            <a:avLst/>
          </a:prstGeom>
          <a:noFill/>
          <a:ln w="0">
            <a:noFill/>
            <a:prstDash val="solid"/>
          </a:ln>
        </p:spPr>
        <p:txBody>
          <a:bodyPr anchor="t"/>
          <a:lstStyle/>
          <a:p>
            <a:pPr algn="l">
              <a:buNone/>
              <a:defRPr sz="3600" b="1" i="0">
                <a:solidFill>
                  <a:srgbClr val="13212A"/>
                </a:solidFill>
              </a:defRPr>
            </a:pPr>
            <a:r>
              <a:rPr sz="3600" b="1" i="0">
                <a:solidFill>
                  <a:srgbClr val="13212A"/>
                </a:solidFill>
              </a:rPr>
              <a:t>From exact equality to expected similarity</a:t>
            </a:r>
          </a:p>
        </p:txBody>
      </p:sp>
      <p:sp>
        <p:nvSpPr>
          <p:cNvPr id="3" name="Connettore dritto 2">
            <a:extLst>
              <a:ext uri="{FF2B5EF4-FFF2-40B4-BE49-F238E27FC236}">
                <a16:creationId xmlns:a16="http://schemas.microsoft.com/office/drawing/2014/main" id="{FE7C7AE9-2537-4F16-9704-C2DF24E7276B}"/>
              </a:ext>
            </a:extLst>
          </p:cNvPr>
          <p:cNvSpPr>
            <a:spLocks noGrp="1"/>
          </p:cNvSpPr>
          <p:nvPr/>
        </p:nvSpPr>
        <p:spPr>
          <a:xfrm>
            <a:off x="609600" y="1381125"/>
            <a:ext cx="10972800" cy="0"/>
          </a:xfrm>
          <a:prstGeom prst="line">
            <a:avLst/>
          </a:prstGeom>
          <a:noFill/>
          <a:ln w="9525">
            <a:solidFill>
              <a:srgbClr val="CBD7D6"/>
            </a:solidFill>
            <a:prstDash val="solid"/>
          </a:ln>
        </p:spPr>
        <p:txBody>
          <a:bodyPr/>
          <a:lstStyle/>
          <a:p>
            <a:endParaRPr/>
          </a:p>
        </p:txBody>
      </p:sp>
      <p:sp>
        <p:nvSpPr>
          <p:cNvPr id="4" name="Rettangolo 3">
            <a:extLst>
              <a:ext uri="{FF2B5EF4-FFF2-40B4-BE49-F238E27FC236}">
                <a16:creationId xmlns:a16="http://schemas.microsoft.com/office/drawing/2014/main" id="{841304AD-9C2C-48B7-9CB3-DA7CE5B584AF}"/>
              </a:ext>
            </a:extLst>
          </p:cNvPr>
          <p:cNvSpPr>
            <a:spLocks noGrp="1"/>
          </p:cNvSpPr>
          <p:nvPr/>
        </p:nvSpPr>
        <p:spPr>
          <a:xfrm>
            <a:off x="11144250" y="6419850"/>
            <a:ext cx="438150" cy="209550"/>
          </a:xfrm>
          <a:prstGeom prst="rect">
            <a:avLst/>
          </a:prstGeom>
          <a:noFill/>
          <a:ln w="0">
            <a:noFill/>
            <a:prstDash val="solid"/>
          </a:ln>
        </p:spPr>
        <p:txBody>
          <a:bodyPr anchor="t"/>
          <a:lstStyle/>
          <a:p>
            <a:pPr algn="r">
              <a:buNone/>
              <a:defRPr sz="1125" b="1" i="0">
                <a:solidFill>
                  <a:srgbClr val="52636D"/>
                </a:solidFill>
              </a:defRPr>
            </a:pPr>
            <a:r>
              <a:rPr sz="1125" b="1" i="0">
                <a:solidFill>
                  <a:srgbClr val="52636D"/>
                </a:solidFill>
              </a:rPr>
              <a:t>05</a:t>
            </a:r>
          </a:p>
        </p:txBody>
      </p:sp>
      <p:sp>
        <p:nvSpPr>
          <p:cNvPr id="5" name="Rettangolo 4">
            <a:extLst>
              <a:ext uri="{FF2B5EF4-FFF2-40B4-BE49-F238E27FC236}">
                <a16:creationId xmlns:a16="http://schemas.microsoft.com/office/drawing/2014/main" id="{BFEFC9EF-8467-4396-8B01-4780231DD3C2}"/>
              </a:ext>
            </a:extLst>
          </p:cNvPr>
          <p:cNvSpPr>
            <a:spLocks noGrp="1"/>
          </p:cNvSpPr>
          <p:nvPr/>
        </p:nvSpPr>
        <p:spPr>
          <a:xfrm>
            <a:off x="857250" y="1847850"/>
            <a:ext cx="3714750" cy="323850"/>
          </a:xfrm>
          <a:prstGeom prst="rect">
            <a:avLst/>
          </a:prstGeom>
          <a:noFill/>
          <a:ln w="0">
            <a:noFill/>
            <a:prstDash val="solid"/>
          </a:ln>
        </p:spPr>
        <p:txBody>
          <a:bodyPr anchor="t"/>
          <a:lstStyle/>
          <a:p>
            <a:pPr algn="l">
              <a:buNone/>
              <a:defRPr sz="1650" b="1" i="0">
                <a:solidFill>
                  <a:srgbClr val="52636D"/>
                </a:solidFill>
              </a:defRPr>
            </a:pPr>
            <a:r>
              <a:rPr sz="1650" b="1" i="0">
                <a:solidFill>
                  <a:srgbClr val="52636D"/>
                </a:solidFill>
              </a:rPr>
              <a:t>CLASSICAL FD</a:t>
            </a:r>
          </a:p>
        </p:txBody>
      </p:sp>
      <p:sp>
        <p:nvSpPr>
          <p:cNvPr id="6" name="Rettangolo 5">
            <a:extLst>
              <a:ext uri="{FF2B5EF4-FFF2-40B4-BE49-F238E27FC236}">
                <a16:creationId xmlns:a16="http://schemas.microsoft.com/office/drawing/2014/main" id="{008CD983-5F36-4FD0-9606-DF3AA33830AC}"/>
              </a:ext>
            </a:extLst>
          </p:cNvPr>
          <p:cNvSpPr>
            <a:spLocks noGrp="1"/>
          </p:cNvSpPr>
          <p:nvPr/>
        </p:nvSpPr>
        <p:spPr>
          <a:xfrm>
            <a:off x="1123950" y="2457450"/>
            <a:ext cx="3143250" cy="666750"/>
          </a:xfrm>
          <a:prstGeom prst="rect">
            <a:avLst/>
          </a:prstGeom>
          <a:noFill/>
          <a:ln w="0">
            <a:noFill/>
            <a:prstDash val="solid"/>
          </a:ln>
        </p:spPr>
        <p:txBody>
          <a:bodyPr anchor="t"/>
          <a:lstStyle/>
          <a:p>
            <a:pPr algn="ctr">
              <a:buNone/>
              <a:defRPr sz="3750" b="1" i="0">
                <a:solidFill>
                  <a:srgbClr val="13212A"/>
                </a:solidFill>
              </a:defRPr>
            </a:pPr>
            <a:r>
              <a:rPr sz="3750" b="1" i="0">
                <a:solidFill>
                  <a:srgbClr val="13212A"/>
                </a:solidFill>
              </a:rPr>
              <a:t>X₁ = X₂</a:t>
            </a:r>
          </a:p>
        </p:txBody>
      </p:sp>
      <p:sp>
        <p:nvSpPr>
          <p:cNvPr id="7" name="Rettangolo 6">
            <a:extLst>
              <a:ext uri="{FF2B5EF4-FFF2-40B4-BE49-F238E27FC236}">
                <a16:creationId xmlns:a16="http://schemas.microsoft.com/office/drawing/2014/main" id="{C6908D5E-CB25-4193-ACCF-2DB3E88C9AD5}"/>
              </a:ext>
            </a:extLst>
          </p:cNvPr>
          <p:cNvSpPr>
            <a:spLocks noGrp="1"/>
          </p:cNvSpPr>
          <p:nvPr/>
        </p:nvSpPr>
        <p:spPr>
          <a:xfrm>
            <a:off x="1123950" y="3209925"/>
            <a:ext cx="3143250" cy="285750"/>
          </a:xfrm>
          <a:prstGeom prst="rect">
            <a:avLst/>
          </a:prstGeom>
          <a:noFill/>
          <a:ln w="0">
            <a:noFill/>
            <a:prstDash val="solid"/>
          </a:ln>
        </p:spPr>
        <p:txBody>
          <a:bodyPr anchor="t"/>
          <a:lstStyle/>
          <a:p>
            <a:pPr algn="ctr">
              <a:buNone/>
              <a:defRPr sz="1500" b="0" i="0">
                <a:solidFill>
                  <a:srgbClr val="52636D"/>
                </a:solidFill>
              </a:defRPr>
            </a:pPr>
            <a:r>
              <a:rPr sz="1500" b="0" i="0">
                <a:solidFill>
                  <a:srgbClr val="52636D"/>
                </a:solidFill>
              </a:rPr>
              <a:t>implies</a:t>
            </a:r>
          </a:p>
        </p:txBody>
      </p:sp>
      <p:sp>
        <p:nvSpPr>
          <p:cNvPr id="8" name="Rettangolo 7">
            <a:extLst>
              <a:ext uri="{FF2B5EF4-FFF2-40B4-BE49-F238E27FC236}">
                <a16:creationId xmlns:a16="http://schemas.microsoft.com/office/drawing/2014/main" id="{6FF0AA33-874C-4031-B527-D561FD249C2C}"/>
              </a:ext>
            </a:extLst>
          </p:cNvPr>
          <p:cNvSpPr>
            <a:spLocks noGrp="1"/>
          </p:cNvSpPr>
          <p:nvPr/>
        </p:nvSpPr>
        <p:spPr>
          <a:xfrm>
            <a:off x="1123950" y="3619500"/>
            <a:ext cx="3143250" cy="666750"/>
          </a:xfrm>
          <a:prstGeom prst="rect">
            <a:avLst/>
          </a:prstGeom>
          <a:noFill/>
          <a:ln w="0">
            <a:noFill/>
            <a:prstDash val="solid"/>
          </a:ln>
        </p:spPr>
        <p:txBody>
          <a:bodyPr anchor="t"/>
          <a:lstStyle/>
          <a:p>
            <a:pPr algn="ctr">
              <a:buNone/>
              <a:defRPr sz="3750" b="1" i="0">
                <a:solidFill>
                  <a:srgbClr val="13212A"/>
                </a:solidFill>
              </a:defRPr>
            </a:pPr>
            <a:r>
              <a:rPr sz="3750" b="1" i="0">
                <a:solidFill>
                  <a:srgbClr val="13212A"/>
                </a:solidFill>
              </a:rPr>
              <a:t>Y₁ = Y₂</a:t>
            </a:r>
          </a:p>
        </p:txBody>
      </p:sp>
      <p:sp>
        <p:nvSpPr>
          <p:cNvPr id="9" name="Connettore dritto 8">
            <a:extLst>
              <a:ext uri="{FF2B5EF4-FFF2-40B4-BE49-F238E27FC236}">
                <a16:creationId xmlns:a16="http://schemas.microsoft.com/office/drawing/2014/main" id="{AEC74B98-F23F-4E24-97DC-28E1EC82FE87}"/>
              </a:ext>
            </a:extLst>
          </p:cNvPr>
          <p:cNvSpPr>
            <a:spLocks noGrp="1"/>
          </p:cNvSpPr>
          <p:nvPr/>
        </p:nvSpPr>
        <p:spPr>
          <a:xfrm>
            <a:off x="5924550" y="1905000"/>
            <a:ext cx="0" cy="2952750"/>
          </a:xfrm>
          <a:prstGeom prst="line">
            <a:avLst/>
          </a:prstGeom>
          <a:noFill/>
          <a:ln w="19050">
            <a:solidFill>
              <a:srgbClr val="CBD7D6"/>
            </a:solidFill>
            <a:prstDash val="solid"/>
          </a:ln>
        </p:spPr>
        <p:txBody>
          <a:bodyPr/>
          <a:lstStyle/>
          <a:p>
            <a:endParaRPr/>
          </a:p>
        </p:txBody>
      </p:sp>
      <p:sp>
        <p:nvSpPr>
          <p:cNvPr id="10" name="Rettangolo 9">
            <a:extLst>
              <a:ext uri="{FF2B5EF4-FFF2-40B4-BE49-F238E27FC236}">
                <a16:creationId xmlns:a16="http://schemas.microsoft.com/office/drawing/2014/main" id="{5A174B74-F251-4269-BDFE-F74005C7EB39}"/>
              </a:ext>
            </a:extLst>
          </p:cNvPr>
          <p:cNvSpPr>
            <a:spLocks noGrp="1"/>
          </p:cNvSpPr>
          <p:nvPr/>
        </p:nvSpPr>
        <p:spPr>
          <a:xfrm>
            <a:off x="7096125" y="1847850"/>
            <a:ext cx="3714750" cy="323850"/>
          </a:xfrm>
          <a:prstGeom prst="rect">
            <a:avLst/>
          </a:prstGeom>
          <a:noFill/>
          <a:ln w="0">
            <a:noFill/>
            <a:prstDash val="solid"/>
          </a:ln>
        </p:spPr>
        <p:txBody>
          <a:bodyPr anchor="t"/>
          <a:lstStyle/>
          <a:p>
            <a:pPr algn="l">
              <a:buNone/>
              <a:defRPr sz="1650" b="1" i="0">
                <a:solidFill>
                  <a:srgbClr val="167D73"/>
                </a:solidFill>
              </a:defRPr>
            </a:pPr>
            <a:r>
              <a:rPr sz="1650" b="1" i="0">
                <a:solidFill>
                  <a:srgbClr val="167D73"/>
                </a:solidFill>
              </a:rPr>
              <a:t>RELAXED FD</a:t>
            </a:r>
          </a:p>
        </p:txBody>
      </p:sp>
      <p:sp>
        <p:nvSpPr>
          <p:cNvPr id="11" name="Rettangolo 10">
            <a:extLst>
              <a:ext uri="{FF2B5EF4-FFF2-40B4-BE49-F238E27FC236}">
                <a16:creationId xmlns:a16="http://schemas.microsoft.com/office/drawing/2014/main" id="{FDC25815-7D71-433D-A6AD-D8830496531A}"/>
              </a:ext>
            </a:extLst>
          </p:cNvPr>
          <p:cNvSpPr>
            <a:spLocks noGrp="1"/>
          </p:cNvSpPr>
          <p:nvPr/>
        </p:nvSpPr>
        <p:spPr>
          <a:xfrm>
            <a:off x="7391400" y="2457450"/>
            <a:ext cx="3143250" cy="666750"/>
          </a:xfrm>
          <a:prstGeom prst="rect">
            <a:avLst/>
          </a:prstGeom>
          <a:noFill/>
          <a:ln w="0">
            <a:noFill/>
            <a:prstDash val="solid"/>
          </a:ln>
        </p:spPr>
        <p:txBody>
          <a:bodyPr anchor="t"/>
          <a:lstStyle/>
          <a:p>
            <a:pPr algn="ctr">
              <a:buNone/>
              <a:defRPr sz="3750" b="1" i="0">
                <a:solidFill>
                  <a:srgbClr val="167D73"/>
                </a:solidFill>
              </a:defRPr>
            </a:pPr>
            <a:r>
              <a:rPr sz="3750" b="1" i="0">
                <a:solidFill>
                  <a:srgbClr val="167D73"/>
                </a:solidFill>
              </a:rPr>
              <a:t>X₁ ≈ X₂</a:t>
            </a:r>
          </a:p>
        </p:txBody>
      </p:sp>
      <p:sp>
        <p:nvSpPr>
          <p:cNvPr id="12" name="Rettangolo 11">
            <a:extLst>
              <a:ext uri="{FF2B5EF4-FFF2-40B4-BE49-F238E27FC236}">
                <a16:creationId xmlns:a16="http://schemas.microsoft.com/office/drawing/2014/main" id="{05D9F68C-0FBC-4229-B2D4-402FA073FA0E}"/>
              </a:ext>
            </a:extLst>
          </p:cNvPr>
          <p:cNvSpPr>
            <a:spLocks noGrp="1"/>
          </p:cNvSpPr>
          <p:nvPr/>
        </p:nvSpPr>
        <p:spPr>
          <a:xfrm>
            <a:off x="6953250" y="3209925"/>
            <a:ext cx="4000500" cy="285750"/>
          </a:xfrm>
          <a:prstGeom prst="rect">
            <a:avLst/>
          </a:prstGeom>
          <a:noFill/>
          <a:ln w="0">
            <a:noFill/>
            <a:prstDash val="solid"/>
          </a:ln>
        </p:spPr>
        <p:txBody>
          <a:bodyPr anchor="t"/>
          <a:lstStyle/>
          <a:p>
            <a:pPr algn="ctr">
              <a:buNone/>
              <a:defRPr sz="1500" b="0" i="0">
                <a:solidFill>
                  <a:srgbClr val="52636D"/>
                </a:solidFill>
              </a:defRPr>
            </a:pPr>
            <a:r>
              <a:rPr sz="1500" b="0" i="0">
                <a:solidFill>
                  <a:srgbClr val="52636D"/>
                </a:solidFill>
              </a:rPr>
              <a:t>implies expected similarity</a:t>
            </a:r>
          </a:p>
        </p:txBody>
      </p:sp>
      <p:sp>
        <p:nvSpPr>
          <p:cNvPr id="13" name="Rettangolo 12">
            <a:extLst>
              <a:ext uri="{FF2B5EF4-FFF2-40B4-BE49-F238E27FC236}">
                <a16:creationId xmlns:a16="http://schemas.microsoft.com/office/drawing/2014/main" id="{8027B62F-89E7-4D50-B39E-7814660B5048}"/>
              </a:ext>
            </a:extLst>
          </p:cNvPr>
          <p:cNvSpPr>
            <a:spLocks noGrp="1"/>
          </p:cNvSpPr>
          <p:nvPr/>
        </p:nvSpPr>
        <p:spPr>
          <a:xfrm>
            <a:off x="7391400" y="3619500"/>
            <a:ext cx="3143250" cy="666750"/>
          </a:xfrm>
          <a:prstGeom prst="rect">
            <a:avLst/>
          </a:prstGeom>
          <a:noFill/>
          <a:ln w="0">
            <a:noFill/>
            <a:prstDash val="solid"/>
          </a:ln>
        </p:spPr>
        <p:txBody>
          <a:bodyPr anchor="t"/>
          <a:lstStyle/>
          <a:p>
            <a:pPr algn="ctr">
              <a:buNone/>
              <a:defRPr sz="3750" b="1" i="0">
                <a:solidFill>
                  <a:srgbClr val="167D73"/>
                </a:solidFill>
              </a:defRPr>
            </a:pPr>
            <a:r>
              <a:rPr sz="3750" b="1" i="0">
                <a:solidFill>
                  <a:srgbClr val="167D73"/>
                </a:solidFill>
              </a:rPr>
              <a:t>Y₁ ≈ Y₂</a:t>
            </a:r>
          </a:p>
        </p:txBody>
      </p:sp>
      <p:sp>
        <p:nvSpPr>
          <p:cNvPr id="14" name="Rettangolo 13">
            <a:extLst>
              <a:ext uri="{FF2B5EF4-FFF2-40B4-BE49-F238E27FC236}">
                <a16:creationId xmlns:a16="http://schemas.microsoft.com/office/drawing/2014/main" id="{37F56AFD-7ED5-46F6-B176-1F7B57BD59F6}"/>
              </a:ext>
            </a:extLst>
          </p:cNvPr>
          <p:cNvSpPr>
            <a:spLocks noGrp="1"/>
          </p:cNvSpPr>
          <p:nvPr/>
        </p:nvSpPr>
        <p:spPr>
          <a:xfrm>
            <a:off x="1123950" y="4476750"/>
            <a:ext cx="3143250" cy="285750"/>
          </a:xfrm>
          <a:prstGeom prst="rect">
            <a:avLst/>
          </a:prstGeom>
          <a:noFill/>
          <a:ln w="0">
            <a:noFill/>
            <a:prstDash val="solid"/>
          </a:ln>
        </p:spPr>
        <p:txBody>
          <a:bodyPr anchor="t"/>
          <a:lstStyle/>
          <a:p>
            <a:pPr algn="ctr">
              <a:buNone/>
              <a:defRPr sz="1350" b="0" i="0">
                <a:solidFill>
                  <a:srgbClr val="B5534A"/>
                </a:solidFill>
              </a:defRPr>
            </a:pPr>
            <a:r>
              <a:rPr sz="1350" b="0" i="0">
                <a:solidFill>
                  <a:srgbClr val="B5534A"/>
                </a:solidFill>
              </a:rPr>
              <a:t>exact constraints</a:t>
            </a:r>
          </a:p>
        </p:txBody>
      </p:sp>
      <p:sp>
        <p:nvSpPr>
          <p:cNvPr id="15" name="Rettangolo 14">
            <a:extLst>
              <a:ext uri="{FF2B5EF4-FFF2-40B4-BE49-F238E27FC236}">
                <a16:creationId xmlns:a16="http://schemas.microsoft.com/office/drawing/2014/main" id="{1EB10DAF-85E9-443A-A1E8-28584CE6C622}"/>
              </a:ext>
            </a:extLst>
          </p:cNvPr>
          <p:cNvSpPr>
            <a:spLocks noGrp="1"/>
          </p:cNvSpPr>
          <p:nvPr/>
        </p:nvSpPr>
        <p:spPr>
          <a:xfrm>
            <a:off x="7010400" y="4476750"/>
            <a:ext cx="3905250" cy="285750"/>
          </a:xfrm>
          <a:prstGeom prst="rect">
            <a:avLst/>
          </a:prstGeom>
          <a:noFill/>
          <a:ln w="0">
            <a:noFill/>
            <a:prstDash val="solid"/>
          </a:ln>
        </p:spPr>
        <p:txBody>
          <a:bodyPr anchor="t"/>
          <a:lstStyle/>
          <a:p>
            <a:pPr algn="ctr">
              <a:buNone/>
              <a:defRPr sz="1350" b="0" i="0">
                <a:solidFill>
                  <a:srgbClr val="2D6278"/>
                </a:solidFill>
              </a:defRPr>
            </a:pPr>
            <a:r>
              <a:rPr sz="1350" b="0" i="0">
                <a:solidFill>
                  <a:srgbClr val="2D6278"/>
                </a:solidFill>
              </a:rPr>
              <a:t>threshold-based regularities</a:t>
            </a:r>
          </a:p>
        </p:txBody>
      </p:sp>
      <p:sp>
        <p:nvSpPr>
          <p:cNvPr id="16" name="Rettangolo 15">
            <a:extLst>
              <a:ext uri="{FF2B5EF4-FFF2-40B4-BE49-F238E27FC236}">
                <a16:creationId xmlns:a16="http://schemas.microsoft.com/office/drawing/2014/main" id="{F1C427D4-8534-4A7E-9D2F-B2330CE0ED0D}"/>
              </a:ext>
            </a:extLst>
          </p:cNvPr>
          <p:cNvSpPr>
            <a:spLocks noGrp="1"/>
          </p:cNvSpPr>
          <p:nvPr/>
        </p:nvSpPr>
        <p:spPr>
          <a:xfrm>
            <a:off x="609600" y="5953125"/>
            <a:ext cx="57150" cy="400050"/>
          </a:xfrm>
          <a:prstGeom prst="rect">
            <a:avLst/>
          </a:prstGeom>
          <a:solidFill>
            <a:srgbClr val="167D73"/>
          </a:solidFill>
          <a:ln w="0">
            <a:solidFill>
              <a:srgbClr val="167D73"/>
            </a:solidFill>
            <a:prstDash val="solid"/>
          </a:ln>
        </p:spPr>
        <p:txBody>
          <a:bodyPr/>
          <a:lstStyle/>
          <a:p>
            <a:endParaRPr/>
          </a:p>
        </p:txBody>
      </p:sp>
      <p:sp>
        <p:nvSpPr>
          <p:cNvPr id="17" name="Rettangolo 16">
            <a:extLst>
              <a:ext uri="{FF2B5EF4-FFF2-40B4-BE49-F238E27FC236}">
                <a16:creationId xmlns:a16="http://schemas.microsoft.com/office/drawing/2014/main" id="{32ED6960-B3BF-4184-AB96-7F91682B3F27}"/>
              </a:ext>
            </a:extLst>
          </p:cNvPr>
          <p:cNvSpPr>
            <a:spLocks noGrp="1"/>
          </p:cNvSpPr>
          <p:nvPr/>
        </p:nvSpPr>
        <p:spPr>
          <a:xfrm>
            <a:off x="800100" y="5943600"/>
            <a:ext cx="10287000" cy="457200"/>
          </a:xfrm>
          <a:prstGeom prst="rect">
            <a:avLst/>
          </a:prstGeom>
          <a:noFill/>
          <a:ln w="0">
            <a:noFill/>
            <a:prstDash val="solid"/>
          </a:ln>
        </p:spPr>
        <p:txBody>
          <a:bodyPr anchor="t"/>
          <a:lstStyle/>
          <a:p>
            <a:pPr algn="l">
              <a:buNone/>
              <a:defRPr sz="1650" b="1" i="0">
                <a:solidFill>
                  <a:srgbClr val="13212A"/>
                </a:solidFill>
              </a:defRPr>
            </a:pPr>
            <a:r>
              <a:rPr sz="1650" b="1" i="0">
                <a:solidFill>
                  <a:srgbClr val="13212A"/>
                </a:solidFill>
              </a:rPr>
              <a:t>RFDs match noisy environmental observations better than deterministic functional dependencies.</a:t>
            </a:r>
          </a:p>
        </p:txBody>
      </p:sp>
    </p:spTree>
    <p:extLst>
      <p:ext uri="{BB962C8B-B14F-4D97-AF65-F5344CB8AC3E}">
        <p14:creationId xmlns:p14="http://schemas.microsoft.com/office/powerpoint/2010/main" val="199165574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0" name="Rettangolo 29">
            <a:extLst>
              <a:ext uri="{FF2B5EF4-FFF2-40B4-BE49-F238E27FC236}">
                <a16:creationId xmlns:a16="http://schemas.microsoft.com/office/drawing/2014/main" id="{A19AF853-028A-46B3-93CA-B16EDD82FCB9}"/>
              </a:ext>
            </a:extLst>
          </p:cNvPr>
          <p:cNvSpPr>
            <a:spLocks noGrp="1"/>
          </p:cNvSpPr>
          <p:nvPr/>
        </p:nvSpPr>
        <p:spPr>
          <a:xfrm>
            <a:off x="609600" y="323850"/>
            <a:ext cx="5905500" cy="228600"/>
          </a:xfrm>
          <a:prstGeom prst="rect">
            <a:avLst/>
          </a:prstGeom>
          <a:noFill/>
          <a:ln w="0">
            <a:noFill/>
            <a:prstDash val="solid"/>
          </a:ln>
        </p:spPr>
        <p:txBody>
          <a:bodyPr anchor="t"/>
          <a:lstStyle/>
          <a:p>
            <a:pPr algn="l">
              <a:buNone/>
              <a:defRPr sz="1125" b="1" i="0">
                <a:solidFill>
                  <a:srgbClr val="167D73"/>
                </a:solidFill>
              </a:defRPr>
            </a:pPr>
            <a:r>
              <a:rPr sz="1125" b="1" i="0">
                <a:solidFill>
                  <a:srgbClr val="167D73"/>
                </a:solidFill>
              </a:rPr>
              <a:t>KDIID · RFD CONSISTENCY PROFILING</a:t>
            </a:r>
          </a:p>
        </p:txBody>
      </p:sp>
      <p:sp>
        <p:nvSpPr>
          <p:cNvPr id="2" name="Rettangolo 1">
            <a:extLst>
              <a:ext uri="{FF2B5EF4-FFF2-40B4-BE49-F238E27FC236}">
                <a16:creationId xmlns:a16="http://schemas.microsoft.com/office/drawing/2014/main" id="{90DB087E-B655-4705-9147-F4B8AC818299}"/>
              </a:ext>
            </a:extLst>
          </p:cNvPr>
          <p:cNvSpPr>
            <a:spLocks noGrp="1"/>
          </p:cNvSpPr>
          <p:nvPr/>
        </p:nvSpPr>
        <p:spPr>
          <a:xfrm>
            <a:off x="609600" y="647700"/>
            <a:ext cx="10668000" cy="666750"/>
          </a:xfrm>
          <a:prstGeom prst="rect">
            <a:avLst/>
          </a:prstGeom>
          <a:noFill/>
          <a:ln w="0">
            <a:noFill/>
            <a:prstDash val="solid"/>
          </a:ln>
        </p:spPr>
        <p:txBody>
          <a:bodyPr anchor="t"/>
          <a:lstStyle/>
          <a:p>
            <a:pPr algn="l">
              <a:buNone/>
              <a:defRPr sz="3600" b="1" i="0">
                <a:solidFill>
                  <a:srgbClr val="13212A"/>
                </a:solidFill>
              </a:defRPr>
            </a:pPr>
            <a:r>
              <a:rPr sz="3600" b="1" i="0">
                <a:solidFill>
                  <a:srgbClr val="13212A"/>
                </a:solidFill>
              </a:rPr>
              <a:t>How similarity is defined</a:t>
            </a:r>
          </a:p>
        </p:txBody>
      </p:sp>
      <p:sp>
        <p:nvSpPr>
          <p:cNvPr id="3" name="Connettore dritto 2">
            <a:extLst>
              <a:ext uri="{FF2B5EF4-FFF2-40B4-BE49-F238E27FC236}">
                <a16:creationId xmlns:a16="http://schemas.microsoft.com/office/drawing/2014/main" id="{B04AEE10-FA80-4DBB-A7CC-E5CC388B84D1}"/>
              </a:ext>
            </a:extLst>
          </p:cNvPr>
          <p:cNvSpPr>
            <a:spLocks noGrp="1"/>
          </p:cNvSpPr>
          <p:nvPr/>
        </p:nvSpPr>
        <p:spPr>
          <a:xfrm>
            <a:off x="609600" y="1381125"/>
            <a:ext cx="10972800" cy="0"/>
          </a:xfrm>
          <a:prstGeom prst="line">
            <a:avLst/>
          </a:prstGeom>
          <a:noFill/>
          <a:ln w="9525">
            <a:solidFill>
              <a:srgbClr val="CBD7D6"/>
            </a:solidFill>
            <a:prstDash val="solid"/>
          </a:ln>
        </p:spPr>
        <p:txBody>
          <a:bodyPr/>
          <a:lstStyle/>
          <a:p>
            <a:endParaRPr/>
          </a:p>
        </p:txBody>
      </p:sp>
      <p:sp>
        <p:nvSpPr>
          <p:cNvPr id="4" name="Rettangolo 3">
            <a:extLst>
              <a:ext uri="{FF2B5EF4-FFF2-40B4-BE49-F238E27FC236}">
                <a16:creationId xmlns:a16="http://schemas.microsoft.com/office/drawing/2014/main" id="{DF3DB3C0-4A10-45DF-A55E-B1B769E90D5C}"/>
              </a:ext>
            </a:extLst>
          </p:cNvPr>
          <p:cNvSpPr>
            <a:spLocks noGrp="1"/>
          </p:cNvSpPr>
          <p:nvPr/>
        </p:nvSpPr>
        <p:spPr>
          <a:xfrm>
            <a:off x="11144250" y="6419850"/>
            <a:ext cx="438150" cy="209550"/>
          </a:xfrm>
          <a:prstGeom prst="rect">
            <a:avLst/>
          </a:prstGeom>
          <a:noFill/>
          <a:ln w="0">
            <a:noFill/>
            <a:prstDash val="solid"/>
          </a:ln>
        </p:spPr>
        <p:txBody>
          <a:bodyPr anchor="t"/>
          <a:lstStyle/>
          <a:p>
            <a:pPr algn="r">
              <a:buNone/>
              <a:defRPr sz="1125" b="1" i="0">
                <a:solidFill>
                  <a:srgbClr val="52636D"/>
                </a:solidFill>
              </a:defRPr>
            </a:pPr>
            <a:r>
              <a:rPr sz="1125" b="1" i="0">
                <a:solidFill>
                  <a:srgbClr val="52636D"/>
                </a:solidFill>
              </a:rPr>
              <a:t>06</a:t>
            </a:r>
          </a:p>
        </p:txBody>
      </p:sp>
      <p:sp>
        <p:nvSpPr>
          <p:cNvPr id="5" name="Rettangolo 4">
            <a:extLst>
              <a:ext uri="{FF2B5EF4-FFF2-40B4-BE49-F238E27FC236}">
                <a16:creationId xmlns:a16="http://schemas.microsoft.com/office/drawing/2014/main" id="{182A8A5E-799D-4D43-960E-B0BBC1C89F79}"/>
              </a:ext>
            </a:extLst>
          </p:cNvPr>
          <p:cNvSpPr>
            <a:spLocks noGrp="1"/>
          </p:cNvSpPr>
          <p:nvPr/>
        </p:nvSpPr>
        <p:spPr>
          <a:xfrm>
            <a:off x="723900" y="1762125"/>
            <a:ext cx="3429000" cy="285750"/>
          </a:xfrm>
          <a:prstGeom prst="rect">
            <a:avLst/>
          </a:prstGeom>
          <a:noFill/>
          <a:ln w="0">
            <a:noFill/>
            <a:prstDash val="solid"/>
          </a:ln>
        </p:spPr>
        <p:txBody>
          <a:bodyPr anchor="t"/>
          <a:lstStyle/>
          <a:p>
            <a:pPr algn="l">
              <a:buNone/>
              <a:defRPr sz="1500" b="1" i="0">
                <a:solidFill>
                  <a:srgbClr val="167D73"/>
                </a:solidFill>
              </a:defRPr>
            </a:pPr>
            <a:r>
              <a:rPr sz="1500" b="1" i="0">
                <a:solidFill>
                  <a:srgbClr val="167D73"/>
                </a:solidFill>
              </a:rPr>
              <a:t>CATEGORICAL ATTRIBUTES</a:t>
            </a:r>
          </a:p>
        </p:txBody>
      </p:sp>
      <p:sp>
        <p:nvSpPr>
          <p:cNvPr id="6" name="Rettangolo 5">
            <a:extLst>
              <a:ext uri="{FF2B5EF4-FFF2-40B4-BE49-F238E27FC236}">
                <a16:creationId xmlns:a16="http://schemas.microsoft.com/office/drawing/2014/main" id="{14AE746E-187B-4CF0-8486-F6873212594C}"/>
              </a:ext>
            </a:extLst>
          </p:cNvPr>
          <p:cNvSpPr>
            <a:spLocks noGrp="1"/>
          </p:cNvSpPr>
          <p:nvPr/>
        </p:nvSpPr>
        <p:spPr>
          <a:xfrm>
            <a:off x="723900" y="2209800"/>
            <a:ext cx="3905250" cy="361950"/>
          </a:xfrm>
          <a:prstGeom prst="rect">
            <a:avLst/>
          </a:prstGeom>
          <a:noFill/>
          <a:ln w="0">
            <a:noFill/>
            <a:prstDash val="solid"/>
          </a:ln>
        </p:spPr>
        <p:txBody>
          <a:bodyPr anchor="t"/>
          <a:lstStyle/>
          <a:p>
            <a:pPr algn="l">
              <a:buNone/>
              <a:defRPr sz="1725" b="1" i="0">
                <a:solidFill>
                  <a:srgbClr val="13212A"/>
                </a:solidFill>
              </a:defRPr>
            </a:pPr>
            <a:r>
              <a:rPr sz="1725" b="1" i="0">
                <a:solidFill>
                  <a:srgbClr val="13212A"/>
                </a:solidFill>
              </a:rPr>
              <a:t>station, time_slot  →  exact match</a:t>
            </a:r>
          </a:p>
        </p:txBody>
      </p:sp>
      <p:sp>
        <p:nvSpPr>
          <p:cNvPr id="7" name="Rettangolo 6">
            <a:extLst>
              <a:ext uri="{FF2B5EF4-FFF2-40B4-BE49-F238E27FC236}">
                <a16:creationId xmlns:a16="http://schemas.microsoft.com/office/drawing/2014/main" id="{8D440A23-2569-4EC8-BE87-4924CFF7B05A}"/>
              </a:ext>
            </a:extLst>
          </p:cNvPr>
          <p:cNvSpPr>
            <a:spLocks noGrp="1"/>
          </p:cNvSpPr>
          <p:nvPr/>
        </p:nvSpPr>
        <p:spPr>
          <a:xfrm>
            <a:off x="723900" y="2962275"/>
            <a:ext cx="3429000" cy="285750"/>
          </a:xfrm>
          <a:prstGeom prst="rect">
            <a:avLst/>
          </a:prstGeom>
          <a:noFill/>
          <a:ln w="0">
            <a:noFill/>
            <a:prstDash val="solid"/>
          </a:ln>
        </p:spPr>
        <p:txBody>
          <a:bodyPr anchor="t"/>
          <a:lstStyle/>
          <a:p>
            <a:pPr algn="l">
              <a:buNone/>
              <a:defRPr sz="1500" b="1" i="0">
                <a:solidFill>
                  <a:srgbClr val="167D73"/>
                </a:solidFill>
              </a:defRPr>
            </a:pPr>
            <a:r>
              <a:rPr sz="1500" b="1" i="0">
                <a:solidFill>
                  <a:srgbClr val="167D73"/>
                </a:solidFill>
              </a:rPr>
              <a:t>EXTENT</a:t>
            </a:r>
          </a:p>
        </p:txBody>
      </p:sp>
      <p:sp>
        <p:nvSpPr>
          <p:cNvPr id="8" name="Rettangolo 7">
            <a:extLst>
              <a:ext uri="{FF2B5EF4-FFF2-40B4-BE49-F238E27FC236}">
                <a16:creationId xmlns:a16="http://schemas.microsoft.com/office/drawing/2014/main" id="{A943B19E-A0D8-4175-B96B-8D0BFAE78F6C}"/>
              </a:ext>
            </a:extLst>
          </p:cNvPr>
          <p:cNvSpPr>
            <a:spLocks noGrp="1"/>
          </p:cNvSpPr>
          <p:nvPr/>
        </p:nvSpPr>
        <p:spPr>
          <a:xfrm>
            <a:off x="723900" y="3409950"/>
            <a:ext cx="4000500" cy="590550"/>
          </a:xfrm>
          <a:prstGeom prst="rect">
            <a:avLst/>
          </a:prstGeom>
          <a:noFill/>
          <a:ln w="0">
            <a:noFill/>
            <a:prstDash val="solid"/>
          </a:ln>
        </p:spPr>
        <p:txBody>
          <a:bodyPr anchor="t"/>
          <a:lstStyle/>
          <a:p>
            <a:pPr algn="l">
              <a:buNone/>
              <a:defRPr sz="1725" b="1" i="0">
                <a:solidFill>
                  <a:srgbClr val="13212A"/>
                </a:solidFill>
              </a:defRPr>
            </a:pPr>
            <a:r>
              <a:rPr sz="1725" b="1" i="0">
                <a:solidFill>
                  <a:srgbClr val="13212A"/>
                </a:solidFill>
              </a:rPr>
              <a:t>g3  ≤  0.10 · greedy mode</a:t>
            </a:r>
          </a:p>
        </p:txBody>
      </p:sp>
      <p:sp>
        <p:nvSpPr>
          <p:cNvPr id="9" name="Rettangolo 8">
            <a:extLst>
              <a:ext uri="{FF2B5EF4-FFF2-40B4-BE49-F238E27FC236}">
                <a16:creationId xmlns:a16="http://schemas.microsoft.com/office/drawing/2014/main" id="{3923CF3C-3359-4855-8F2F-1970E10A6A6F}"/>
              </a:ext>
            </a:extLst>
          </p:cNvPr>
          <p:cNvSpPr>
            <a:spLocks noGrp="1"/>
          </p:cNvSpPr>
          <p:nvPr/>
        </p:nvSpPr>
        <p:spPr>
          <a:xfrm>
            <a:off x="723900" y="4410075"/>
            <a:ext cx="3429000" cy="285750"/>
          </a:xfrm>
          <a:prstGeom prst="rect">
            <a:avLst/>
          </a:prstGeom>
          <a:noFill/>
          <a:ln w="0">
            <a:noFill/>
            <a:prstDash val="solid"/>
          </a:ln>
        </p:spPr>
        <p:txBody>
          <a:bodyPr anchor="t"/>
          <a:lstStyle/>
          <a:p>
            <a:pPr algn="l">
              <a:buNone/>
              <a:defRPr sz="1500" b="1" i="0">
                <a:solidFill>
                  <a:srgbClr val="167D73"/>
                </a:solidFill>
              </a:defRPr>
            </a:pPr>
            <a:r>
              <a:rPr sz="1500" b="1" i="0">
                <a:solidFill>
                  <a:srgbClr val="167D73"/>
                </a:solidFill>
              </a:rPr>
              <a:t>NUMERICAL ATTRIBUTES</a:t>
            </a:r>
          </a:p>
        </p:txBody>
      </p:sp>
      <p:sp>
        <p:nvSpPr>
          <p:cNvPr id="10" name="Rettangolo 9">
            <a:extLst>
              <a:ext uri="{FF2B5EF4-FFF2-40B4-BE49-F238E27FC236}">
                <a16:creationId xmlns:a16="http://schemas.microsoft.com/office/drawing/2014/main" id="{3791748F-B620-4EC5-AA8A-E8EF9FE719DF}"/>
              </a:ext>
            </a:extLst>
          </p:cNvPr>
          <p:cNvSpPr>
            <a:spLocks noGrp="1"/>
          </p:cNvSpPr>
          <p:nvPr/>
        </p:nvSpPr>
        <p:spPr>
          <a:xfrm>
            <a:off x="723900" y="4857750"/>
            <a:ext cx="3810000" cy="361950"/>
          </a:xfrm>
          <a:prstGeom prst="rect">
            <a:avLst/>
          </a:prstGeom>
          <a:noFill/>
          <a:ln w="0">
            <a:noFill/>
            <a:prstDash val="solid"/>
          </a:ln>
        </p:spPr>
        <p:txBody>
          <a:bodyPr anchor="t"/>
          <a:lstStyle/>
          <a:p>
            <a:pPr algn="l">
              <a:buNone/>
              <a:defRPr sz="1725" b="1" i="0">
                <a:solidFill>
                  <a:srgbClr val="13212A"/>
                </a:solidFill>
              </a:defRPr>
            </a:pPr>
            <a:r>
              <a:rPr sz="1725" b="1" i="0">
                <a:solidFill>
                  <a:srgbClr val="13212A"/>
                </a:solidFill>
              </a:rPr>
              <a:t>absolute distance thresholds</a:t>
            </a:r>
          </a:p>
        </p:txBody>
      </p:sp>
      <p:sp>
        <p:nvSpPr>
          <p:cNvPr id="11" name="Rettangolo con angoli arrotondati 10">
            <a:extLst>
              <a:ext uri="{FF2B5EF4-FFF2-40B4-BE49-F238E27FC236}">
                <a16:creationId xmlns:a16="http://schemas.microsoft.com/office/drawing/2014/main" id="{A94332E7-3CF4-4DE6-802C-431452EE36B4}"/>
              </a:ext>
            </a:extLst>
          </p:cNvPr>
          <p:cNvSpPr>
            <a:spLocks noGrp="1"/>
          </p:cNvSpPr>
          <p:nvPr/>
        </p:nvSpPr>
        <p:spPr>
          <a:xfrm>
            <a:off x="5095875" y="1714500"/>
            <a:ext cx="6191250" cy="3467100"/>
          </a:xfrm>
          <a:prstGeom prst="roundRect">
            <a:avLst>
              <a:gd name="adj" fmla="val 3297"/>
            </a:avLst>
          </a:prstGeom>
          <a:solidFill>
            <a:srgbClr val="EEF4F3"/>
          </a:solidFill>
          <a:ln w="9525">
            <a:solidFill>
              <a:srgbClr val="CBD7D6"/>
            </a:solidFill>
            <a:prstDash val="solid"/>
          </a:ln>
        </p:spPr>
        <p:txBody>
          <a:bodyPr/>
          <a:lstStyle/>
          <a:p>
            <a:endParaRPr/>
          </a:p>
        </p:txBody>
      </p:sp>
      <p:sp>
        <p:nvSpPr>
          <p:cNvPr id="12" name="Rettangolo 11">
            <a:extLst>
              <a:ext uri="{FF2B5EF4-FFF2-40B4-BE49-F238E27FC236}">
                <a16:creationId xmlns:a16="http://schemas.microsoft.com/office/drawing/2014/main" id="{2E4C7EF6-7450-4019-A302-791CE2A49769}"/>
              </a:ext>
            </a:extLst>
          </p:cNvPr>
          <p:cNvSpPr>
            <a:spLocks noGrp="1"/>
          </p:cNvSpPr>
          <p:nvPr/>
        </p:nvSpPr>
        <p:spPr>
          <a:xfrm>
            <a:off x="5429250" y="1962150"/>
            <a:ext cx="5524500" cy="285750"/>
          </a:xfrm>
          <a:prstGeom prst="rect">
            <a:avLst/>
          </a:prstGeom>
          <a:noFill/>
          <a:ln w="0">
            <a:noFill/>
            <a:prstDash val="solid"/>
          </a:ln>
        </p:spPr>
        <p:txBody>
          <a:bodyPr anchor="t"/>
          <a:lstStyle/>
          <a:p>
            <a:pPr algn="ctr">
              <a:buNone/>
              <a:defRPr sz="1500" b="1" i="0">
                <a:solidFill>
                  <a:srgbClr val="167D73"/>
                </a:solidFill>
              </a:defRPr>
            </a:pPr>
            <a:r>
              <a:rPr sz="1500" b="1" i="0">
                <a:solidFill>
                  <a:srgbClr val="167D73"/>
                </a:solidFill>
              </a:rPr>
              <a:t>MEDIUM SETUP · MAIN CONFIGURATION</a:t>
            </a:r>
          </a:p>
        </p:txBody>
      </p:sp>
      <p:sp>
        <p:nvSpPr>
          <p:cNvPr id="13" name="Rettangolo 12">
            <a:extLst>
              <a:ext uri="{FF2B5EF4-FFF2-40B4-BE49-F238E27FC236}">
                <a16:creationId xmlns:a16="http://schemas.microsoft.com/office/drawing/2014/main" id="{600D2971-C461-42D4-8B90-80C8E14FA17C}"/>
              </a:ext>
            </a:extLst>
          </p:cNvPr>
          <p:cNvSpPr>
            <a:spLocks noGrp="1"/>
          </p:cNvSpPr>
          <p:nvPr/>
        </p:nvSpPr>
        <p:spPr>
          <a:xfrm>
            <a:off x="5572125" y="2533650"/>
            <a:ext cx="1143000" cy="285750"/>
          </a:xfrm>
          <a:prstGeom prst="rect">
            <a:avLst/>
          </a:prstGeom>
          <a:noFill/>
          <a:ln w="0">
            <a:noFill/>
            <a:prstDash val="solid"/>
          </a:ln>
        </p:spPr>
        <p:txBody>
          <a:bodyPr anchor="t"/>
          <a:lstStyle/>
          <a:p>
            <a:pPr algn="l">
              <a:buNone/>
              <a:defRPr sz="1650" b="1" i="0">
                <a:solidFill>
                  <a:srgbClr val="13212A"/>
                </a:solidFill>
              </a:defRPr>
            </a:pPr>
            <a:r>
              <a:rPr sz="1650" b="1" i="0">
                <a:solidFill>
                  <a:srgbClr val="13212A"/>
                </a:solidFill>
              </a:rPr>
              <a:t>TEMP</a:t>
            </a:r>
          </a:p>
        </p:txBody>
      </p:sp>
      <p:sp>
        <p:nvSpPr>
          <p:cNvPr id="14" name="Rettangolo 13">
            <a:extLst>
              <a:ext uri="{FF2B5EF4-FFF2-40B4-BE49-F238E27FC236}">
                <a16:creationId xmlns:a16="http://schemas.microsoft.com/office/drawing/2014/main" id="{72BEAE45-34AD-4A50-A46F-C3C3B5EC1A0D}"/>
              </a:ext>
            </a:extLst>
          </p:cNvPr>
          <p:cNvSpPr>
            <a:spLocks noGrp="1"/>
          </p:cNvSpPr>
          <p:nvPr/>
        </p:nvSpPr>
        <p:spPr>
          <a:xfrm>
            <a:off x="6829425" y="2533650"/>
            <a:ext cx="1095375" cy="285750"/>
          </a:xfrm>
          <a:prstGeom prst="rect">
            <a:avLst/>
          </a:prstGeom>
          <a:noFill/>
          <a:ln w="0">
            <a:noFill/>
            <a:prstDash val="solid"/>
          </a:ln>
        </p:spPr>
        <p:txBody>
          <a:bodyPr anchor="t"/>
          <a:lstStyle/>
          <a:p>
            <a:pPr algn="r">
              <a:buNone/>
              <a:defRPr sz="1650" b="0" i="0">
                <a:solidFill>
                  <a:srgbClr val="2D6278"/>
                </a:solidFill>
              </a:defRPr>
            </a:pPr>
            <a:r>
              <a:rPr sz="1650" b="0" i="0">
                <a:solidFill>
                  <a:srgbClr val="2D6278"/>
                </a:solidFill>
              </a:rPr>
              <a:t>≤ 2.0</a:t>
            </a:r>
          </a:p>
        </p:txBody>
      </p:sp>
      <p:sp>
        <p:nvSpPr>
          <p:cNvPr id="15" name="Rettangolo 14">
            <a:extLst>
              <a:ext uri="{FF2B5EF4-FFF2-40B4-BE49-F238E27FC236}">
                <a16:creationId xmlns:a16="http://schemas.microsoft.com/office/drawing/2014/main" id="{DF18EB2F-387C-45A6-92FE-654EA78F794C}"/>
              </a:ext>
            </a:extLst>
          </p:cNvPr>
          <p:cNvSpPr>
            <a:spLocks noGrp="1"/>
          </p:cNvSpPr>
          <p:nvPr/>
        </p:nvSpPr>
        <p:spPr>
          <a:xfrm>
            <a:off x="5572125" y="3114675"/>
            <a:ext cx="1143000" cy="285750"/>
          </a:xfrm>
          <a:prstGeom prst="rect">
            <a:avLst/>
          </a:prstGeom>
          <a:noFill/>
          <a:ln w="0">
            <a:noFill/>
            <a:prstDash val="solid"/>
          </a:ln>
        </p:spPr>
        <p:txBody>
          <a:bodyPr anchor="t"/>
          <a:lstStyle/>
          <a:p>
            <a:pPr algn="l">
              <a:buNone/>
              <a:defRPr sz="1650" b="1" i="0">
                <a:solidFill>
                  <a:srgbClr val="13212A"/>
                </a:solidFill>
              </a:defRPr>
            </a:pPr>
            <a:r>
              <a:rPr sz="1650" b="1" i="0">
                <a:solidFill>
                  <a:srgbClr val="13212A"/>
                </a:solidFill>
              </a:rPr>
              <a:t>WSPM</a:t>
            </a:r>
          </a:p>
        </p:txBody>
      </p:sp>
      <p:sp>
        <p:nvSpPr>
          <p:cNvPr id="16" name="Rettangolo 15">
            <a:extLst>
              <a:ext uri="{FF2B5EF4-FFF2-40B4-BE49-F238E27FC236}">
                <a16:creationId xmlns:a16="http://schemas.microsoft.com/office/drawing/2014/main" id="{DBA83EE3-4F82-4D17-9147-E6E912A09D90}"/>
              </a:ext>
            </a:extLst>
          </p:cNvPr>
          <p:cNvSpPr>
            <a:spLocks noGrp="1"/>
          </p:cNvSpPr>
          <p:nvPr/>
        </p:nvSpPr>
        <p:spPr>
          <a:xfrm>
            <a:off x="6829425" y="3114675"/>
            <a:ext cx="1095375" cy="285750"/>
          </a:xfrm>
          <a:prstGeom prst="rect">
            <a:avLst/>
          </a:prstGeom>
          <a:noFill/>
          <a:ln w="0">
            <a:noFill/>
            <a:prstDash val="solid"/>
          </a:ln>
        </p:spPr>
        <p:txBody>
          <a:bodyPr anchor="t"/>
          <a:lstStyle/>
          <a:p>
            <a:pPr algn="r">
              <a:buNone/>
              <a:defRPr sz="1650" b="0" i="0">
                <a:solidFill>
                  <a:srgbClr val="2D6278"/>
                </a:solidFill>
              </a:defRPr>
            </a:pPr>
            <a:r>
              <a:rPr sz="1650" b="0" i="0">
                <a:solidFill>
                  <a:srgbClr val="2D6278"/>
                </a:solidFill>
              </a:rPr>
              <a:t>≤ 1.0</a:t>
            </a:r>
          </a:p>
        </p:txBody>
      </p:sp>
      <p:sp>
        <p:nvSpPr>
          <p:cNvPr id="17" name="Rettangolo 16">
            <a:extLst>
              <a:ext uri="{FF2B5EF4-FFF2-40B4-BE49-F238E27FC236}">
                <a16:creationId xmlns:a16="http://schemas.microsoft.com/office/drawing/2014/main" id="{7D386EAB-35F6-433F-AA31-9BDC59F3E2B0}"/>
              </a:ext>
            </a:extLst>
          </p:cNvPr>
          <p:cNvSpPr>
            <a:spLocks noGrp="1"/>
          </p:cNvSpPr>
          <p:nvPr/>
        </p:nvSpPr>
        <p:spPr>
          <a:xfrm>
            <a:off x="5572125" y="3695700"/>
            <a:ext cx="1143000" cy="285750"/>
          </a:xfrm>
          <a:prstGeom prst="rect">
            <a:avLst/>
          </a:prstGeom>
          <a:noFill/>
          <a:ln w="0">
            <a:noFill/>
            <a:prstDash val="solid"/>
          </a:ln>
        </p:spPr>
        <p:txBody>
          <a:bodyPr anchor="t"/>
          <a:lstStyle/>
          <a:p>
            <a:pPr algn="l">
              <a:buNone/>
              <a:defRPr sz="1650" b="1" i="0">
                <a:solidFill>
                  <a:srgbClr val="13212A"/>
                </a:solidFill>
              </a:defRPr>
            </a:pPr>
            <a:r>
              <a:rPr sz="1650" b="1" i="0">
                <a:solidFill>
                  <a:srgbClr val="13212A"/>
                </a:solidFill>
              </a:rPr>
              <a:t>PM2.5</a:t>
            </a:r>
          </a:p>
        </p:txBody>
      </p:sp>
      <p:sp>
        <p:nvSpPr>
          <p:cNvPr id="18" name="Rettangolo 17">
            <a:extLst>
              <a:ext uri="{FF2B5EF4-FFF2-40B4-BE49-F238E27FC236}">
                <a16:creationId xmlns:a16="http://schemas.microsoft.com/office/drawing/2014/main" id="{A98EB0B8-B850-4BA8-9088-B217634815FB}"/>
              </a:ext>
            </a:extLst>
          </p:cNvPr>
          <p:cNvSpPr>
            <a:spLocks noGrp="1"/>
          </p:cNvSpPr>
          <p:nvPr/>
        </p:nvSpPr>
        <p:spPr>
          <a:xfrm>
            <a:off x="6829425" y="3695700"/>
            <a:ext cx="1095375" cy="285750"/>
          </a:xfrm>
          <a:prstGeom prst="rect">
            <a:avLst/>
          </a:prstGeom>
          <a:noFill/>
          <a:ln w="0">
            <a:noFill/>
            <a:prstDash val="solid"/>
          </a:ln>
        </p:spPr>
        <p:txBody>
          <a:bodyPr anchor="t"/>
          <a:lstStyle/>
          <a:p>
            <a:pPr algn="r">
              <a:buNone/>
              <a:defRPr sz="1650" b="0" i="0">
                <a:solidFill>
                  <a:srgbClr val="2D6278"/>
                </a:solidFill>
              </a:defRPr>
            </a:pPr>
            <a:r>
              <a:rPr sz="1650" b="0" i="0">
                <a:solidFill>
                  <a:srgbClr val="2D6278"/>
                </a:solidFill>
              </a:rPr>
              <a:t>≤ 10.0</a:t>
            </a:r>
          </a:p>
        </p:txBody>
      </p:sp>
      <p:sp>
        <p:nvSpPr>
          <p:cNvPr id="19" name="Rettangolo 18">
            <a:extLst>
              <a:ext uri="{FF2B5EF4-FFF2-40B4-BE49-F238E27FC236}">
                <a16:creationId xmlns:a16="http://schemas.microsoft.com/office/drawing/2014/main" id="{3DCACA94-C9D4-4880-93C6-682F9870B954}"/>
              </a:ext>
            </a:extLst>
          </p:cNvPr>
          <p:cNvSpPr>
            <a:spLocks noGrp="1"/>
          </p:cNvSpPr>
          <p:nvPr/>
        </p:nvSpPr>
        <p:spPr>
          <a:xfrm>
            <a:off x="5572125" y="4276725"/>
            <a:ext cx="1143000" cy="285750"/>
          </a:xfrm>
          <a:prstGeom prst="rect">
            <a:avLst/>
          </a:prstGeom>
          <a:noFill/>
          <a:ln w="0">
            <a:noFill/>
            <a:prstDash val="solid"/>
          </a:ln>
        </p:spPr>
        <p:txBody>
          <a:bodyPr anchor="t"/>
          <a:lstStyle/>
          <a:p>
            <a:pPr algn="l">
              <a:buNone/>
              <a:defRPr sz="1650" b="1" i="0">
                <a:solidFill>
                  <a:srgbClr val="13212A"/>
                </a:solidFill>
              </a:defRPr>
            </a:pPr>
            <a:r>
              <a:rPr sz="1650" b="1" i="0">
                <a:solidFill>
                  <a:srgbClr val="13212A"/>
                </a:solidFill>
              </a:rPr>
              <a:t>PM10</a:t>
            </a:r>
          </a:p>
        </p:txBody>
      </p:sp>
      <p:sp>
        <p:nvSpPr>
          <p:cNvPr id="20" name="Rettangolo 19">
            <a:extLst>
              <a:ext uri="{FF2B5EF4-FFF2-40B4-BE49-F238E27FC236}">
                <a16:creationId xmlns:a16="http://schemas.microsoft.com/office/drawing/2014/main" id="{7FF953A6-96F2-4F5F-8B34-E535B69041DA}"/>
              </a:ext>
            </a:extLst>
          </p:cNvPr>
          <p:cNvSpPr>
            <a:spLocks noGrp="1"/>
          </p:cNvSpPr>
          <p:nvPr/>
        </p:nvSpPr>
        <p:spPr>
          <a:xfrm>
            <a:off x="6829425" y="4276725"/>
            <a:ext cx="1095375" cy="285750"/>
          </a:xfrm>
          <a:prstGeom prst="rect">
            <a:avLst/>
          </a:prstGeom>
          <a:noFill/>
          <a:ln w="0">
            <a:noFill/>
            <a:prstDash val="solid"/>
          </a:ln>
        </p:spPr>
        <p:txBody>
          <a:bodyPr anchor="t"/>
          <a:lstStyle/>
          <a:p>
            <a:pPr algn="r">
              <a:buNone/>
              <a:defRPr sz="1650" b="0" i="0">
                <a:solidFill>
                  <a:srgbClr val="2D6278"/>
                </a:solidFill>
              </a:defRPr>
            </a:pPr>
            <a:r>
              <a:rPr sz="1650" b="0" i="0">
                <a:solidFill>
                  <a:srgbClr val="2D6278"/>
                </a:solidFill>
              </a:rPr>
              <a:t>≤ 15.0</a:t>
            </a:r>
          </a:p>
        </p:txBody>
      </p:sp>
      <p:sp>
        <p:nvSpPr>
          <p:cNvPr id="21" name="Rettangolo 20">
            <a:extLst>
              <a:ext uri="{FF2B5EF4-FFF2-40B4-BE49-F238E27FC236}">
                <a16:creationId xmlns:a16="http://schemas.microsoft.com/office/drawing/2014/main" id="{3DB21A6D-4D3C-4BE1-8C2C-6DDC9C91D827}"/>
              </a:ext>
            </a:extLst>
          </p:cNvPr>
          <p:cNvSpPr>
            <a:spLocks noGrp="1"/>
          </p:cNvSpPr>
          <p:nvPr/>
        </p:nvSpPr>
        <p:spPr>
          <a:xfrm>
            <a:off x="8524875" y="2533650"/>
            <a:ext cx="1143000" cy="285750"/>
          </a:xfrm>
          <a:prstGeom prst="rect">
            <a:avLst/>
          </a:prstGeom>
          <a:noFill/>
          <a:ln w="0">
            <a:noFill/>
            <a:prstDash val="solid"/>
          </a:ln>
        </p:spPr>
        <p:txBody>
          <a:bodyPr anchor="t"/>
          <a:lstStyle/>
          <a:p>
            <a:pPr algn="l">
              <a:buNone/>
              <a:defRPr sz="1650" b="1" i="0">
                <a:solidFill>
                  <a:srgbClr val="13212A"/>
                </a:solidFill>
              </a:defRPr>
            </a:pPr>
            <a:r>
              <a:rPr sz="1650" b="1" i="0">
                <a:solidFill>
                  <a:srgbClr val="13212A"/>
                </a:solidFill>
              </a:rPr>
              <a:t>NO2</a:t>
            </a:r>
          </a:p>
        </p:txBody>
      </p:sp>
      <p:sp>
        <p:nvSpPr>
          <p:cNvPr id="22" name="Rettangolo 21">
            <a:extLst>
              <a:ext uri="{FF2B5EF4-FFF2-40B4-BE49-F238E27FC236}">
                <a16:creationId xmlns:a16="http://schemas.microsoft.com/office/drawing/2014/main" id="{30E6F1A5-02D2-4B67-A0A7-72569142836F}"/>
              </a:ext>
            </a:extLst>
          </p:cNvPr>
          <p:cNvSpPr>
            <a:spLocks noGrp="1"/>
          </p:cNvSpPr>
          <p:nvPr/>
        </p:nvSpPr>
        <p:spPr>
          <a:xfrm>
            <a:off x="9782175" y="2533650"/>
            <a:ext cx="1095375" cy="285750"/>
          </a:xfrm>
          <a:prstGeom prst="rect">
            <a:avLst/>
          </a:prstGeom>
          <a:noFill/>
          <a:ln w="0">
            <a:noFill/>
            <a:prstDash val="solid"/>
          </a:ln>
        </p:spPr>
        <p:txBody>
          <a:bodyPr anchor="t"/>
          <a:lstStyle/>
          <a:p>
            <a:pPr algn="r">
              <a:buNone/>
              <a:defRPr sz="1650" b="0" i="0">
                <a:solidFill>
                  <a:srgbClr val="2D6278"/>
                </a:solidFill>
              </a:defRPr>
            </a:pPr>
            <a:r>
              <a:rPr sz="1650" b="0" i="0">
                <a:solidFill>
                  <a:srgbClr val="2D6278"/>
                </a:solidFill>
              </a:rPr>
              <a:t>≤ 10.0</a:t>
            </a:r>
          </a:p>
        </p:txBody>
      </p:sp>
      <p:sp>
        <p:nvSpPr>
          <p:cNvPr id="23" name="Rettangolo 22">
            <a:extLst>
              <a:ext uri="{FF2B5EF4-FFF2-40B4-BE49-F238E27FC236}">
                <a16:creationId xmlns:a16="http://schemas.microsoft.com/office/drawing/2014/main" id="{4B69A4E3-680D-4167-A433-6DA5A228B233}"/>
              </a:ext>
            </a:extLst>
          </p:cNvPr>
          <p:cNvSpPr>
            <a:spLocks noGrp="1"/>
          </p:cNvSpPr>
          <p:nvPr/>
        </p:nvSpPr>
        <p:spPr>
          <a:xfrm>
            <a:off x="8524875" y="3114675"/>
            <a:ext cx="1143000" cy="285750"/>
          </a:xfrm>
          <a:prstGeom prst="rect">
            <a:avLst/>
          </a:prstGeom>
          <a:noFill/>
          <a:ln w="0">
            <a:noFill/>
            <a:prstDash val="solid"/>
          </a:ln>
        </p:spPr>
        <p:txBody>
          <a:bodyPr anchor="t"/>
          <a:lstStyle/>
          <a:p>
            <a:pPr algn="l">
              <a:buNone/>
              <a:defRPr sz="1650" b="1" i="0">
                <a:solidFill>
                  <a:srgbClr val="13212A"/>
                </a:solidFill>
              </a:defRPr>
            </a:pPr>
            <a:r>
              <a:rPr sz="1650" b="1" i="0">
                <a:solidFill>
                  <a:srgbClr val="13212A"/>
                </a:solidFill>
              </a:rPr>
              <a:t>O3</a:t>
            </a:r>
          </a:p>
        </p:txBody>
      </p:sp>
      <p:sp>
        <p:nvSpPr>
          <p:cNvPr id="24" name="Rettangolo 23">
            <a:extLst>
              <a:ext uri="{FF2B5EF4-FFF2-40B4-BE49-F238E27FC236}">
                <a16:creationId xmlns:a16="http://schemas.microsoft.com/office/drawing/2014/main" id="{73DFA1CD-7A73-4C19-97F1-E2CD856234DA}"/>
              </a:ext>
            </a:extLst>
          </p:cNvPr>
          <p:cNvSpPr>
            <a:spLocks noGrp="1"/>
          </p:cNvSpPr>
          <p:nvPr/>
        </p:nvSpPr>
        <p:spPr>
          <a:xfrm>
            <a:off x="9782175" y="3114675"/>
            <a:ext cx="1095375" cy="285750"/>
          </a:xfrm>
          <a:prstGeom prst="rect">
            <a:avLst/>
          </a:prstGeom>
          <a:noFill/>
          <a:ln w="0">
            <a:noFill/>
            <a:prstDash val="solid"/>
          </a:ln>
        </p:spPr>
        <p:txBody>
          <a:bodyPr anchor="t"/>
          <a:lstStyle/>
          <a:p>
            <a:pPr algn="r">
              <a:buNone/>
              <a:defRPr sz="1650" b="0" i="0">
                <a:solidFill>
                  <a:srgbClr val="2D6278"/>
                </a:solidFill>
              </a:defRPr>
            </a:pPr>
            <a:r>
              <a:rPr sz="1650" b="0" i="0">
                <a:solidFill>
                  <a:srgbClr val="2D6278"/>
                </a:solidFill>
              </a:rPr>
              <a:t>≤ 10.0</a:t>
            </a:r>
          </a:p>
        </p:txBody>
      </p:sp>
      <p:sp>
        <p:nvSpPr>
          <p:cNvPr id="25" name="Rettangolo 24">
            <a:extLst>
              <a:ext uri="{FF2B5EF4-FFF2-40B4-BE49-F238E27FC236}">
                <a16:creationId xmlns:a16="http://schemas.microsoft.com/office/drawing/2014/main" id="{D2F10FEE-F391-4586-BADF-4F1BB9D81FBB}"/>
              </a:ext>
            </a:extLst>
          </p:cNvPr>
          <p:cNvSpPr>
            <a:spLocks noGrp="1"/>
          </p:cNvSpPr>
          <p:nvPr/>
        </p:nvSpPr>
        <p:spPr>
          <a:xfrm>
            <a:off x="8524875" y="3695700"/>
            <a:ext cx="1143000" cy="285750"/>
          </a:xfrm>
          <a:prstGeom prst="rect">
            <a:avLst/>
          </a:prstGeom>
          <a:noFill/>
          <a:ln w="0">
            <a:noFill/>
            <a:prstDash val="solid"/>
          </a:ln>
        </p:spPr>
        <p:txBody>
          <a:bodyPr anchor="t"/>
          <a:lstStyle/>
          <a:p>
            <a:pPr algn="l">
              <a:buNone/>
              <a:defRPr sz="1650" b="1" i="0">
                <a:solidFill>
                  <a:srgbClr val="13212A"/>
                </a:solidFill>
              </a:defRPr>
            </a:pPr>
            <a:r>
              <a:rPr sz="1650" b="1" i="0">
                <a:solidFill>
                  <a:srgbClr val="13212A"/>
                </a:solidFill>
              </a:rPr>
              <a:t>g3</a:t>
            </a:r>
          </a:p>
        </p:txBody>
      </p:sp>
      <p:sp>
        <p:nvSpPr>
          <p:cNvPr id="26" name="Rettangolo 25">
            <a:extLst>
              <a:ext uri="{FF2B5EF4-FFF2-40B4-BE49-F238E27FC236}">
                <a16:creationId xmlns:a16="http://schemas.microsoft.com/office/drawing/2014/main" id="{B504B736-50BA-418B-A23D-528D6F214768}"/>
              </a:ext>
            </a:extLst>
          </p:cNvPr>
          <p:cNvSpPr>
            <a:spLocks noGrp="1"/>
          </p:cNvSpPr>
          <p:nvPr/>
        </p:nvSpPr>
        <p:spPr>
          <a:xfrm>
            <a:off x="9782175" y="3695700"/>
            <a:ext cx="1095375" cy="285750"/>
          </a:xfrm>
          <a:prstGeom prst="rect">
            <a:avLst/>
          </a:prstGeom>
          <a:noFill/>
          <a:ln w="0">
            <a:noFill/>
            <a:prstDash val="solid"/>
          </a:ln>
        </p:spPr>
        <p:txBody>
          <a:bodyPr anchor="t"/>
          <a:lstStyle/>
          <a:p>
            <a:pPr algn="r">
              <a:buNone/>
              <a:defRPr sz="1650" b="0" i="0">
                <a:solidFill>
                  <a:srgbClr val="2D6278"/>
                </a:solidFill>
              </a:defRPr>
            </a:pPr>
            <a:r>
              <a:rPr sz="1650" b="0" i="0">
                <a:solidFill>
                  <a:srgbClr val="2D6278"/>
                </a:solidFill>
              </a:rPr>
              <a:t>≤ 0.10</a:t>
            </a:r>
          </a:p>
        </p:txBody>
      </p:sp>
      <p:sp>
        <p:nvSpPr>
          <p:cNvPr id="27" name="Rettangolo 26">
            <a:extLst>
              <a:ext uri="{FF2B5EF4-FFF2-40B4-BE49-F238E27FC236}">
                <a16:creationId xmlns:a16="http://schemas.microsoft.com/office/drawing/2014/main" id="{8ACDC23D-E79D-4CD0-A0A8-0BC6AD9C7DEB}"/>
              </a:ext>
            </a:extLst>
          </p:cNvPr>
          <p:cNvSpPr>
            <a:spLocks noGrp="1"/>
          </p:cNvSpPr>
          <p:nvPr/>
        </p:nvSpPr>
        <p:spPr>
          <a:xfrm>
            <a:off x="5095875" y="5381625"/>
            <a:ext cx="6191250" cy="323850"/>
          </a:xfrm>
          <a:prstGeom prst="rect">
            <a:avLst/>
          </a:prstGeom>
          <a:noFill/>
          <a:ln w="0">
            <a:noFill/>
            <a:prstDash val="solid"/>
          </a:ln>
        </p:spPr>
        <p:txBody>
          <a:bodyPr anchor="t"/>
          <a:lstStyle/>
          <a:p>
            <a:pPr algn="ctr">
              <a:buNone/>
              <a:defRPr sz="1500" b="0" i="0">
                <a:solidFill>
                  <a:srgbClr val="52636D"/>
                </a:solidFill>
              </a:defRPr>
            </a:pPr>
            <a:r>
              <a:rPr sz="1500" b="0" i="0">
                <a:solidFill>
                  <a:srgbClr val="52636D"/>
                </a:solidFill>
              </a:rPr>
              <a:t>Medium similarity thresholds are DiMε inputs.</a:t>
            </a:r>
          </a:p>
        </p:txBody>
      </p:sp>
      <p:sp>
        <p:nvSpPr>
          <p:cNvPr id="28" name="Rettangolo 27">
            <a:extLst>
              <a:ext uri="{FF2B5EF4-FFF2-40B4-BE49-F238E27FC236}">
                <a16:creationId xmlns:a16="http://schemas.microsoft.com/office/drawing/2014/main" id="{A6B45321-9563-43A1-8B53-08A8904E8BE5}"/>
              </a:ext>
            </a:extLst>
          </p:cNvPr>
          <p:cNvSpPr>
            <a:spLocks noGrp="1"/>
          </p:cNvSpPr>
          <p:nvPr/>
        </p:nvSpPr>
        <p:spPr>
          <a:xfrm>
            <a:off x="609600" y="5953125"/>
            <a:ext cx="57150" cy="400050"/>
          </a:xfrm>
          <a:prstGeom prst="rect">
            <a:avLst/>
          </a:prstGeom>
          <a:solidFill>
            <a:srgbClr val="167D73"/>
          </a:solidFill>
          <a:ln w="0">
            <a:solidFill>
              <a:srgbClr val="167D73"/>
            </a:solidFill>
            <a:prstDash val="solid"/>
          </a:ln>
        </p:spPr>
        <p:txBody>
          <a:bodyPr/>
          <a:lstStyle/>
          <a:p>
            <a:endParaRPr/>
          </a:p>
        </p:txBody>
      </p:sp>
      <p:sp>
        <p:nvSpPr>
          <p:cNvPr id="29" name="Rettangolo 28">
            <a:extLst>
              <a:ext uri="{FF2B5EF4-FFF2-40B4-BE49-F238E27FC236}">
                <a16:creationId xmlns:a16="http://schemas.microsoft.com/office/drawing/2014/main" id="{DE52AA13-111F-442D-A059-E32895A5FEC6}"/>
              </a:ext>
            </a:extLst>
          </p:cNvPr>
          <p:cNvSpPr>
            <a:spLocks noGrp="1"/>
          </p:cNvSpPr>
          <p:nvPr/>
        </p:nvSpPr>
        <p:spPr>
          <a:xfrm>
            <a:off x="800100" y="5943600"/>
            <a:ext cx="10287000" cy="457200"/>
          </a:xfrm>
          <a:prstGeom prst="rect">
            <a:avLst/>
          </a:prstGeom>
          <a:noFill/>
          <a:ln w="0">
            <a:noFill/>
            <a:prstDash val="solid"/>
          </a:ln>
        </p:spPr>
        <p:txBody>
          <a:bodyPr anchor="t"/>
          <a:lstStyle/>
          <a:p>
            <a:pPr algn="l">
              <a:buNone/>
              <a:defRPr sz="1650" b="1" i="0">
                <a:solidFill>
                  <a:srgbClr val="13212A"/>
                </a:solidFill>
              </a:defRPr>
            </a:pPr>
            <a:r>
              <a:rPr sz="1650" b="1" i="0">
                <a:solidFill>
                  <a:srgbClr val="13212A"/>
                </a:solidFill>
              </a:rPr>
              <a:t>Thresholds are supplied to DiMε; inferring thresholds would instead be DOMINO's role.</a:t>
            </a:r>
          </a:p>
        </p:txBody>
      </p:sp>
    </p:spTree>
    <p:extLst>
      <p:ext uri="{BB962C8B-B14F-4D97-AF65-F5344CB8AC3E}">
        <p14:creationId xmlns:p14="http://schemas.microsoft.com/office/powerpoint/2010/main" val="16241740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9" name="Rettangolo 28">
            <a:extLst>
              <a:ext uri="{FF2B5EF4-FFF2-40B4-BE49-F238E27FC236}">
                <a16:creationId xmlns:a16="http://schemas.microsoft.com/office/drawing/2014/main" id="{AF256C6B-AD76-4B95-8EFB-E2C928DC03A0}"/>
              </a:ext>
            </a:extLst>
          </p:cNvPr>
          <p:cNvSpPr>
            <a:spLocks noGrp="1"/>
          </p:cNvSpPr>
          <p:nvPr/>
        </p:nvSpPr>
        <p:spPr>
          <a:xfrm>
            <a:off x="609600" y="323850"/>
            <a:ext cx="5905500" cy="228600"/>
          </a:xfrm>
          <a:prstGeom prst="rect">
            <a:avLst/>
          </a:prstGeom>
          <a:noFill/>
          <a:ln w="0">
            <a:noFill/>
            <a:prstDash val="solid"/>
          </a:ln>
        </p:spPr>
        <p:txBody>
          <a:bodyPr anchor="t"/>
          <a:lstStyle/>
          <a:p>
            <a:pPr algn="l">
              <a:buNone/>
              <a:defRPr sz="1125" b="1" i="0">
                <a:solidFill>
                  <a:srgbClr val="167D73"/>
                </a:solidFill>
              </a:defRPr>
            </a:pPr>
            <a:r>
              <a:rPr sz="1125" b="1" i="0">
                <a:solidFill>
                  <a:srgbClr val="167D73"/>
                </a:solidFill>
              </a:rPr>
              <a:t>KDIID · RFD CONSISTENCY PROFILING</a:t>
            </a:r>
          </a:p>
        </p:txBody>
      </p:sp>
      <p:sp>
        <p:nvSpPr>
          <p:cNvPr id="2" name="Rettangolo 1">
            <a:extLst>
              <a:ext uri="{FF2B5EF4-FFF2-40B4-BE49-F238E27FC236}">
                <a16:creationId xmlns:a16="http://schemas.microsoft.com/office/drawing/2014/main" id="{1D6E3C9B-D31B-4416-8EAD-D133438D4F62}"/>
              </a:ext>
            </a:extLst>
          </p:cNvPr>
          <p:cNvSpPr>
            <a:spLocks noGrp="1"/>
          </p:cNvSpPr>
          <p:nvPr/>
        </p:nvSpPr>
        <p:spPr>
          <a:xfrm>
            <a:off x="609600" y="647700"/>
            <a:ext cx="10668000" cy="666750"/>
          </a:xfrm>
          <a:prstGeom prst="rect">
            <a:avLst/>
          </a:prstGeom>
          <a:noFill/>
          <a:ln w="0">
            <a:noFill/>
            <a:prstDash val="solid"/>
          </a:ln>
        </p:spPr>
        <p:txBody>
          <a:bodyPr anchor="t"/>
          <a:lstStyle/>
          <a:p>
            <a:pPr algn="l">
              <a:buNone/>
              <a:defRPr sz="3600" b="1" i="0">
                <a:solidFill>
                  <a:srgbClr val="13212A"/>
                </a:solidFill>
              </a:defRPr>
            </a:pPr>
            <a:r>
              <a:rPr sz="3600" b="1" i="0">
                <a:solidFill>
                  <a:srgbClr val="13212A"/>
                </a:solidFill>
              </a:rPr>
              <a:t>RFD discovery with DiMε</a:t>
            </a:r>
          </a:p>
        </p:txBody>
      </p:sp>
      <p:sp>
        <p:nvSpPr>
          <p:cNvPr id="3" name="Connettore dritto 2">
            <a:extLst>
              <a:ext uri="{FF2B5EF4-FFF2-40B4-BE49-F238E27FC236}">
                <a16:creationId xmlns:a16="http://schemas.microsoft.com/office/drawing/2014/main" id="{E8E6D88E-1CAC-4F77-B94F-5282D99A6017}"/>
              </a:ext>
            </a:extLst>
          </p:cNvPr>
          <p:cNvSpPr>
            <a:spLocks noGrp="1"/>
          </p:cNvSpPr>
          <p:nvPr/>
        </p:nvSpPr>
        <p:spPr>
          <a:xfrm>
            <a:off x="609600" y="1381125"/>
            <a:ext cx="10972800" cy="0"/>
          </a:xfrm>
          <a:prstGeom prst="line">
            <a:avLst/>
          </a:prstGeom>
          <a:noFill/>
          <a:ln w="9525">
            <a:solidFill>
              <a:srgbClr val="CBD7D6"/>
            </a:solidFill>
            <a:prstDash val="solid"/>
          </a:ln>
        </p:spPr>
        <p:txBody>
          <a:bodyPr/>
          <a:lstStyle/>
          <a:p>
            <a:endParaRPr/>
          </a:p>
        </p:txBody>
      </p:sp>
      <p:sp>
        <p:nvSpPr>
          <p:cNvPr id="4" name="Rettangolo 3">
            <a:extLst>
              <a:ext uri="{FF2B5EF4-FFF2-40B4-BE49-F238E27FC236}">
                <a16:creationId xmlns:a16="http://schemas.microsoft.com/office/drawing/2014/main" id="{7830003F-3EBA-4265-88B6-C26343FF2B8B}"/>
              </a:ext>
            </a:extLst>
          </p:cNvPr>
          <p:cNvSpPr>
            <a:spLocks noGrp="1"/>
          </p:cNvSpPr>
          <p:nvPr/>
        </p:nvSpPr>
        <p:spPr>
          <a:xfrm>
            <a:off x="11144250" y="6419850"/>
            <a:ext cx="438150" cy="209550"/>
          </a:xfrm>
          <a:prstGeom prst="rect">
            <a:avLst/>
          </a:prstGeom>
          <a:noFill/>
          <a:ln w="0">
            <a:noFill/>
            <a:prstDash val="solid"/>
          </a:ln>
        </p:spPr>
        <p:txBody>
          <a:bodyPr anchor="t"/>
          <a:lstStyle/>
          <a:p>
            <a:pPr algn="r">
              <a:buNone/>
              <a:defRPr sz="1125" b="1" i="0">
                <a:solidFill>
                  <a:srgbClr val="52636D"/>
                </a:solidFill>
              </a:defRPr>
            </a:pPr>
            <a:r>
              <a:rPr sz="1125" b="1" i="0">
                <a:solidFill>
                  <a:srgbClr val="52636D"/>
                </a:solidFill>
              </a:rPr>
              <a:t>07</a:t>
            </a:r>
          </a:p>
        </p:txBody>
      </p:sp>
      <p:sp>
        <p:nvSpPr>
          <p:cNvPr id="5" name="Rettangolo 4">
            <a:extLst>
              <a:ext uri="{FF2B5EF4-FFF2-40B4-BE49-F238E27FC236}">
                <a16:creationId xmlns:a16="http://schemas.microsoft.com/office/drawing/2014/main" id="{3A9A00AB-EF0E-41A2-98AB-F5A1E919BB94}"/>
              </a:ext>
            </a:extLst>
          </p:cNvPr>
          <p:cNvSpPr>
            <a:spLocks noGrp="1"/>
          </p:cNvSpPr>
          <p:nvPr/>
        </p:nvSpPr>
        <p:spPr>
          <a:xfrm>
            <a:off x="609600" y="1685925"/>
            <a:ext cx="8096250" cy="361950"/>
          </a:xfrm>
          <a:prstGeom prst="rect">
            <a:avLst/>
          </a:prstGeom>
          <a:noFill/>
          <a:ln w="0">
            <a:noFill/>
            <a:prstDash val="solid"/>
          </a:ln>
        </p:spPr>
        <p:txBody>
          <a:bodyPr anchor="t"/>
          <a:lstStyle/>
          <a:p>
            <a:pPr algn="l">
              <a:buNone/>
              <a:defRPr sz="1875" b="0" i="0">
                <a:solidFill>
                  <a:srgbClr val="52636D"/>
                </a:solidFill>
              </a:defRPr>
            </a:pPr>
            <a:r>
              <a:rPr sz="1875" b="0" i="0">
                <a:solidFill>
                  <a:srgbClr val="52636D"/>
                </a:solidFill>
              </a:rPr>
              <a:t>DiMε discovers minimal RFDs through difference matrices, lattice exploration, candidate pruning and g3 validation.</a:t>
            </a:r>
          </a:p>
        </p:txBody>
      </p:sp>
      <p:sp>
        <p:nvSpPr>
          <p:cNvPr id="6" name="Freccia destra 5">
            <a:extLst>
              <a:ext uri="{FF2B5EF4-FFF2-40B4-BE49-F238E27FC236}">
                <a16:creationId xmlns:a16="http://schemas.microsoft.com/office/drawing/2014/main" id="{60E171D5-4FAD-4B75-9337-8C0B17E98358}"/>
              </a:ext>
            </a:extLst>
          </p:cNvPr>
          <p:cNvSpPr>
            <a:spLocks noGrp="1"/>
          </p:cNvSpPr>
          <p:nvPr/>
        </p:nvSpPr>
        <p:spPr>
          <a:xfrm>
            <a:off x="2686050" y="3028950"/>
            <a:ext cx="590550" cy="323850"/>
          </a:xfrm>
          <a:prstGeom prst="rightArrow">
            <a:avLst/>
          </a:prstGeom>
          <a:solidFill>
            <a:srgbClr val="D9EFEC"/>
          </a:solidFill>
          <a:ln w="0">
            <a:solidFill>
              <a:srgbClr val="D9EFEC"/>
            </a:solidFill>
            <a:prstDash val="solid"/>
          </a:ln>
        </p:spPr>
        <p:txBody>
          <a:bodyPr/>
          <a:lstStyle/>
          <a:p>
            <a:endParaRPr/>
          </a:p>
        </p:txBody>
      </p:sp>
      <p:sp>
        <p:nvSpPr>
          <p:cNvPr id="7" name="Freccia destra 6">
            <a:extLst>
              <a:ext uri="{FF2B5EF4-FFF2-40B4-BE49-F238E27FC236}">
                <a16:creationId xmlns:a16="http://schemas.microsoft.com/office/drawing/2014/main" id="{1F62CBA9-D1A3-4CB7-8353-DAC4083A8467}"/>
              </a:ext>
            </a:extLst>
          </p:cNvPr>
          <p:cNvSpPr>
            <a:spLocks noGrp="1"/>
          </p:cNvSpPr>
          <p:nvPr/>
        </p:nvSpPr>
        <p:spPr>
          <a:xfrm>
            <a:off x="5391150" y="3028950"/>
            <a:ext cx="590550" cy="323850"/>
          </a:xfrm>
          <a:prstGeom prst="rightArrow">
            <a:avLst/>
          </a:prstGeom>
          <a:solidFill>
            <a:srgbClr val="D9EFEC"/>
          </a:solidFill>
          <a:ln w="0">
            <a:solidFill>
              <a:srgbClr val="D9EFEC"/>
            </a:solidFill>
            <a:prstDash val="solid"/>
          </a:ln>
        </p:spPr>
        <p:txBody>
          <a:bodyPr/>
          <a:lstStyle/>
          <a:p>
            <a:endParaRPr/>
          </a:p>
        </p:txBody>
      </p:sp>
      <p:sp>
        <p:nvSpPr>
          <p:cNvPr id="8" name="Freccia destra 7">
            <a:extLst>
              <a:ext uri="{FF2B5EF4-FFF2-40B4-BE49-F238E27FC236}">
                <a16:creationId xmlns:a16="http://schemas.microsoft.com/office/drawing/2014/main" id="{28862123-F1A6-4E40-92F7-0E4ABFDD0DE4}"/>
              </a:ext>
            </a:extLst>
          </p:cNvPr>
          <p:cNvSpPr>
            <a:spLocks noGrp="1"/>
          </p:cNvSpPr>
          <p:nvPr/>
        </p:nvSpPr>
        <p:spPr>
          <a:xfrm>
            <a:off x="8096250" y="3028950"/>
            <a:ext cx="590550" cy="323850"/>
          </a:xfrm>
          <a:prstGeom prst="rightArrow">
            <a:avLst/>
          </a:prstGeom>
          <a:solidFill>
            <a:srgbClr val="D9EFEC"/>
          </a:solidFill>
          <a:ln w="0">
            <a:solidFill>
              <a:srgbClr val="D9EFEC"/>
            </a:solidFill>
            <a:prstDash val="solid"/>
          </a:ln>
        </p:spPr>
        <p:txBody>
          <a:bodyPr/>
          <a:lstStyle/>
          <a:p>
            <a:endParaRPr/>
          </a:p>
        </p:txBody>
      </p:sp>
      <p:sp>
        <p:nvSpPr>
          <p:cNvPr id="9" name="Rettangolo con angoli arrotondati 8">
            <a:extLst>
              <a:ext uri="{FF2B5EF4-FFF2-40B4-BE49-F238E27FC236}">
                <a16:creationId xmlns:a16="http://schemas.microsoft.com/office/drawing/2014/main" id="{F1E33EF5-F45E-4062-B7EC-41497038CFB3}"/>
              </a:ext>
            </a:extLst>
          </p:cNvPr>
          <p:cNvSpPr>
            <a:spLocks noGrp="1"/>
          </p:cNvSpPr>
          <p:nvPr/>
        </p:nvSpPr>
        <p:spPr>
          <a:xfrm>
            <a:off x="685800" y="2400300"/>
            <a:ext cx="2095500" cy="1619250"/>
          </a:xfrm>
          <a:prstGeom prst="roundRect">
            <a:avLst>
              <a:gd name="adj" fmla="val 7059"/>
            </a:avLst>
          </a:prstGeom>
          <a:solidFill>
            <a:srgbClr val="F7F9F8"/>
          </a:solidFill>
          <a:ln w="9525">
            <a:solidFill>
              <a:srgbClr val="CBD7D6"/>
            </a:solidFill>
            <a:prstDash val="solid"/>
          </a:ln>
        </p:spPr>
        <p:txBody>
          <a:bodyPr/>
          <a:lstStyle/>
          <a:p>
            <a:endParaRPr/>
          </a:p>
        </p:txBody>
      </p:sp>
      <p:sp>
        <p:nvSpPr>
          <p:cNvPr id="10" name="Rettangolo 9">
            <a:extLst>
              <a:ext uri="{FF2B5EF4-FFF2-40B4-BE49-F238E27FC236}">
                <a16:creationId xmlns:a16="http://schemas.microsoft.com/office/drawing/2014/main" id="{6D897D85-45B3-41A1-875D-DB21F48FDF2F}"/>
              </a:ext>
            </a:extLst>
          </p:cNvPr>
          <p:cNvSpPr>
            <a:spLocks noGrp="1"/>
          </p:cNvSpPr>
          <p:nvPr/>
        </p:nvSpPr>
        <p:spPr>
          <a:xfrm>
            <a:off x="857250" y="2571750"/>
            <a:ext cx="514350" cy="247650"/>
          </a:xfrm>
          <a:prstGeom prst="rect">
            <a:avLst/>
          </a:prstGeom>
          <a:noFill/>
          <a:ln w="0">
            <a:noFill/>
            <a:prstDash val="solid"/>
          </a:ln>
        </p:spPr>
        <p:txBody>
          <a:bodyPr anchor="t"/>
          <a:lstStyle/>
          <a:p>
            <a:pPr algn="l">
              <a:buNone/>
              <a:defRPr sz="1275" b="1" i="0">
                <a:solidFill>
                  <a:srgbClr val="167D73"/>
                </a:solidFill>
              </a:defRPr>
            </a:pPr>
            <a:r>
              <a:rPr sz="1275" b="1" i="0">
                <a:solidFill>
                  <a:srgbClr val="167D73"/>
                </a:solidFill>
              </a:rPr>
              <a:t>01</a:t>
            </a:r>
          </a:p>
        </p:txBody>
      </p:sp>
      <p:sp>
        <p:nvSpPr>
          <p:cNvPr id="11" name="Rettangolo 10">
            <a:extLst>
              <a:ext uri="{FF2B5EF4-FFF2-40B4-BE49-F238E27FC236}">
                <a16:creationId xmlns:a16="http://schemas.microsoft.com/office/drawing/2014/main" id="{9D7CA4BF-A71E-47A8-B7D1-01C28E3D7995}"/>
              </a:ext>
            </a:extLst>
          </p:cNvPr>
          <p:cNvSpPr>
            <a:spLocks noGrp="1"/>
          </p:cNvSpPr>
          <p:nvPr/>
        </p:nvSpPr>
        <p:spPr>
          <a:xfrm>
            <a:off x="857250" y="2943225"/>
            <a:ext cx="1762125" cy="419100"/>
          </a:xfrm>
          <a:prstGeom prst="rect">
            <a:avLst/>
          </a:prstGeom>
          <a:noFill/>
          <a:ln w="0">
            <a:noFill/>
            <a:prstDash val="solid"/>
          </a:ln>
        </p:spPr>
        <p:txBody>
          <a:bodyPr anchor="t"/>
          <a:lstStyle/>
          <a:p>
            <a:pPr algn="l">
              <a:buNone/>
              <a:defRPr sz="1650" b="1" i="0">
                <a:solidFill>
                  <a:srgbClr val="13212A"/>
                </a:solidFill>
              </a:defRPr>
            </a:pPr>
            <a:r>
              <a:rPr sz="1650" b="1" i="0">
                <a:solidFill>
                  <a:srgbClr val="13212A"/>
                </a:solidFill>
              </a:rPr>
              <a:t>DIFFERENCE MATRICES</a:t>
            </a:r>
          </a:p>
        </p:txBody>
      </p:sp>
      <p:sp>
        <p:nvSpPr>
          <p:cNvPr id="12" name="Rettangolo 11">
            <a:extLst>
              <a:ext uri="{FF2B5EF4-FFF2-40B4-BE49-F238E27FC236}">
                <a16:creationId xmlns:a16="http://schemas.microsoft.com/office/drawing/2014/main" id="{05E8FCAB-3D93-4FCE-A498-77F911091E4B}"/>
              </a:ext>
            </a:extLst>
          </p:cNvPr>
          <p:cNvSpPr>
            <a:spLocks noGrp="1"/>
          </p:cNvSpPr>
          <p:nvPr/>
        </p:nvSpPr>
        <p:spPr>
          <a:xfrm>
            <a:off x="857250" y="3457575"/>
            <a:ext cx="1762125" cy="476250"/>
          </a:xfrm>
          <a:prstGeom prst="rect">
            <a:avLst/>
          </a:prstGeom>
          <a:noFill/>
          <a:ln w="0">
            <a:noFill/>
            <a:prstDash val="solid"/>
          </a:ln>
        </p:spPr>
        <p:txBody>
          <a:bodyPr anchor="t"/>
          <a:lstStyle/>
          <a:p>
            <a:pPr algn="l">
              <a:buNone/>
              <a:defRPr sz="1125" b="0" i="0">
                <a:solidFill>
                  <a:srgbClr val="52636D"/>
                </a:solidFill>
              </a:defRPr>
            </a:pPr>
            <a:r>
              <a:rPr sz="1125" b="0" i="0">
                <a:solidFill>
                  <a:srgbClr val="52636D"/>
                </a:solidFill>
              </a:rPr>
              <a:t>Absolute distance + categorical equality</a:t>
            </a:r>
          </a:p>
        </p:txBody>
      </p:sp>
      <p:sp>
        <p:nvSpPr>
          <p:cNvPr id="13" name="Rettangolo con angoli arrotondati 12">
            <a:extLst>
              <a:ext uri="{FF2B5EF4-FFF2-40B4-BE49-F238E27FC236}">
                <a16:creationId xmlns:a16="http://schemas.microsoft.com/office/drawing/2014/main" id="{158BF771-D80B-4F31-9F89-00F2F1F4E55D}"/>
              </a:ext>
            </a:extLst>
          </p:cNvPr>
          <p:cNvSpPr>
            <a:spLocks noGrp="1"/>
          </p:cNvSpPr>
          <p:nvPr/>
        </p:nvSpPr>
        <p:spPr>
          <a:xfrm>
            <a:off x="3390900" y="2400300"/>
            <a:ext cx="2095500" cy="1619250"/>
          </a:xfrm>
          <a:prstGeom prst="roundRect">
            <a:avLst>
              <a:gd name="adj" fmla="val 7059"/>
            </a:avLst>
          </a:prstGeom>
          <a:solidFill>
            <a:srgbClr val="F7F9F8"/>
          </a:solidFill>
          <a:ln w="9525">
            <a:solidFill>
              <a:srgbClr val="CBD7D6"/>
            </a:solidFill>
            <a:prstDash val="solid"/>
          </a:ln>
        </p:spPr>
        <p:txBody>
          <a:bodyPr/>
          <a:lstStyle/>
          <a:p>
            <a:endParaRPr/>
          </a:p>
        </p:txBody>
      </p:sp>
      <p:sp>
        <p:nvSpPr>
          <p:cNvPr id="14" name="Rettangolo 13">
            <a:extLst>
              <a:ext uri="{FF2B5EF4-FFF2-40B4-BE49-F238E27FC236}">
                <a16:creationId xmlns:a16="http://schemas.microsoft.com/office/drawing/2014/main" id="{828D350C-DA36-444F-88CE-8797A59F7294}"/>
              </a:ext>
            </a:extLst>
          </p:cNvPr>
          <p:cNvSpPr>
            <a:spLocks noGrp="1"/>
          </p:cNvSpPr>
          <p:nvPr/>
        </p:nvSpPr>
        <p:spPr>
          <a:xfrm>
            <a:off x="3562350" y="2571750"/>
            <a:ext cx="514350" cy="247650"/>
          </a:xfrm>
          <a:prstGeom prst="rect">
            <a:avLst/>
          </a:prstGeom>
          <a:noFill/>
          <a:ln w="0">
            <a:noFill/>
            <a:prstDash val="solid"/>
          </a:ln>
        </p:spPr>
        <p:txBody>
          <a:bodyPr anchor="t"/>
          <a:lstStyle/>
          <a:p>
            <a:pPr algn="l">
              <a:buNone/>
              <a:defRPr sz="1275" b="1" i="0">
                <a:solidFill>
                  <a:srgbClr val="167D73"/>
                </a:solidFill>
              </a:defRPr>
            </a:pPr>
            <a:r>
              <a:rPr sz="1275" b="1" i="0">
                <a:solidFill>
                  <a:srgbClr val="167D73"/>
                </a:solidFill>
              </a:rPr>
              <a:t>02</a:t>
            </a:r>
          </a:p>
        </p:txBody>
      </p:sp>
      <p:sp>
        <p:nvSpPr>
          <p:cNvPr id="15" name="Rettangolo 14">
            <a:extLst>
              <a:ext uri="{FF2B5EF4-FFF2-40B4-BE49-F238E27FC236}">
                <a16:creationId xmlns:a16="http://schemas.microsoft.com/office/drawing/2014/main" id="{B4ED0673-0126-4235-BD55-0C66625CF6DB}"/>
              </a:ext>
            </a:extLst>
          </p:cNvPr>
          <p:cNvSpPr>
            <a:spLocks noGrp="1"/>
          </p:cNvSpPr>
          <p:nvPr/>
        </p:nvSpPr>
        <p:spPr>
          <a:xfrm>
            <a:off x="3562350" y="2943225"/>
            <a:ext cx="1762125" cy="419100"/>
          </a:xfrm>
          <a:prstGeom prst="rect">
            <a:avLst/>
          </a:prstGeom>
          <a:noFill/>
          <a:ln w="0">
            <a:noFill/>
            <a:prstDash val="solid"/>
          </a:ln>
        </p:spPr>
        <p:txBody>
          <a:bodyPr anchor="t"/>
          <a:lstStyle/>
          <a:p>
            <a:pPr algn="l">
              <a:buNone/>
              <a:defRPr sz="1650" b="1" i="0">
                <a:solidFill>
                  <a:srgbClr val="13212A"/>
                </a:solidFill>
              </a:defRPr>
            </a:pPr>
            <a:r>
              <a:rPr sz="1650" b="1" i="0">
                <a:solidFill>
                  <a:srgbClr val="13212A"/>
                </a:solidFill>
              </a:rPr>
              <a:t>SIMILAR SUBSETS</a:t>
            </a:r>
          </a:p>
        </p:txBody>
      </p:sp>
      <p:sp>
        <p:nvSpPr>
          <p:cNvPr id="16" name="Rettangolo 15">
            <a:extLst>
              <a:ext uri="{FF2B5EF4-FFF2-40B4-BE49-F238E27FC236}">
                <a16:creationId xmlns:a16="http://schemas.microsoft.com/office/drawing/2014/main" id="{FCEDC8C9-67BD-4A1F-BB42-78E66AD2310B}"/>
              </a:ext>
            </a:extLst>
          </p:cNvPr>
          <p:cNvSpPr>
            <a:spLocks noGrp="1"/>
          </p:cNvSpPr>
          <p:nvPr/>
        </p:nvSpPr>
        <p:spPr>
          <a:xfrm>
            <a:off x="3562350" y="3457575"/>
            <a:ext cx="1762125" cy="476250"/>
          </a:xfrm>
          <a:prstGeom prst="rect">
            <a:avLst/>
          </a:prstGeom>
          <a:noFill/>
          <a:ln w="0">
            <a:noFill/>
            <a:prstDash val="solid"/>
          </a:ln>
        </p:spPr>
        <p:txBody>
          <a:bodyPr anchor="t"/>
          <a:lstStyle/>
          <a:p>
            <a:pPr algn="l">
              <a:buNone/>
              <a:defRPr sz="1125" b="0" i="0">
                <a:solidFill>
                  <a:srgbClr val="52636D"/>
                </a:solidFill>
              </a:defRPr>
            </a:pPr>
            <a:r>
              <a:rPr sz="1125" b="0" i="0">
                <a:solidFill>
                  <a:srgbClr val="52636D"/>
                </a:solidFill>
              </a:rPr>
              <a:t>Pattern subsets; singleton stripping</a:t>
            </a:r>
          </a:p>
        </p:txBody>
      </p:sp>
      <p:sp>
        <p:nvSpPr>
          <p:cNvPr id="17" name="Rettangolo con angoli arrotondati 16">
            <a:extLst>
              <a:ext uri="{FF2B5EF4-FFF2-40B4-BE49-F238E27FC236}">
                <a16:creationId xmlns:a16="http://schemas.microsoft.com/office/drawing/2014/main" id="{9FC37396-DC6E-49A6-B2E7-D2023A03A627}"/>
              </a:ext>
            </a:extLst>
          </p:cNvPr>
          <p:cNvSpPr>
            <a:spLocks noGrp="1"/>
          </p:cNvSpPr>
          <p:nvPr/>
        </p:nvSpPr>
        <p:spPr>
          <a:xfrm>
            <a:off x="6096000" y="2400300"/>
            <a:ext cx="2095500" cy="1619250"/>
          </a:xfrm>
          <a:prstGeom prst="roundRect">
            <a:avLst>
              <a:gd name="adj" fmla="val 7059"/>
            </a:avLst>
          </a:prstGeom>
          <a:solidFill>
            <a:srgbClr val="F7F9F8"/>
          </a:solidFill>
          <a:ln w="9525">
            <a:solidFill>
              <a:srgbClr val="CBD7D6"/>
            </a:solidFill>
            <a:prstDash val="solid"/>
          </a:ln>
        </p:spPr>
        <p:txBody>
          <a:bodyPr/>
          <a:lstStyle/>
          <a:p>
            <a:endParaRPr/>
          </a:p>
        </p:txBody>
      </p:sp>
      <p:sp>
        <p:nvSpPr>
          <p:cNvPr id="18" name="Rettangolo 17">
            <a:extLst>
              <a:ext uri="{FF2B5EF4-FFF2-40B4-BE49-F238E27FC236}">
                <a16:creationId xmlns:a16="http://schemas.microsoft.com/office/drawing/2014/main" id="{A8406D7C-B986-4AF3-A54E-83AA21B6F72D}"/>
              </a:ext>
            </a:extLst>
          </p:cNvPr>
          <p:cNvSpPr>
            <a:spLocks noGrp="1"/>
          </p:cNvSpPr>
          <p:nvPr/>
        </p:nvSpPr>
        <p:spPr>
          <a:xfrm>
            <a:off x="6267450" y="2571750"/>
            <a:ext cx="514350" cy="247650"/>
          </a:xfrm>
          <a:prstGeom prst="rect">
            <a:avLst/>
          </a:prstGeom>
          <a:noFill/>
          <a:ln w="0">
            <a:noFill/>
            <a:prstDash val="solid"/>
          </a:ln>
        </p:spPr>
        <p:txBody>
          <a:bodyPr anchor="t"/>
          <a:lstStyle/>
          <a:p>
            <a:pPr algn="l">
              <a:buNone/>
              <a:defRPr sz="1275" b="1" i="0">
                <a:solidFill>
                  <a:srgbClr val="167D73"/>
                </a:solidFill>
              </a:defRPr>
            </a:pPr>
            <a:r>
              <a:rPr sz="1275" b="1" i="0">
                <a:solidFill>
                  <a:srgbClr val="167D73"/>
                </a:solidFill>
              </a:rPr>
              <a:t>03</a:t>
            </a:r>
          </a:p>
        </p:txBody>
      </p:sp>
      <p:sp>
        <p:nvSpPr>
          <p:cNvPr id="19" name="Rettangolo 18">
            <a:extLst>
              <a:ext uri="{FF2B5EF4-FFF2-40B4-BE49-F238E27FC236}">
                <a16:creationId xmlns:a16="http://schemas.microsoft.com/office/drawing/2014/main" id="{FD24FF9C-A3A7-4CEF-9DCE-D1DA9E71485E}"/>
              </a:ext>
            </a:extLst>
          </p:cNvPr>
          <p:cNvSpPr>
            <a:spLocks noGrp="1"/>
          </p:cNvSpPr>
          <p:nvPr/>
        </p:nvSpPr>
        <p:spPr>
          <a:xfrm>
            <a:off x="6267450" y="2943225"/>
            <a:ext cx="1762125" cy="419100"/>
          </a:xfrm>
          <a:prstGeom prst="rect">
            <a:avLst/>
          </a:prstGeom>
          <a:noFill/>
          <a:ln w="0">
            <a:noFill/>
            <a:prstDash val="solid"/>
          </a:ln>
        </p:spPr>
        <p:txBody>
          <a:bodyPr anchor="t"/>
          <a:lstStyle/>
          <a:p>
            <a:pPr algn="l">
              <a:buNone/>
              <a:defRPr sz="1650" b="1" i="0">
                <a:solidFill>
                  <a:srgbClr val="13212A"/>
                </a:solidFill>
              </a:defRPr>
            </a:pPr>
            <a:r>
              <a:rPr sz="1650" b="1" i="0">
                <a:solidFill>
                  <a:srgbClr val="13212A"/>
                </a:solidFill>
              </a:rPr>
              <a:t>COMPLETE LATTICE</a:t>
            </a:r>
          </a:p>
        </p:txBody>
      </p:sp>
      <p:sp>
        <p:nvSpPr>
          <p:cNvPr id="20" name="Rettangolo 19">
            <a:extLst>
              <a:ext uri="{FF2B5EF4-FFF2-40B4-BE49-F238E27FC236}">
                <a16:creationId xmlns:a16="http://schemas.microsoft.com/office/drawing/2014/main" id="{012FE7C5-521B-415B-8A8A-2B7EEC05F04C}"/>
              </a:ext>
            </a:extLst>
          </p:cNvPr>
          <p:cNvSpPr>
            <a:spLocks noGrp="1"/>
          </p:cNvSpPr>
          <p:nvPr/>
        </p:nvSpPr>
        <p:spPr>
          <a:xfrm>
            <a:off x="6267450" y="3457575"/>
            <a:ext cx="1762125" cy="476250"/>
          </a:xfrm>
          <a:prstGeom prst="rect">
            <a:avLst/>
          </a:prstGeom>
          <a:noFill/>
          <a:ln w="0">
            <a:noFill/>
            <a:prstDash val="solid"/>
          </a:ln>
        </p:spPr>
        <p:txBody>
          <a:bodyPr anchor="t"/>
          <a:lstStyle/>
          <a:p>
            <a:pPr algn="l">
              <a:buNone/>
              <a:defRPr sz="1125" b="0" i="0">
                <a:solidFill>
                  <a:srgbClr val="52636D"/>
                </a:solidFill>
              </a:defRPr>
            </a:pPr>
            <a:r>
              <a:rPr sz="1125" b="0" i="0">
                <a:solidFill>
                  <a:srgbClr val="52636D"/>
                </a:solidFill>
              </a:rPr>
              <a:t>C+ candidates, joins, pruning</a:t>
            </a:r>
          </a:p>
        </p:txBody>
      </p:sp>
      <p:sp>
        <p:nvSpPr>
          <p:cNvPr id="21" name="Rettangolo con angoli arrotondati 20">
            <a:extLst>
              <a:ext uri="{FF2B5EF4-FFF2-40B4-BE49-F238E27FC236}">
                <a16:creationId xmlns:a16="http://schemas.microsoft.com/office/drawing/2014/main" id="{312468F4-67C3-446D-8922-1B283EE1045B}"/>
              </a:ext>
            </a:extLst>
          </p:cNvPr>
          <p:cNvSpPr>
            <a:spLocks noGrp="1"/>
          </p:cNvSpPr>
          <p:nvPr/>
        </p:nvSpPr>
        <p:spPr>
          <a:xfrm>
            <a:off x="8801100" y="2400300"/>
            <a:ext cx="2095500" cy="1619250"/>
          </a:xfrm>
          <a:prstGeom prst="roundRect">
            <a:avLst>
              <a:gd name="adj" fmla="val 7059"/>
            </a:avLst>
          </a:prstGeom>
          <a:solidFill>
            <a:srgbClr val="D9EFEC"/>
          </a:solidFill>
          <a:ln w="9525">
            <a:solidFill>
              <a:srgbClr val="CBD7D6"/>
            </a:solidFill>
            <a:prstDash val="solid"/>
          </a:ln>
        </p:spPr>
        <p:txBody>
          <a:bodyPr/>
          <a:lstStyle/>
          <a:p>
            <a:endParaRPr/>
          </a:p>
        </p:txBody>
      </p:sp>
      <p:sp>
        <p:nvSpPr>
          <p:cNvPr id="22" name="Rettangolo 21">
            <a:extLst>
              <a:ext uri="{FF2B5EF4-FFF2-40B4-BE49-F238E27FC236}">
                <a16:creationId xmlns:a16="http://schemas.microsoft.com/office/drawing/2014/main" id="{B9F606A0-76FB-4BB4-B517-18D4B20C9761}"/>
              </a:ext>
            </a:extLst>
          </p:cNvPr>
          <p:cNvSpPr>
            <a:spLocks noGrp="1"/>
          </p:cNvSpPr>
          <p:nvPr/>
        </p:nvSpPr>
        <p:spPr>
          <a:xfrm>
            <a:off x="8972550" y="2571750"/>
            <a:ext cx="514350" cy="247650"/>
          </a:xfrm>
          <a:prstGeom prst="rect">
            <a:avLst/>
          </a:prstGeom>
          <a:noFill/>
          <a:ln w="0">
            <a:noFill/>
            <a:prstDash val="solid"/>
          </a:ln>
        </p:spPr>
        <p:txBody>
          <a:bodyPr anchor="t"/>
          <a:lstStyle/>
          <a:p>
            <a:pPr algn="l">
              <a:buNone/>
              <a:defRPr sz="1275" b="1" i="0">
                <a:solidFill>
                  <a:srgbClr val="167D73"/>
                </a:solidFill>
              </a:defRPr>
            </a:pPr>
            <a:r>
              <a:rPr sz="1275" b="1" i="0">
                <a:solidFill>
                  <a:srgbClr val="167D73"/>
                </a:solidFill>
              </a:rPr>
              <a:t>04</a:t>
            </a:r>
          </a:p>
        </p:txBody>
      </p:sp>
      <p:sp>
        <p:nvSpPr>
          <p:cNvPr id="23" name="Rettangolo 22">
            <a:extLst>
              <a:ext uri="{FF2B5EF4-FFF2-40B4-BE49-F238E27FC236}">
                <a16:creationId xmlns:a16="http://schemas.microsoft.com/office/drawing/2014/main" id="{5B613A06-DCB3-45E0-84EB-0488E9741C5D}"/>
              </a:ext>
            </a:extLst>
          </p:cNvPr>
          <p:cNvSpPr>
            <a:spLocks noGrp="1"/>
          </p:cNvSpPr>
          <p:nvPr/>
        </p:nvSpPr>
        <p:spPr>
          <a:xfrm>
            <a:off x="8972550" y="2943225"/>
            <a:ext cx="1762125" cy="419100"/>
          </a:xfrm>
          <a:prstGeom prst="rect">
            <a:avLst/>
          </a:prstGeom>
          <a:noFill/>
          <a:ln w="0">
            <a:noFill/>
            <a:prstDash val="solid"/>
          </a:ln>
        </p:spPr>
        <p:txBody>
          <a:bodyPr anchor="t"/>
          <a:lstStyle/>
          <a:p>
            <a:pPr algn="l">
              <a:buNone/>
              <a:defRPr sz="1650" b="1" i="0">
                <a:solidFill>
                  <a:srgbClr val="13212A"/>
                </a:solidFill>
              </a:defRPr>
            </a:pPr>
            <a:r>
              <a:rPr sz="1650" b="1" i="0">
                <a:solidFill>
                  <a:srgbClr val="13212A"/>
                </a:solidFill>
              </a:rPr>
              <a:t>g3 VALIDATION</a:t>
            </a:r>
          </a:p>
        </p:txBody>
      </p:sp>
      <p:sp>
        <p:nvSpPr>
          <p:cNvPr id="24" name="Rettangolo 23">
            <a:extLst>
              <a:ext uri="{FF2B5EF4-FFF2-40B4-BE49-F238E27FC236}">
                <a16:creationId xmlns:a16="http://schemas.microsoft.com/office/drawing/2014/main" id="{33A70CD8-9182-4AF8-873B-4D0003B08369}"/>
              </a:ext>
            </a:extLst>
          </p:cNvPr>
          <p:cNvSpPr>
            <a:spLocks noGrp="1"/>
          </p:cNvSpPr>
          <p:nvPr/>
        </p:nvSpPr>
        <p:spPr>
          <a:xfrm>
            <a:off x="8972550" y="3457575"/>
            <a:ext cx="1762125" cy="476250"/>
          </a:xfrm>
          <a:prstGeom prst="rect">
            <a:avLst/>
          </a:prstGeom>
          <a:noFill/>
          <a:ln w="0">
            <a:noFill/>
            <a:prstDash val="solid"/>
          </a:ln>
        </p:spPr>
        <p:txBody>
          <a:bodyPr anchor="t"/>
          <a:lstStyle/>
          <a:p>
            <a:pPr algn="l">
              <a:buNone/>
              <a:defRPr sz="1125" b="0" i="0">
                <a:solidFill>
                  <a:srgbClr val="52636D"/>
                </a:solidFill>
              </a:defRPr>
            </a:pPr>
            <a:r>
              <a:rPr sz="1125" b="0" i="0">
                <a:solidFill>
                  <a:srgbClr val="52636D"/>
                </a:solidFill>
              </a:rPr>
              <a:t>Greedy vertex cover at ε = 0.10</a:t>
            </a:r>
          </a:p>
        </p:txBody>
      </p:sp>
      <p:sp>
        <p:nvSpPr>
          <p:cNvPr id="25" name="Rettangolo 24">
            <a:extLst>
              <a:ext uri="{FF2B5EF4-FFF2-40B4-BE49-F238E27FC236}">
                <a16:creationId xmlns:a16="http://schemas.microsoft.com/office/drawing/2014/main" id="{E4E47C6E-DC4B-4736-9748-849E63CFF8A0}"/>
              </a:ext>
            </a:extLst>
          </p:cNvPr>
          <p:cNvSpPr>
            <a:spLocks noGrp="1"/>
          </p:cNvSpPr>
          <p:nvPr/>
        </p:nvSpPr>
        <p:spPr>
          <a:xfrm>
            <a:off x="685800" y="4524375"/>
            <a:ext cx="1524000" cy="285750"/>
          </a:xfrm>
          <a:prstGeom prst="rect">
            <a:avLst/>
          </a:prstGeom>
          <a:noFill/>
          <a:ln w="0">
            <a:noFill/>
            <a:prstDash val="solid"/>
          </a:ln>
        </p:spPr>
        <p:txBody>
          <a:bodyPr anchor="t"/>
          <a:lstStyle/>
          <a:p>
            <a:pPr algn="l">
              <a:buNone/>
              <a:defRPr sz="1500" b="1" i="0">
                <a:solidFill>
                  <a:srgbClr val="B5534A"/>
                </a:solidFill>
              </a:defRPr>
            </a:pPr>
            <a:r>
              <a:rPr sz="1500" b="1" i="0">
                <a:solidFill>
                  <a:srgbClr val="B5534A"/>
                </a:solidFill>
              </a:rPr>
              <a:t>Inputs</a:t>
            </a:r>
          </a:p>
        </p:txBody>
      </p:sp>
      <p:sp>
        <p:nvSpPr>
          <p:cNvPr id="26" name="Rettangolo 25">
            <a:extLst>
              <a:ext uri="{FF2B5EF4-FFF2-40B4-BE49-F238E27FC236}">
                <a16:creationId xmlns:a16="http://schemas.microsoft.com/office/drawing/2014/main" id="{880E2F5A-2084-44DF-B470-B7F0710628C1}"/>
              </a:ext>
            </a:extLst>
          </p:cNvPr>
          <p:cNvSpPr>
            <a:spLocks noGrp="1"/>
          </p:cNvSpPr>
          <p:nvPr/>
        </p:nvSpPr>
        <p:spPr>
          <a:xfrm>
            <a:off x="2286000" y="4524375"/>
            <a:ext cx="7239000" cy="304800"/>
          </a:xfrm>
          <a:prstGeom prst="rect">
            <a:avLst/>
          </a:prstGeom>
          <a:noFill/>
          <a:ln w="0">
            <a:noFill/>
            <a:prstDash val="solid"/>
          </a:ln>
        </p:spPr>
        <p:txBody>
          <a:bodyPr anchor="t"/>
          <a:lstStyle/>
          <a:p>
            <a:pPr algn="l">
              <a:buNone/>
              <a:defRPr sz="1500" b="0" i="0">
                <a:solidFill>
                  <a:srgbClr val="52636D"/>
                </a:solidFill>
              </a:defRPr>
            </a:pPr>
            <a:r>
              <a:rPr sz="1500" b="0" i="0">
                <a:solidFill>
                  <a:srgbClr val="52636D"/>
                </a:solidFill>
              </a:rPr>
              <a:t>8 attributes · similarity thresholds · extent threshold ε</a:t>
            </a:r>
          </a:p>
        </p:txBody>
      </p:sp>
      <p:sp>
        <p:nvSpPr>
          <p:cNvPr id="27" name="Rettangolo 26">
            <a:extLst>
              <a:ext uri="{FF2B5EF4-FFF2-40B4-BE49-F238E27FC236}">
                <a16:creationId xmlns:a16="http://schemas.microsoft.com/office/drawing/2014/main" id="{E7629B46-B38D-4077-9100-39F900E520F5}"/>
              </a:ext>
            </a:extLst>
          </p:cNvPr>
          <p:cNvSpPr>
            <a:spLocks noGrp="1"/>
          </p:cNvSpPr>
          <p:nvPr/>
        </p:nvSpPr>
        <p:spPr>
          <a:xfrm>
            <a:off x="609600" y="5953125"/>
            <a:ext cx="57150" cy="400050"/>
          </a:xfrm>
          <a:prstGeom prst="rect">
            <a:avLst/>
          </a:prstGeom>
          <a:solidFill>
            <a:srgbClr val="167D73"/>
          </a:solidFill>
          <a:ln w="0">
            <a:solidFill>
              <a:srgbClr val="167D73"/>
            </a:solidFill>
            <a:prstDash val="solid"/>
          </a:ln>
        </p:spPr>
        <p:txBody>
          <a:bodyPr/>
          <a:lstStyle/>
          <a:p>
            <a:endParaRPr/>
          </a:p>
        </p:txBody>
      </p:sp>
      <p:sp>
        <p:nvSpPr>
          <p:cNvPr id="28" name="Rettangolo 27">
            <a:extLst>
              <a:ext uri="{FF2B5EF4-FFF2-40B4-BE49-F238E27FC236}">
                <a16:creationId xmlns:a16="http://schemas.microsoft.com/office/drawing/2014/main" id="{36A071C9-05D8-4AFC-BE8E-DE8F8B05BCEA}"/>
              </a:ext>
            </a:extLst>
          </p:cNvPr>
          <p:cNvSpPr>
            <a:spLocks noGrp="1"/>
          </p:cNvSpPr>
          <p:nvPr/>
        </p:nvSpPr>
        <p:spPr>
          <a:xfrm>
            <a:off x="800100" y="5943600"/>
            <a:ext cx="10287000" cy="457200"/>
          </a:xfrm>
          <a:prstGeom prst="rect">
            <a:avLst/>
          </a:prstGeom>
          <a:noFill/>
          <a:ln w="0">
            <a:noFill/>
            <a:prstDash val="solid"/>
          </a:ln>
        </p:spPr>
        <p:txBody>
          <a:bodyPr anchor="t"/>
          <a:lstStyle/>
          <a:p>
            <a:pPr algn="l">
              <a:buNone/>
              <a:defRPr sz="1650" b="1" i="0">
                <a:solidFill>
                  <a:srgbClr val="13212A"/>
                </a:solidFill>
              </a:defRPr>
            </a:pPr>
            <a:r>
              <a:rPr sz="1650" b="1" i="0">
                <a:solidFill>
                  <a:srgbClr val="13212A"/>
                </a:solidFill>
              </a:rPr>
              <a:t>Outputs: minimal RFDs + g3.</a:t>
            </a:r>
          </a:p>
        </p:txBody>
      </p:sp>
    </p:spTree>
    <p:extLst>
      <p:ext uri="{BB962C8B-B14F-4D97-AF65-F5344CB8AC3E}">
        <p14:creationId xmlns:p14="http://schemas.microsoft.com/office/powerpoint/2010/main" val="146323557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5" name="Rettangolo 24">
            <a:extLst>
              <a:ext uri="{FF2B5EF4-FFF2-40B4-BE49-F238E27FC236}">
                <a16:creationId xmlns:a16="http://schemas.microsoft.com/office/drawing/2014/main" id="{EA7FF7E6-77FA-41DB-BEF2-6299CF17CC17}"/>
              </a:ext>
            </a:extLst>
          </p:cNvPr>
          <p:cNvSpPr>
            <a:spLocks noGrp="1"/>
          </p:cNvSpPr>
          <p:nvPr/>
        </p:nvSpPr>
        <p:spPr>
          <a:xfrm>
            <a:off x="609600" y="323850"/>
            <a:ext cx="5905500" cy="228600"/>
          </a:xfrm>
          <a:prstGeom prst="rect">
            <a:avLst/>
          </a:prstGeom>
          <a:noFill/>
          <a:ln w="0">
            <a:noFill/>
            <a:prstDash val="solid"/>
          </a:ln>
        </p:spPr>
        <p:txBody>
          <a:bodyPr anchor="t"/>
          <a:lstStyle/>
          <a:p>
            <a:pPr algn="l">
              <a:buNone/>
              <a:defRPr sz="1125" b="1" i="0">
                <a:solidFill>
                  <a:srgbClr val="167D73"/>
                </a:solidFill>
              </a:defRPr>
            </a:pPr>
            <a:r>
              <a:rPr sz="1125" b="1" i="0">
                <a:solidFill>
                  <a:srgbClr val="167D73"/>
                </a:solidFill>
              </a:rPr>
              <a:t>KDIID · RFD CONSISTENCY PROFILING</a:t>
            </a:r>
          </a:p>
        </p:txBody>
      </p:sp>
      <p:sp>
        <p:nvSpPr>
          <p:cNvPr id="2" name="Rettangolo 1">
            <a:extLst>
              <a:ext uri="{FF2B5EF4-FFF2-40B4-BE49-F238E27FC236}">
                <a16:creationId xmlns:a16="http://schemas.microsoft.com/office/drawing/2014/main" id="{2C0E5688-C056-4932-A9AC-80056261559E}"/>
              </a:ext>
            </a:extLst>
          </p:cNvPr>
          <p:cNvSpPr>
            <a:spLocks noGrp="1"/>
          </p:cNvSpPr>
          <p:nvPr/>
        </p:nvSpPr>
        <p:spPr>
          <a:xfrm>
            <a:off x="609600" y="647700"/>
            <a:ext cx="10668000" cy="666750"/>
          </a:xfrm>
          <a:prstGeom prst="rect">
            <a:avLst/>
          </a:prstGeom>
          <a:noFill/>
          <a:ln w="0">
            <a:noFill/>
            <a:prstDash val="solid"/>
          </a:ln>
        </p:spPr>
        <p:txBody>
          <a:bodyPr anchor="t"/>
          <a:lstStyle/>
          <a:p>
            <a:pPr algn="l">
              <a:buNone/>
              <a:defRPr sz="3600" b="1" i="0">
                <a:solidFill>
                  <a:srgbClr val="13212A"/>
                </a:solidFill>
              </a:defRPr>
            </a:pPr>
            <a:r>
              <a:rPr sz="3600" b="1" i="0">
                <a:solidFill>
                  <a:srgbClr val="13212A"/>
                </a:solidFill>
              </a:rPr>
              <a:t>Post-discovery metrics</a:t>
            </a:r>
          </a:p>
        </p:txBody>
      </p:sp>
      <p:sp>
        <p:nvSpPr>
          <p:cNvPr id="3" name="Connettore dritto 2">
            <a:extLst>
              <a:ext uri="{FF2B5EF4-FFF2-40B4-BE49-F238E27FC236}">
                <a16:creationId xmlns:a16="http://schemas.microsoft.com/office/drawing/2014/main" id="{8DF5A213-605E-46C9-BD80-A6F43E5FE50B}"/>
              </a:ext>
            </a:extLst>
          </p:cNvPr>
          <p:cNvSpPr>
            <a:spLocks noGrp="1"/>
          </p:cNvSpPr>
          <p:nvPr/>
        </p:nvSpPr>
        <p:spPr>
          <a:xfrm>
            <a:off x="609600" y="1381125"/>
            <a:ext cx="10972800" cy="0"/>
          </a:xfrm>
          <a:prstGeom prst="line">
            <a:avLst/>
          </a:prstGeom>
          <a:noFill/>
          <a:ln w="9525">
            <a:solidFill>
              <a:srgbClr val="CBD7D6"/>
            </a:solidFill>
            <a:prstDash val="solid"/>
          </a:ln>
        </p:spPr>
        <p:txBody>
          <a:bodyPr/>
          <a:lstStyle/>
          <a:p>
            <a:endParaRPr/>
          </a:p>
        </p:txBody>
      </p:sp>
      <p:sp>
        <p:nvSpPr>
          <p:cNvPr id="4" name="Rettangolo 3">
            <a:extLst>
              <a:ext uri="{FF2B5EF4-FFF2-40B4-BE49-F238E27FC236}">
                <a16:creationId xmlns:a16="http://schemas.microsoft.com/office/drawing/2014/main" id="{5780D97D-7E39-40BE-86DD-A449D6B65293}"/>
              </a:ext>
            </a:extLst>
          </p:cNvPr>
          <p:cNvSpPr>
            <a:spLocks noGrp="1"/>
          </p:cNvSpPr>
          <p:nvPr/>
        </p:nvSpPr>
        <p:spPr>
          <a:xfrm>
            <a:off x="11144250" y="6419850"/>
            <a:ext cx="438150" cy="209550"/>
          </a:xfrm>
          <a:prstGeom prst="rect">
            <a:avLst/>
          </a:prstGeom>
          <a:noFill/>
          <a:ln w="0">
            <a:noFill/>
            <a:prstDash val="solid"/>
          </a:ln>
        </p:spPr>
        <p:txBody>
          <a:bodyPr anchor="t"/>
          <a:lstStyle/>
          <a:p>
            <a:pPr algn="r">
              <a:buNone/>
              <a:defRPr sz="1125" b="1" i="0">
                <a:solidFill>
                  <a:srgbClr val="52636D"/>
                </a:solidFill>
              </a:defRPr>
            </a:pPr>
            <a:r>
              <a:rPr sz="1125" b="1" i="0">
                <a:solidFill>
                  <a:srgbClr val="52636D"/>
                </a:solidFill>
              </a:rPr>
              <a:t>08</a:t>
            </a:r>
          </a:p>
        </p:txBody>
      </p:sp>
      <p:sp>
        <p:nvSpPr>
          <p:cNvPr id="5" name="Rettangolo 4">
            <a:extLst>
              <a:ext uri="{FF2B5EF4-FFF2-40B4-BE49-F238E27FC236}">
                <a16:creationId xmlns:a16="http://schemas.microsoft.com/office/drawing/2014/main" id="{5816718E-C758-4B3C-AA03-D925100F2CCE}"/>
              </a:ext>
            </a:extLst>
          </p:cNvPr>
          <p:cNvSpPr>
            <a:spLocks noGrp="1"/>
          </p:cNvSpPr>
          <p:nvPr/>
        </p:nvSpPr>
        <p:spPr>
          <a:xfrm>
            <a:off x="647700" y="1809750"/>
            <a:ext cx="3143250" cy="285750"/>
          </a:xfrm>
          <a:prstGeom prst="rect">
            <a:avLst/>
          </a:prstGeom>
          <a:noFill/>
          <a:ln w="0">
            <a:noFill/>
            <a:prstDash val="solid"/>
          </a:ln>
        </p:spPr>
        <p:txBody>
          <a:bodyPr anchor="t"/>
          <a:lstStyle/>
          <a:p>
            <a:pPr algn="l">
              <a:buNone/>
              <a:defRPr sz="1575" b="1" i="0">
                <a:solidFill>
                  <a:srgbClr val="167D73"/>
                </a:solidFill>
              </a:defRPr>
            </a:pPr>
            <a:r>
              <a:rPr sz="1575" b="1" i="0">
                <a:solidFill>
                  <a:srgbClr val="167D73"/>
                </a:solidFill>
              </a:rPr>
              <a:t>SUPPORT</a:t>
            </a:r>
          </a:p>
        </p:txBody>
      </p:sp>
      <p:sp>
        <p:nvSpPr>
          <p:cNvPr id="6" name="Rettangolo 5">
            <a:extLst>
              <a:ext uri="{FF2B5EF4-FFF2-40B4-BE49-F238E27FC236}">
                <a16:creationId xmlns:a16="http://schemas.microsoft.com/office/drawing/2014/main" id="{F92F8903-2188-461D-B9FA-5C9C11CA67F4}"/>
              </a:ext>
            </a:extLst>
          </p:cNvPr>
          <p:cNvSpPr>
            <a:spLocks noGrp="1"/>
          </p:cNvSpPr>
          <p:nvPr/>
        </p:nvSpPr>
        <p:spPr>
          <a:xfrm>
            <a:off x="647700" y="2286000"/>
            <a:ext cx="3143250" cy="723900"/>
          </a:xfrm>
          <a:prstGeom prst="rect">
            <a:avLst/>
          </a:prstGeom>
          <a:noFill/>
          <a:ln w="0">
            <a:noFill/>
            <a:prstDash val="solid"/>
          </a:ln>
        </p:spPr>
        <p:txBody>
          <a:bodyPr anchor="t"/>
          <a:lstStyle/>
          <a:p>
            <a:pPr algn="l">
              <a:buNone/>
              <a:defRPr sz="1875" b="1" i="0">
                <a:solidFill>
                  <a:srgbClr val="13212A"/>
                </a:solidFill>
              </a:defRPr>
            </a:pPr>
            <a:r>
              <a:rPr sz="1875" b="1" i="0">
                <a:solidFill>
                  <a:srgbClr val="13212A"/>
                </a:solidFill>
              </a:rPr>
              <a:t>antecedent pairs / all pairs</a:t>
            </a:r>
          </a:p>
        </p:txBody>
      </p:sp>
      <p:sp>
        <p:nvSpPr>
          <p:cNvPr id="7" name="Rettangolo 6">
            <a:extLst>
              <a:ext uri="{FF2B5EF4-FFF2-40B4-BE49-F238E27FC236}">
                <a16:creationId xmlns:a16="http://schemas.microsoft.com/office/drawing/2014/main" id="{D927B865-440C-4C91-A07B-D9E76B5EF7EA}"/>
              </a:ext>
            </a:extLst>
          </p:cNvPr>
          <p:cNvSpPr>
            <a:spLocks noGrp="1"/>
          </p:cNvSpPr>
          <p:nvPr/>
        </p:nvSpPr>
        <p:spPr>
          <a:xfrm>
            <a:off x="647700" y="3152775"/>
            <a:ext cx="3143250" cy="523875"/>
          </a:xfrm>
          <a:prstGeom prst="rect">
            <a:avLst/>
          </a:prstGeom>
          <a:noFill/>
          <a:ln w="0">
            <a:noFill/>
            <a:prstDash val="solid"/>
          </a:ln>
        </p:spPr>
        <p:txBody>
          <a:bodyPr anchor="t"/>
          <a:lstStyle/>
          <a:p>
            <a:pPr algn="l">
              <a:buNone/>
              <a:defRPr sz="1425" b="0" i="0">
                <a:solidFill>
                  <a:srgbClr val="52636D"/>
                </a:solidFill>
              </a:defRPr>
            </a:pPr>
            <a:r>
              <a:rPr sz="1425" b="0" i="0">
                <a:solidFill>
                  <a:srgbClr val="52636D"/>
                </a:solidFill>
              </a:rPr>
              <a:t>How often are tuples comparable?</a:t>
            </a:r>
          </a:p>
        </p:txBody>
      </p:sp>
      <p:sp>
        <p:nvSpPr>
          <p:cNvPr id="8" name="Connettore dritto 7">
            <a:extLst>
              <a:ext uri="{FF2B5EF4-FFF2-40B4-BE49-F238E27FC236}">
                <a16:creationId xmlns:a16="http://schemas.microsoft.com/office/drawing/2014/main" id="{7B184134-B466-484D-BB4D-1212522F2CC8}"/>
              </a:ext>
            </a:extLst>
          </p:cNvPr>
          <p:cNvSpPr>
            <a:spLocks noGrp="1"/>
          </p:cNvSpPr>
          <p:nvPr/>
        </p:nvSpPr>
        <p:spPr>
          <a:xfrm>
            <a:off x="3981450" y="1771650"/>
            <a:ext cx="0" cy="2095500"/>
          </a:xfrm>
          <a:prstGeom prst="line">
            <a:avLst/>
          </a:prstGeom>
          <a:noFill/>
          <a:ln w="9525">
            <a:solidFill>
              <a:srgbClr val="CBD7D6"/>
            </a:solidFill>
            <a:prstDash val="solid"/>
          </a:ln>
        </p:spPr>
        <p:txBody>
          <a:bodyPr/>
          <a:lstStyle/>
          <a:p>
            <a:endParaRPr/>
          </a:p>
        </p:txBody>
      </p:sp>
      <p:sp>
        <p:nvSpPr>
          <p:cNvPr id="9" name="Rettangolo 8">
            <a:extLst>
              <a:ext uri="{FF2B5EF4-FFF2-40B4-BE49-F238E27FC236}">
                <a16:creationId xmlns:a16="http://schemas.microsoft.com/office/drawing/2014/main" id="{B5F4AD1A-D80E-4992-BC8D-3346F31C78FD}"/>
              </a:ext>
            </a:extLst>
          </p:cNvPr>
          <p:cNvSpPr>
            <a:spLocks noGrp="1"/>
          </p:cNvSpPr>
          <p:nvPr/>
        </p:nvSpPr>
        <p:spPr>
          <a:xfrm>
            <a:off x="4362450" y="1809750"/>
            <a:ext cx="3143250" cy="285750"/>
          </a:xfrm>
          <a:prstGeom prst="rect">
            <a:avLst/>
          </a:prstGeom>
          <a:noFill/>
          <a:ln w="0">
            <a:noFill/>
            <a:prstDash val="solid"/>
          </a:ln>
        </p:spPr>
        <p:txBody>
          <a:bodyPr anchor="t"/>
          <a:lstStyle/>
          <a:p>
            <a:pPr algn="l">
              <a:buNone/>
              <a:defRPr sz="1575" b="1" i="0">
                <a:solidFill>
                  <a:srgbClr val="167D73"/>
                </a:solidFill>
              </a:defRPr>
            </a:pPr>
            <a:r>
              <a:rPr sz="1575" b="1" i="0">
                <a:solidFill>
                  <a:srgbClr val="167D73"/>
                </a:solidFill>
              </a:rPr>
              <a:t>CONFIDENCE</a:t>
            </a:r>
          </a:p>
        </p:txBody>
      </p:sp>
      <p:sp>
        <p:nvSpPr>
          <p:cNvPr id="10" name="Rettangolo 9">
            <a:extLst>
              <a:ext uri="{FF2B5EF4-FFF2-40B4-BE49-F238E27FC236}">
                <a16:creationId xmlns:a16="http://schemas.microsoft.com/office/drawing/2014/main" id="{E04DBE63-C222-4E68-AB72-48FB5549A931}"/>
              </a:ext>
            </a:extLst>
          </p:cNvPr>
          <p:cNvSpPr>
            <a:spLocks noGrp="1"/>
          </p:cNvSpPr>
          <p:nvPr/>
        </p:nvSpPr>
        <p:spPr>
          <a:xfrm>
            <a:off x="4362450" y="2286000"/>
            <a:ext cx="3143250" cy="723900"/>
          </a:xfrm>
          <a:prstGeom prst="rect">
            <a:avLst/>
          </a:prstGeom>
          <a:noFill/>
          <a:ln w="0">
            <a:noFill/>
            <a:prstDash val="solid"/>
          </a:ln>
        </p:spPr>
        <p:txBody>
          <a:bodyPr anchor="t"/>
          <a:lstStyle/>
          <a:p>
            <a:pPr algn="l">
              <a:buNone/>
              <a:defRPr sz="1875" b="1" i="0">
                <a:solidFill>
                  <a:srgbClr val="13212A"/>
                </a:solidFill>
              </a:defRPr>
            </a:pPr>
            <a:r>
              <a:rPr sz="1875" b="1" i="0">
                <a:solidFill>
                  <a:srgbClr val="13212A"/>
                </a:solidFill>
              </a:rPr>
              <a:t>valid pairs / antecedent pairs</a:t>
            </a:r>
          </a:p>
        </p:txBody>
      </p:sp>
      <p:sp>
        <p:nvSpPr>
          <p:cNvPr id="11" name="Rettangolo 10">
            <a:extLst>
              <a:ext uri="{FF2B5EF4-FFF2-40B4-BE49-F238E27FC236}">
                <a16:creationId xmlns:a16="http://schemas.microsoft.com/office/drawing/2014/main" id="{D99E092F-1ED0-4A9C-BBD8-A602D098264A}"/>
              </a:ext>
            </a:extLst>
          </p:cNvPr>
          <p:cNvSpPr>
            <a:spLocks noGrp="1"/>
          </p:cNvSpPr>
          <p:nvPr/>
        </p:nvSpPr>
        <p:spPr>
          <a:xfrm>
            <a:off x="4362450" y="3152775"/>
            <a:ext cx="3143250" cy="523875"/>
          </a:xfrm>
          <a:prstGeom prst="rect">
            <a:avLst/>
          </a:prstGeom>
          <a:noFill/>
          <a:ln w="0">
            <a:noFill/>
            <a:prstDash val="solid"/>
          </a:ln>
        </p:spPr>
        <p:txBody>
          <a:bodyPr anchor="t"/>
          <a:lstStyle/>
          <a:p>
            <a:pPr algn="l">
              <a:buNone/>
              <a:defRPr sz="1425" b="0" i="0">
                <a:solidFill>
                  <a:srgbClr val="52636D"/>
                </a:solidFill>
              </a:defRPr>
            </a:pPr>
            <a:r>
              <a:rPr sz="1425" b="0" i="0">
                <a:solidFill>
                  <a:srgbClr val="52636D"/>
                </a:solidFill>
              </a:rPr>
              <a:t>How often does the rule hold?</a:t>
            </a:r>
          </a:p>
        </p:txBody>
      </p:sp>
      <p:sp>
        <p:nvSpPr>
          <p:cNvPr id="12" name="Connettore dritto 11">
            <a:extLst>
              <a:ext uri="{FF2B5EF4-FFF2-40B4-BE49-F238E27FC236}">
                <a16:creationId xmlns:a16="http://schemas.microsoft.com/office/drawing/2014/main" id="{27B15EB4-119B-4C6F-9C8C-D6DCDB07CA0C}"/>
              </a:ext>
            </a:extLst>
          </p:cNvPr>
          <p:cNvSpPr>
            <a:spLocks noGrp="1"/>
          </p:cNvSpPr>
          <p:nvPr/>
        </p:nvSpPr>
        <p:spPr>
          <a:xfrm>
            <a:off x="7696200" y="1771650"/>
            <a:ext cx="0" cy="2095500"/>
          </a:xfrm>
          <a:prstGeom prst="line">
            <a:avLst/>
          </a:prstGeom>
          <a:noFill/>
          <a:ln w="9525">
            <a:solidFill>
              <a:srgbClr val="CBD7D6"/>
            </a:solidFill>
            <a:prstDash val="solid"/>
          </a:ln>
        </p:spPr>
        <p:txBody>
          <a:bodyPr/>
          <a:lstStyle/>
          <a:p>
            <a:endParaRPr/>
          </a:p>
        </p:txBody>
      </p:sp>
      <p:sp>
        <p:nvSpPr>
          <p:cNvPr id="13" name="Rettangolo 12">
            <a:extLst>
              <a:ext uri="{FF2B5EF4-FFF2-40B4-BE49-F238E27FC236}">
                <a16:creationId xmlns:a16="http://schemas.microsoft.com/office/drawing/2014/main" id="{602E71AE-843F-4386-8ED5-1259181E6930}"/>
              </a:ext>
            </a:extLst>
          </p:cNvPr>
          <p:cNvSpPr>
            <a:spLocks noGrp="1"/>
          </p:cNvSpPr>
          <p:nvPr/>
        </p:nvSpPr>
        <p:spPr>
          <a:xfrm>
            <a:off x="8077200" y="1809750"/>
            <a:ext cx="3143250" cy="285750"/>
          </a:xfrm>
          <a:prstGeom prst="rect">
            <a:avLst/>
          </a:prstGeom>
          <a:noFill/>
          <a:ln w="0">
            <a:noFill/>
            <a:prstDash val="solid"/>
          </a:ln>
        </p:spPr>
        <p:txBody>
          <a:bodyPr anchor="t"/>
          <a:lstStyle/>
          <a:p>
            <a:pPr algn="l">
              <a:buNone/>
              <a:defRPr sz="1575" b="1" i="0">
                <a:solidFill>
                  <a:srgbClr val="167D73"/>
                </a:solidFill>
              </a:defRPr>
            </a:pPr>
            <a:r>
              <a:rPr sz="1575" b="1" i="0">
                <a:solidFill>
                  <a:srgbClr val="167D73"/>
                </a:solidFill>
              </a:rPr>
              <a:t>BASELINE</a:t>
            </a:r>
          </a:p>
        </p:txBody>
      </p:sp>
      <p:sp>
        <p:nvSpPr>
          <p:cNvPr id="14" name="Rettangolo 13">
            <a:extLst>
              <a:ext uri="{FF2B5EF4-FFF2-40B4-BE49-F238E27FC236}">
                <a16:creationId xmlns:a16="http://schemas.microsoft.com/office/drawing/2014/main" id="{507E0640-A974-4E5E-AA0D-3327E69B0481}"/>
              </a:ext>
            </a:extLst>
          </p:cNvPr>
          <p:cNvSpPr>
            <a:spLocks noGrp="1"/>
          </p:cNvSpPr>
          <p:nvPr/>
        </p:nvSpPr>
        <p:spPr>
          <a:xfrm>
            <a:off x="8077200" y="2286000"/>
            <a:ext cx="3143250" cy="723900"/>
          </a:xfrm>
          <a:prstGeom prst="rect">
            <a:avLst/>
          </a:prstGeom>
          <a:noFill/>
          <a:ln w="0">
            <a:noFill/>
            <a:prstDash val="solid"/>
          </a:ln>
        </p:spPr>
        <p:txBody>
          <a:bodyPr anchor="t"/>
          <a:lstStyle/>
          <a:p>
            <a:pPr algn="l">
              <a:buNone/>
              <a:defRPr sz="1875" b="1" i="0">
                <a:solidFill>
                  <a:srgbClr val="13212A"/>
                </a:solidFill>
              </a:defRPr>
            </a:pPr>
            <a:r>
              <a:rPr sz="1875" b="1" i="0">
                <a:solidFill>
                  <a:srgbClr val="13212A"/>
                </a:solidFill>
              </a:rPr>
              <a:t>mean confidence over 30 seeded RHS permutations</a:t>
            </a:r>
          </a:p>
        </p:txBody>
      </p:sp>
      <p:sp>
        <p:nvSpPr>
          <p:cNvPr id="15" name="Rettangolo 14">
            <a:extLst>
              <a:ext uri="{FF2B5EF4-FFF2-40B4-BE49-F238E27FC236}">
                <a16:creationId xmlns:a16="http://schemas.microsoft.com/office/drawing/2014/main" id="{C406B1C0-1834-460C-A114-DA08AD3CC83A}"/>
              </a:ext>
            </a:extLst>
          </p:cNvPr>
          <p:cNvSpPr>
            <a:spLocks noGrp="1"/>
          </p:cNvSpPr>
          <p:nvPr/>
        </p:nvSpPr>
        <p:spPr>
          <a:xfrm>
            <a:off x="8077200" y="3152775"/>
            <a:ext cx="3143250" cy="523875"/>
          </a:xfrm>
          <a:prstGeom prst="rect">
            <a:avLst/>
          </a:prstGeom>
          <a:noFill/>
          <a:ln w="0">
            <a:noFill/>
            <a:prstDash val="solid"/>
          </a:ln>
        </p:spPr>
        <p:txBody>
          <a:bodyPr anchor="t"/>
          <a:lstStyle/>
          <a:p>
            <a:pPr algn="l">
              <a:buNone/>
              <a:defRPr sz="1425" b="0" i="0">
                <a:solidFill>
                  <a:srgbClr val="52636D"/>
                </a:solidFill>
              </a:defRPr>
            </a:pPr>
            <a:r>
              <a:rPr sz="1425" b="0" i="0">
                <a:solidFill>
                  <a:srgbClr val="52636D"/>
                </a:solidFill>
              </a:rPr>
              <a:t>What happens by chance?</a:t>
            </a:r>
          </a:p>
        </p:txBody>
      </p:sp>
      <p:sp>
        <p:nvSpPr>
          <p:cNvPr id="16" name="Rettangolo con angoli arrotondati 15">
            <a:extLst>
              <a:ext uri="{FF2B5EF4-FFF2-40B4-BE49-F238E27FC236}">
                <a16:creationId xmlns:a16="http://schemas.microsoft.com/office/drawing/2014/main" id="{6EFF29B7-CB7D-4133-9A4F-219FD6557918}"/>
              </a:ext>
            </a:extLst>
          </p:cNvPr>
          <p:cNvSpPr>
            <a:spLocks noGrp="1"/>
          </p:cNvSpPr>
          <p:nvPr/>
        </p:nvSpPr>
        <p:spPr>
          <a:xfrm>
            <a:off x="2381250" y="4238625"/>
            <a:ext cx="7429500" cy="1162050"/>
          </a:xfrm>
          <a:prstGeom prst="roundRect">
            <a:avLst>
              <a:gd name="adj" fmla="val 9836"/>
            </a:avLst>
          </a:prstGeom>
          <a:solidFill>
            <a:srgbClr val="EEF4F3"/>
          </a:solidFill>
          <a:ln w="9525">
            <a:solidFill>
              <a:srgbClr val="CBD7D6"/>
            </a:solidFill>
            <a:prstDash val="solid"/>
          </a:ln>
        </p:spPr>
        <p:txBody>
          <a:bodyPr/>
          <a:lstStyle/>
          <a:p>
            <a:endParaRPr/>
          </a:p>
        </p:txBody>
      </p:sp>
      <p:sp>
        <p:nvSpPr>
          <p:cNvPr id="17" name="Rettangolo 16">
            <a:extLst>
              <a:ext uri="{FF2B5EF4-FFF2-40B4-BE49-F238E27FC236}">
                <a16:creationId xmlns:a16="http://schemas.microsoft.com/office/drawing/2014/main" id="{B72076E4-778A-44C3-B895-33D2FC59BCC8}"/>
              </a:ext>
            </a:extLst>
          </p:cNvPr>
          <p:cNvSpPr>
            <a:spLocks noGrp="1"/>
          </p:cNvSpPr>
          <p:nvPr/>
        </p:nvSpPr>
        <p:spPr>
          <a:xfrm>
            <a:off x="2714625" y="4476750"/>
            <a:ext cx="1095375" cy="304800"/>
          </a:xfrm>
          <a:prstGeom prst="rect">
            <a:avLst/>
          </a:prstGeom>
          <a:noFill/>
          <a:ln w="0">
            <a:noFill/>
            <a:prstDash val="solid"/>
          </a:ln>
        </p:spPr>
        <p:txBody>
          <a:bodyPr anchor="t"/>
          <a:lstStyle/>
          <a:p>
            <a:pPr algn="l">
              <a:buNone/>
              <a:defRPr sz="1800" b="1" i="0">
                <a:solidFill>
                  <a:srgbClr val="167D73"/>
                </a:solidFill>
              </a:defRPr>
            </a:pPr>
            <a:r>
              <a:rPr sz="1800" b="1" i="0">
                <a:solidFill>
                  <a:srgbClr val="167D73"/>
                </a:solidFill>
              </a:rPr>
              <a:t>LIFT</a:t>
            </a:r>
          </a:p>
        </p:txBody>
      </p:sp>
      <p:sp>
        <p:nvSpPr>
          <p:cNvPr id="18" name="Rettangolo 17">
            <a:extLst>
              <a:ext uri="{FF2B5EF4-FFF2-40B4-BE49-F238E27FC236}">
                <a16:creationId xmlns:a16="http://schemas.microsoft.com/office/drawing/2014/main" id="{56180BFD-7352-4498-8849-7C8610D4018B}"/>
              </a:ext>
            </a:extLst>
          </p:cNvPr>
          <p:cNvSpPr>
            <a:spLocks noGrp="1"/>
          </p:cNvSpPr>
          <p:nvPr/>
        </p:nvSpPr>
        <p:spPr>
          <a:xfrm>
            <a:off x="4476750" y="4362450"/>
            <a:ext cx="2000250" cy="323850"/>
          </a:xfrm>
          <a:prstGeom prst="rect">
            <a:avLst/>
          </a:prstGeom>
          <a:noFill/>
          <a:ln w="0">
            <a:noFill/>
            <a:prstDash val="solid"/>
          </a:ln>
        </p:spPr>
        <p:txBody>
          <a:bodyPr anchor="t"/>
          <a:lstStyle/>
          <a:p>
            <a:pPr algn="ctr">
              <a:buNone/>
              <a:defRPr sz="2100" b="1" i="0">
                <a:solidFill>
                  <a:srgbClr val="13212A"/>
                </a:solidFill>
              </a:defRPr>
            </a:pPr>
            <a:r>
              <a:rPr sz="2100" b="1" i="0">
                <a:solidFill>
                  <a:srgbClr val="13212A"/>
                </a:solidFill>
              </a:rPr>
              <a:t>confidence</a:t>
            </a:r>
          </a:p>
        </p:txBody>
      </p:sp>
      <p:sp>
        <p:nvSpPr>
          <p:cNvPr id="19" name="Connettore dritto 18">
            <a:extLst>
              <a:ext uri="{FF2B5EF4-FFF2-40B4-BE49-F238E27FC236}">
                <a16:creationId xmlns:a16="http://schemas.microsoft.com/office/drawing/2014/main" id="{F58D1EA2-E68C-4F5B-83C6-F6D3D26F0EBE}"/>
              </a:ext>
            </a:extLst>
          </p:cNvPr>
          <p:cNvSpPr>
            <a:spLocks noGrp="1"/>
          </p:cNvSpPr>
          <p:nvPr/>
        </p:nvSpPr>
        <p:spPr>
          <a:xfrm>
            <a:off x="4495800" y="4781550"/>
            <a:ext cx="1952625" cy="0"/>
          </a:xfrm>
          <a:prstGeom prst="line">
            <a:avLst/>
          </a:prstGeom>
          <a:noFill/>
          <a:ln w="19050">
            <a:solidFill>
              <a:srgbClr val="13212A"/>
            </a:solidFill>
            <a:prstDash val="solid"/>
          </a:ln>
        </p:spPr>
        <p:txBody>
          <a:bodyPr/>
          <a:lstStyle/>
          <a:p>
            <a:endParaRPr/>
          </a:p>
        </p:txBody>
      </p:sp>
      <p:sp>
        <p:nvSpPr>
          <p:cNvPr id="20" name="Rettangolo 19">
            <a:extLst>
              <a:ext uri="{FF2B5EF4-FFF2-40B4-BE49-F238E27FC236}">
                <a16:creationId xmlns:a16="http://schemas.microsoft.com/office/drawing/2014/main" id="{FBB08E2B-D3E4-4C2B-9B13-5A08E6EB2273}"/>
              </a:ext>
            </a:extLst>
          </p:cNvPr>
          <p:cNvSpPr>
            <a:spLocks noGrp="1"/>
          </p:cNvSpPr>
          <p:nvPr/>
        </p:nvSpPr>
        <p:spPr>
          <a:xfrm>
            <a:off x="4286250" y="4857750"/>
            <a:ext cx="2381250" cy="323850"/>
          </a:xfrm>
          <a:prstGeom prst="rect">
            <a:avLst/>
          </a:prstGeom>
          <a:noFill/>
          <a:ln w="0">
            <a:noFill/>
            <a:prstDash val="solid"/>
          </a:ln>
        </p:spPr>
        <p:txBody>
          <a:bodyPr anchor="t"/>
          <a:lstStyle/>
          <a:p>
            <a:pPr algn="ctr">
              <a:buNone/>
              <a:defRPr sz="1800" b="0" i="0">
                <a:solidFill>
                  <a:srgbClr val="13212A"/>
                </a:solidFill>
              </a:defRPr>
            </a:pPr>
            <a:r>
              <a:rPr sz="1800" b="0" i="0">
                <a:solidFill>
                  <a:srgbClr val="13212A"/>
                </a:solidFill>
              </a:rPr>
              <a:t>baseline confidence</a:t>
            </a:r>
          </a:p>
        </p:txBody>
      </p:sp>
      <p:sp>
        <p:nvSpPr>
          <p:cNvPr id="21" name="Rettangolo 20">
            <a:extLst>
              <a:ext uri="{FF2B5EF4-FFF2-40B4-BE49-F238E27FC236}">
                <a16:creationId xmlns:a16="http://schemas.microsoft.com/office/drawing/2014/main" id="{6A929459-419E-439A-B673-A561A10B0589}"/>
              </a:ext>
            </a:extLst>
          </p:cNvPr>
          <p:cNvSpPr>
            <a:spLocks noGrp="1"/>
          </p:cNvSpPr>
          <p:nvPr/>
        </p:nvSpPr>
        <p:spPr>
          <a:xfrm>
            <a:off x="3924300" y="4572000"/>
            <a:ext cx="333375" cy="381000"/>
          </a:xfrm>
          <a:prstGeom prst="rect">
            <a:avLst/>
          </a:prstGeom>
          <a:noFill/>
          <a:ln w="0">
            <a:noFill/>
            <a:prstDash val="solid"/>
          </a:ln>
        </p:spPr>
        <p:txBody>
          <a:bodyPr anchor="t"/>
          <a:lstStyle/>
          <a:p>
            <a:pPr algn="ctr">
              <a:buNone/>
              <a:defRPr sz="2550" b="1" i="0">
                <a:solidFill>
                  <a:srgbClr val="13212A"/>
                </a:solidFill>
              </a:defRPr>
            </a:pPr>
            <a:r>
              <a:rPr sz="2550" b="1" i="0">
                <a:solidFill>
                  <a:srgbClr val="13212A"/>
                </a:solidFill>
              </a:rPr>
              <a:t>=</a:t>
            </a:r>
          </a:p>
        </p:txBody>
      </p:sp>
      <p:sp>
        <p:nvSpPr>
          <p:cNvPr id="22" name="Rettangolo 21">
            <a:extLst>
              <a:ext uri="{FF2B5EF4-FFF2-40B4-BE49-F238E27FC236}">
                <a16:creationId xmlns:a16="http://schemas.microsoft.com/office/drawing/2014/main" id="{486C3ED0-36D0-4A36-9D74-F255294C1B31}"/>
              </a:ext>
            </a:extLst>
          </p:cNvPr>
          <p:cNvSpPr>
            <a:spLocks noGrp="1"/>
          </p:cNvSpPr>
          <p:nvPr/>
        </p:nvSpPr>
        <p:spPr>
          <a:xfrm>
            <a:off x="7000875" y="4572000"/>
            <a:ext cx="2476500" cy="428625"/>
          </a:xfrm>
          <a:prstGeom prst="rect">
            <a:avLst/>
          </a:prstGeom>
          <a:noFill/>
          <a:ln w="0">
            <a:noFill/>
            <a:prstDash val="solid"/>
          </a:ln>
        </p:spPr>
        <p:txBody>
          <a:bodyPr anchor="t"/>
          <a:lstStyle/>
          <a:p>
            <a:pPr algn="l">
              <a:buNone/>
              <a:defRPr sz="1575" b="1" i="0">
                <a:solidFill>
                  <a:srgbClr val="2D6278"/>
                </a:solidFill>
              </a:defRPr>
            </a:pPr>
            <a:r>
              <a:rPr sz="1575" b="1" i="0">
                <a:solidFill>
                  <a:srgbClr val="2D6278"/>
                </a:solidFill>
              </a:rPr>
              <a:t>&gt; 1 means more informative than chance</a:t>
            </a:r>
          </a:p>
        </p:txBody>
      </p:sp>
      <p:sp>
        <p:nvSpPr>
          <p:cNvPr id="23" name="Rettangolo 22">
            <a:extLst>
              <a:ext uri="{FF2B5EF4-FFF2-40B4-BE49-F238E27FC236}">
                <a16:creationId xmlns:a16="http://schemas.microsoft.com/office/drawing/2014/main" id="{213E39F8-E390-4ED1-A62F-4A9EB7BE2E04}"/>
              </a:ext>
            </a:extLst>
          </p:cNvPr>
          <p:cNvSpPr>
            <a:spLocks noGrp="1"/>
          </p:cNvSpPr>
          <p:nvPr/>
        </p:nvSpPr>
        <p:spPr>
          <a:xfrm>
            <a:off x="609600" y="5953125"/>
            <a:ext cx="57150" cy="400050"/>
          </a:xfrm>
          <a:prstGeom prst="rect">
            <a:avLst/>
          </a:prstGeom>
          <a:solidFill>
            <a:srgbClr val="167D73"/>
          </a:solidFill>
          <a:ln w="0">
            <a:solidFill>
              <a:srgbClr val="167D73"/>
            </a:solidFill>
            <a:prstDash val="solid"/>
          </a:ln>
        </p:spPr>
        <p:txBody>
          <a:bodyPr/>
          <a:lstStyle/>
          <a:p>
            <a:endParaRPr/>
          </a:p>
        </p:txBody>
      </p:sp>
      <p:sp>
        <p:nvSpPr>
          <p:cNvPr id="24" name="Rettangolo 23">
            <a:extLst>
              <a:ext uri="{FF2B5EF4-FFF2-40B4-BE49-F238E27FC236}">
                <a16:creationId xmlns:a16="http://schemas.microsoft.com/office/drawing/2014/main" id="{737E12BC-1E75-4D5A-B011-2587C5254388}"/>
              </a:ext>
            </a:extLst>
          </p:cNvPr>
          <p:cNvSpPr>
            <a:spLocks noGrp="1"/>
          </p:cNvSpPr>
          <p:nvPr/>
        </p:nvSpPr>
        <p:spPr>
          <a:xfrm>
            <a:off x="800100" y="5943600"/>
            <a:ext cx="10287000" cy="457200"/>
          </a:xfrm>
          <a:prstGeom prst="rect">
            <a:avLst/>
          </a:prstGeom>
          <a:noFill/>
          <a:ln w="0">
            <a:noFill/>
            <a:prstDash val="solid"/>
          </a:ln>
        </p:spPr>
        <p:txBody>
          <a:bodyPr anchor="t"/>
          <a:lstStyle/>
          <a:p>
            <a:pPr algn="l">
              <a:buNone/>
              <a:defRPr sz="1650" b="1" i="0">
                <a:solidFill>
                  <a:srgbClr val="13212A"/>
                </a:solidFill>
              </a:defRPr>
            </a:pPr>
            <a:r>
              <a:rPr sz="1650" b="1" i="0">
                <a:solidFill>
                  <a:srgbClr val="13212A"/>
                </a:solidFill>
              </a:rPr>
              <a:t>DiMε discovers with g3; support, confidence, baseline, and lift rank its outputs afterward.</a:t>
            </a:r>
          </a:p>
        </p:txBody>
      </p:sp>
    </p:spTree>
    <p:extLst>
      <p:ext uri="{BB962C8B-B14F-4D97-AF65-F5344CB8AC3E}">
        <p14:creationId xmlns:p14="http://schemas.microsoft.com/office/powerpoint/2010/main" val="130441021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42" name="Rettangolo 41">
            <a:extLst>
              <a:ext uri="{FF2B5EF4-FFF2-40B4-BE49-F238E27FC236}">
                <a16:creationId xmlns:a16="http://schemas.microsoft.com/office/drawing/2014/main" id="{2E503169-7B77-42D1-A677-F2A37E609500}"/>
              </a:ext>
            </a:extLst>
          </p:cNvPr>
          <p:cNvSpPr>
            <a:spLocks noGrp="1"/>
          </p:cNvSpPr>
          <p:nvPr/>
        </p:nvSpPr>
        <p:spPr>
          <a:xfrm>
            <a:off x="609600" y="323850"/>
            <a:ext cx="5905500" cy="228600"/>
          </a:xfrm>
          <a:prstGeom prst="rect">
            <a:avLst/>
          </a:prstGeom>
          <a:noFill/>
          <a:ln w="0">
            <a:noFill/>
            <a:prstDash val="solid"/>
          </a:ln>
        </p:spPr>
        <p:txBody>
          <a:bodyPr anchor="t"/>
          <a:lstStyle/>
          <a:p>
            <a:pPr algn="l">
              <a:buNone/>
              <a:defRPr sz="1125" b="1" i="0">
                <a:solidFill>
                  <a:srgbClr val="167D73"/>
                </a:solidFill>
              </a:defRPr>
            </a:pPr>
            <a:r>
              <a:rPr sz="1125" b="1" i="0">
                <a:solidFill>
                  <a:srgbClr val="167D73"/>
                </a:solidFill>
              </a:rPr>
              <a:t>KDIID · RFD CONSISTENCY PROFILING</a:t>
            </a:r>
          </a:p>
        </p:txBody>
      </p:sp>
      <p:sp>
        <p:nvSpPr>
          <p:cNvPr id="2" name="Rettangolo 1">
            <a:extLst>
              <a:ext uri="{FF2B5EF4-FFF2-40B4-BE49-F238E27FC236}">
                <a16:creationId xmlns:a16="http://schemas.microsoft.com/office/drawing/2014/main" id="{E1EE630B-F717-4C12-92EF-AEBC0989613E}"/>
              </a:ext>
            </a:extLst>
          </p:cNvPr>
          <p:cNvSpPr>
            <a:spLocks noGrp="1"/>
          </p:cNvSpPr>
          <p:nvPr/>
        </p:nvSpPr>
        <p:spPr>
          <a:xfrm>
            <a:off x="609600" y="647700"/>
            <a:ext cx="10668000" cy="666750"/>
          </a:xfrm>
          <a:prstGeom prst="rect">
            <a:avLst/>
          </a:prstGeom>
          <a:noFill/>
          <a:ln w="0">
            <a:noFill/>
            <a:prstDash val="solid"/>
          </a:ln>
        </p:spPr>
        <p:txBody>
          <a:bodyPr anchor="t"/>
          <a:lstStyle/>
          <a:p>
            <a:pPr algn="l">
              <a:buNone/>
              <a:defRPr sz="3600" b="1" i="0">
                <a:solidFill>
                  <a:srgbClr val="13212A"/>
                </a:solidFill>
              </a:defRPr>
            </a:pPr>
            <a:r>
              <a:rPr sz="3600" b="1" i="0">
                <a:solidFill>
                  <a:srgbClr val="13212A"/>
                </a:solidFill>
              </a:rPr>
              <a:t>DiMε pipeline step</a:t>
            </a:r>
          </a:p>
        </p:txBody>
      </p:sp>
      <p:sp>
        <p:nvSpPr>
          <p:cNvPr id="3" name="Connettore dritto 2">
            <a:extLst>
              <a:ext uri="{FF2B5EF4-FFF2-40B4-BE49-F238E27FC236}">
                <a16:creationId xmlns:a16="http://schemas.microsoft.com/office/drawing/2014/main" id="{64531002-B562-4955-A996-DA971F71A449}"/>
              </a:ext>
            </a:extLst>
          </p:cNvPr>
          <p:cNvSpPr>
            <a:spLocks noGrp="1"/>
          </p:cNvSpPr>
          <p:nvPr/>
        </p:nvSpPr>
        <p:spPr>
          <a:xfrm>
            <a:off x="609600" y="1381125"/>
            <a:ext cx="10972800" cy="0"/>
          </a:xfrm>
          <a:prstGeom prst="line">
            <a:avLst/>
          </a:prstGeom>
          <a:noFill/>
          <a:ln w="9525">
            <a:solidFill>
              <a:srgbClr val="CBD7D6"/>
            </a:solidFill>
            <a:prstDash val="solid"/>
          </a:ln>
        </p:spPr>
        <p:txBody>
          <a:bodyPr/>
          <a:lstStyle/>
          <a:p>
            <a:endParaRPr/>
          </a:p>
        </p:txBody>
      </p:sp>
      <p:sp>
        <p:nvSpPr>
          <p:cNvPr id="4" name="Rettangolo 3">
            <a:extLst>
              <a:ext uri="{FF2B5EF4-FFF2-40B4-BE49-F238E27FC236}">
                <a16:creationId xmlns:a16="http://schemas.microsoft.com/office/drawing/2014/main" id="{42DADA48-A67C-4A73-8714-30654DE5A21A}"/>
              </a:ext>
            </a:extLst>
          </p:cNvPr>
          <p:cNvSpPr>
            <a:spLocks noGrp="1"/>
          </p:cNvSpPr>
          <p:nvPr/>
        </p:nvSpPr>
        <p:spPr>
          <a:xfrm>
            <a:off x="11144250" y="6419850"/>
            <a:ext cx="438150" cy="209550"/>
          </a:xfrm>
          <a:prstGeom prst="rect">
            <a:avLst/>
          </a:prstGeom>
          <a:noFill/>
          <a:ln w="0">
            <a:noFill/>
            <a:prstDash val="solid"/>
          </a:ln>
        </p:spPr>
        <p:txBody>
          <a:bodyPr anchor="t"/>
          <a:lstStyle/>
          <a:p>
            <a:pPr algn="r">
              <a:buNone/>
              <a:defRPr sz="1125" b="1" i="0">
                <a:solidFill>
                  <a:srgbClr val="52636D"/>
                </a:solidFill>
              </a:defRPr>
            </a:pPr>
            <a:r>
              <a:rPr sz="1125" b="1" i="0">
                <a:solidFill>
                  <a:srgbClr val="52636D"/>
                </a:solidFill>
              </a:rPr>
              <a:t>09</a:t>
            </a:r>
          </a:p>
        </p:txBody>
      </p:sp>
      <p:sp>
        <p:nvSpPr>
          <p:cNvPr id="5" name="Freccia destra 4">
            <a:extLst>
              <a:ext uri="{FF2B5EF4-FFF2-40B4-BE49-F238E27FC236}">
                <a16:creationId xmlns:a16="http://schemas.microsoft.com/office/drawing/2014/main" id="{7F5DCFEB-6FDD-4B36-B21A-A95BAB1B9C92}"/>
              </a:ext>
            </a:extLst>
          </p:cNvPr>
          <p:cNvSpPr>
            <a:spLocks noGrp="1"/>
          </p:cNvSpPr>
          <p:nvPr/>
        </p:nvSpPr>
        <p:spPr>
          <a:xfrm>
            <a:off x="1647825" y="3000375"/>
            <a:ext cx="400050" cy="266700"/>
          </a:xfrm>
          <a:prstGeom prst="rightArrow">
            <a:avLst/>
          </a:prstGeom>
          <a:solidFill>
            <a:srgbClr val="D9EFEC"/>
          </a:solidFill>
          <a:ln w="0">
            <a:solidFill>
              <a:srgbClr val="D9EFEC"/>
            </a:solidFill>
            <a:prstDash val="solid"/>
          </a:ln>
        </p:spPr>
        <p:txBody>
          <a:bodyPr/>
          <a:lstStyle/>
          <a:p>
            <a:endParaRPr/>
          </a:p>
        </p:txBody>
      </p:sp>
      <p:sp>
        <p:nvSpPr>
          <p:cNvPr id="6" name="Freccia destra 5">
            <a:extLst>
              <a:ext uri="{FF2B5EF4-FFF2-40B4-BE49-F238E27FC236}">
                <a16:creationId xmlns:a16="http://schemas.microsoft.com/office/drawing/2014/main" id="{A8ADD131-C29B-4BDF-AC04-1C8C5575EC39}"/>
              </a:ext>
            </a:extLst>
          </p:cNvPr>
          <p:cNvSpPr>
            <a:spLocks noGrp="1"/>
          </p:cNvSpPr>
          <p:nvPr/>
        </p:nvSpPr>
        <p:spPr>
          <a:xfrm>
            <a:off x="3086100" y="3000375"/>
            <a:ext cx="400050" cy="266700"/>
          </a:xfrm>
          <a:prstGeom prst="rightArrow">
            <a:avLst/>
          </a:prstGeom>
          <a:solidFill>
            <a:srgbClr val="D9EFEC"/>
          </a:solidFill>
          <a:ln w="0">
            <a:solidFill>
              <a:srgbClr val="D9EFEC"/>
            </a:solidFill>
            <a:prstDash val="solid"/>
          </a:ln>
        </p:spPr>
        <p:txBody>
          <a:bodyPr/>
          <a:lstStyle/>
          <a:p>
            <a:endParaRPr/>
          </a:p>
        </p:txBody>
      </p:sp>
      <p:sp>
        <p:nvSpPr>
          <p:cNvPr id="7" name="Freccia destra 6">
            <a:extLst>
              <a:ext uri="{FF2B5EF4-FFF2-40B4-BE49-F238E27FC236}">
                <a16:creationId xmlns:a16="http://schemas.microsoft.com/office/drawing/2014/main" id="{81941055-B1B1-404F-9ACE-0AB28DA167A6}"/>
              </a:ext>
            </a:extLst>
          </p:cNvPr>
          <p:cNvSpPr>
            <a:spLocks noGrp="1"/>
          </p:cNvSpPr>
          <p:nvPr/>
        </p:nvSpPr>
        <p:spPr>
          <a:xfrm>
            <a:off x="4524375" y="3000375"/>
            <a:ext cx="400050" cy="266700"/>
          </a:xfrm>
          <a:prstGeom prst="rightArrow">
            <a:avLst/>
          </a:prstGeom>
          <a:solidFill>
            <a:srgbClr val="D9EFEC"/>
          </a:solidFill>
          <a:ln w="0">
            <a:solidFill>
              <a:srgbClr val="D9EFEC"/>
            </a:solidFill>
            <a:prstDash val="solid"/>
          </a:ln>
        </p:spPr>
        <p:txBody>
          <a:bodyPr/>
          <a:lstStyle/>
          <a:p>
            <a:endParaRPr/>
          </a:p>
        </p:txBody>
      </p:sp>
      <p:sp>
        <p:nvSpPr>
          <p:cNvPr id="8" name="Freccia destra 7">
            <a:extLst>
              <a:ext uri="{FF2B5EF4-FFF2-40B4-BE49-F238E27FC236}">
                <a16:creationId xmlns:a16="http://schemas.microsoft.com/office/drawing/2014/main" id="{B580305D-D694-4E4F-9F3E-EB93AA2C60D2}"/>
              </a:ext>
            </a:extLst>
          </p:cNvPr>
          <p:cNvSpPr>
            <a:spLocks noGrp="1"/>
          </p:cNvSpPr>
          <p:nvPr/>
        </p:nvSpPr>
        <p:spPr>
          <a:xfrm>
            <a:off x="5962650" y="3000375"/>
            <a:ext cx="400050" cy="266700"/>
          </a:xfrm>
          <a:prstGeom prst="rightArrow">
            <a:avLst/>
          </a:prstGeom>
          <a:solidFill>
            <a:srgbClr val="D9EFEC"/>
          </a:solidFill>
          <a:ln w="0">
            <a:solidFill>
              <a:srgbClr val="D9EFEC"/>
            </a:solidFill>
            <a:prstDash val="solid"/>
          </a:ln>
        </p:spPr>
        <p:txBody>
          <a:bodyPr/>
          <a:lstStyle/>
          <a:p>
            <a:endParaRPr/>
          </a:p>
        </p:txBody>
      </p:sp>
      <p:sp>
        <p:nvSpPr>
          <p:cNvPr id="9" name="Freccia destra 8">
            <a:extLst>
              <a:ext uri="{FF2B5EF4-FFF2-40B4-BE49-F238E27FC236}">
                <a16:creationId xmlns:a16="http://schemas.microsoft.com/office/drawing/2014/main" id="{2F6F717F-5CB6-4D24-A2D9-CD525A4191DD}"/>
              </a:ext>
            </a:extLst>
          </p:cNvPr>
          <p:cNvSpPr>
            <a:spLocks noGrp="1"/>
          </p:cNvSpPr>
          <p:nvPr/>
        </p:nvSpPr>
        <p:spPr>
          <a:xfrm>
            <a:off x="7400925" y="3000375"/>
            <a:ext cx="400050" cy="266700"/>
          </a:xfrm>
          <a:prstGeom prst="rightArrow">
            <a:avLst/>
          </a:prstGeom>
          <a:solidFill>
            <a:srgbClr val="D9EFEC"/>
          </a:solidFill>
          <a:ln w="0">
            <a:solidFill>
              <a:srgbClr val="D9EFEC"/>
            </a:solidFill>
            <a:prstDash val="solid"/>
          </a:ln>
        </p:spPr>
        <p:txBody>
          <a:bodyPr/>
          <a:lstStyle/>
          <a:p>
            <a:endParaRPr/>
          </a:p>
        </p:txBody>
      </p:sp>
      <p:sp>
        <p:nvSpPr>
          <p:cNvPr id="10" name="Freccia destra 9">
            <a:extLst>
              <a:ext uri="{FF2B5EF4-FFF2-40B4-BE49-F238E27FC236}">
                <a16:creationId xmlns:a16="http://schemas.microsoft.com/office/drawing/2014/main" id="{0ED5B090-9154-4703-A218-AF70BB7A0612}"/>
              </a:ext>
            </a:extLst>
          </p:cNvPr>
          <p:cNvSpPr>
            <a:spLocks noGrp="1"/>
          </p:cNvSpPr>
          <p:nvPr/>
        </p:nvSpPr>
        <p:spPr>
          <a:xfrm>
            <a:off x="8839200" y="3000375"/>
            <a:ext cx="400050" cy="266700"/>
          </a:xfrm>
          <a:prstGeom prst="rightArrow">
            <a:avLst/>
          </a:prstGeom>
          <a:solidFill>
            <a:srgbClr val="D9EFEC"/>
          </a:solidFill>
          <a:ln w="0">
            <a:solidFill>
              <a:srgbClr val="D9EFEC"/>
            </a:solidFill>
            <a:prstDash val="solid"/>
          </a:ln>
        </p:spPr>
        <p:txBody>
          <a:bodyPr/>
          <a:lstStyle/>
          <a:p>
            <a:endParaRPr/>
          </a:p>
        </p:txBody>
      </p:sp>
      <p:sp>
        <p:nvSpPr>
          <p:cNvPr id="11" name="Freccia destra 10">
            <a:extLst>
              <a:ext uri="{FF2B5EF4-FFF2-40B4-BE49-F238E27FC236}">
                <a16:creationId xmlns:a16="http://schemas.microsoft.com/office/drawing/2014/main" id="{015FF4A8-EF76-4C8A-9296-B75E0952F5DA}"/>
              </a:ext>
            </a:extLst>
          </p:cNvPr>
          <p:cNvSpPr>
            <a:spLocks noGrp="1"/>
          </p:cNvSpPr>
          <p:nvPr/>
        </p:nvSpPr>
        <p:spPr>
          <a:xfrm>
            <a:off x="10277475" y="3000375"/>
            <a:ext cx="400050" cy="266700"/>
          </a:xfrm>
          <a:prstGeom prst="rightArrow">
            <a:avLst/>
          </a:prstGeom>
          <a:solidFill>
            <a:srgbClr val="D9EFEC"/>
          </a:solidFill>
          <a:ln w="0">
            <a:solidFill>
              <a:srgbClr val="D9EFEC"/>
            </a:solidFill>
            <a:prstDash val="solid"/>
          </a:ln>
        </p:spPr>
        <p:txBody>
          <a:bodyPr/>
          <a:lstStyle/>
          <a:p>
            <a:endParaRPr/>
          </a:p>
        </p:txBody>
      </p:sp>
      <p:sp>
        <p:nvSpPr>
          <p:cNvPr id="12" name="Rettangolo con angoli arrotondati 11">
            <a:extLst>
              <a:ext uri="{FF2B5EF4-FFF2-40B4-BE49-F238E27FC236}">
                <a16:creationId xmlns:a16="http://schemas.microsoft.com/office/drawing/2014/main" id="{07122F98-60BD-475C-BD52-5078D15FC989}"/>
              </a:ext>
            </a:extLst>
          </p:cNvPr>
          <p:cNvSpPr>
            <a:spLocks noGrp="1"/>
          </p:cNvSpPr>
          <p:nvPr/>
        </p:nvSpPr>
        <p:spPr>
          <a:xfrm>
            <a:off x="523875" y="2571750"/>
            <a:ext cx="1181100" cy="1143000"/>
          </a:xfrm>
          <a:prstGeom prst="roundRect">
            <a:avLst>
              <a:gd name="adj" fmla="val 10000"/>
            </a:avLst>
          </a:prstGeom>
          <a:solidFill>
            <a:srgbClr val="F7F9F8"/>
          </a:solidFill>
          <a:ln w="9525">
            <a:solidFill>
              <a:srgbClr val="CBD7D6"/>
            </a:solidFill>
            <a:prstDash val="solid"/>
          </a:ln>
        </p:spPr>
        <p:txBody>
          <a:bodyPr/>
          <a:lstStyle/>
          <a:p>
            <a:endParaRPr/>
          </a:p>
        </p:txBody>
      </p:sp>
      <p:sp>
        <p:nvSpPr>
          <p:cNvPr id="13" name="Rettangolo 12">
            <a:extLst>
              <a:ext uri="{FF2B5EF4-FFF2-40B4-BE49-F238E27FC236}">
                <a16:creationId xmlns:a16="http://schemas.microsoft.com/office/drawing/2014/main" id="{87D978A6-A915-4473-8A4D-5863C487EC3A}"/>
              </a:ext>
            </a:extLst>
          </p:cNvPr>
          <p:cNvSpPr>
            <a:spLocks noGrp="1"/>
          </p:cNvSpPr>
          <p:nvPr/>
        </p:nvSpPr>
        <p:spPr>
          <a:xfrm>
            <a:off x="638175" y="2686050"/>
            <a:ext cx="400050" cy="190500"/>
          </a:xfrm>
          <a:prstGeom prst="rect">
            <a:avLst/>
          </a:prstGeom>
          <a:noFill/>
          <a:ln w="0">
            <a:noFill/>
            <a:prstDash val="solid"/>
          </a:ln>
        </p:spPr>
        <p:txBody>
          <a:bodyPr anchor="t"/>
          <a:lstStyle/>
          <a:p>
            <a:pPr algn="l">
              <a:buNone/>
              <a:defRPr sz="975" b="1" i="0">
                <a:solidFill>
                  <a:srgbClr val="167D73"/>
                </a:solidFill>
              </a:defRPr>
            </a:pPr>
            <a:r>
              <a:rPr sz="975" b="1" i="0">
                <a:solidFill>
                  <a:srgbClr val="167D73"/>
                </a:solidFill>
              </a:rPr>
              <a:t>01</a:t>
            </a:r>
          </a:p>
        </p:txBody>
      </p:sp>
      <p:sp>
        <p:nvSpPr>
          <p:cNvPr id="14" name="Rettangolo 13">
            <a:extLst>
              <a:ext uri="{FF2B5EF4-FFF2-40B4-BE49-F238E27FC236}">
                <a16:creationId xmlns:a16="http://schemas.microsoft.com/office/drawing/2014/main" id="{3F44B011-5710-4DDF-A4A5-65BBB3B0A038}"/>
              </a:ext>
            </a:extLst>
          </p:cNvPr>
          <p:cNvSpPr>
            <a:spLocks noGrp="1"/>
          </p:cNvSpPr>
          <p:nvPr/>
        </p:nvSpPr>
        <p:spPr>
          <a:xfrm>
            <a:off x="581025" y="3000375"/>
            <a:ext cx="1066800" cy="523875"/>
          </a:xfrm>
          <a:prstGeom prst="rect">
            <a:avLst/>
          </a:prstGeom>
          <a:noFill/>
          <a:ln w="0">
            <a:noFill/>
            <a:prstDash val="solid"/>
          </a:ln>
        </p:spPr>
        <p:txBody>
          <a:bodyPr anchor="ctr"/>
          <a:lstStyle/>
          <a:p>
            <a:pPr algn="ctr">
              <a:buNone/>
              <a:defRPr sz="1200" b="1" i="0">
                <a:solidFill>
                  <a:srgbClr val="13212A"/>
                </a:solidFill>
              </a:defRPr>
            </a:pPr>
            <a:r>
              <a:rPr sz="1200" b="1" i="0">
                <a:solidFill>
                  <a:srgbClr val="13212A"/>
                </a:solidFill>
              </a:rPr>
              <a:t>Preprocess</a:t>
            </a:r>
          </a:p>
        </p:txBody>
      </p:sp>
      <p:sp>
        <p:nvSpPr>
          <p:cNvPr id="15" name="Rettangolo con angoli arrotondati 14">
            <a:extLst>
              <a:ext uri="{FF2B5EF4-FFF2-40B4-BE49-F238E27FC236}">
                <a16:creationId xmlns:a16="http://schemas.microsoft.com/office/drawing/2014/main" id="{5C410EE8-F616-481C-91AB-6EDE4E3307A1}"/>
              </a:ext>
            </a:extLst>
          </p:cNvPr>
          <p:cNvSpPr>
            <a:spLocks noGrp="1"/>
          </p:cNvSpPr>
          <p:nvPr/>
        </p:nvSpPr>
        <p:spPr>
          <a:xfrm>
            <a:off x="1962150" y="2571750"/>
            <a:ext cx="1181100" cy="1143000"/>
          </a:xfrm>
          <a:prstGeom prst="roundRect">
            <a:avLst>
              <a:gd name="adj" fmla="val 10000"/>
            </a:avLst>
          </a:prstGeom>
          <a:solidFill>
            <a:srgbClr val="F7F9F8"/>
          </a:solidFill>
          <a:ln w="9525">
            <a:solidFill>
              <a:srgbClr val="CBD7D6"/>
            </a:solidFill>
            <a:prstDash val="solid"/>
          </a:ln>
        </p:spPr>
        <p:txBody>
          <a:bodyPr/>
          <a:lstStyle/>
          <a:p>
            <a:endParaRPr/>
          </a:p>
        </p:txBody>
      </p:sp>
      <p:sp>
        <p:nvSpPr>
          <p:cNvPr id="16" name="Rettangolo 15">
            <a:extLst>
              <a:ext uri="{FF2B5EF4-FFF2-40B4-BE49-F238E27FC236}">
                <a16:creationId xmlns:a16="http://schemas.microsoft.com/office/drawing/2014/main" id="{F5144425-3697-4729-939F-A8BC833A3DE8}"/>
              </a:ext>
            </a:extLst>
          </p:cNvPr>
          <p:cNvSpPr>
            <a:spLocks noGrp="1"/>
          </p:cNvSpPr>
          <p:nvPr/>
        </p:nvSpPr>
        <p:spPr>
          <a:xfrm>
            <a:off x="2076450" y="2686050"/>
            <a:ext cx="400050" cy="190500"/>
          </a:xfrm>
          <a:prstGeom prst="rect">
            <a:avLst/>
          </a:prstGeom>
          <a:noFill/>
          <a:ln w="0">
            <a:noFill/>
            <a:prstDash val="solid"/>
          </a:ln>
        </p:spPr>
        <p:txBody>
          <a:bodyPr anchor="t"/>
          <a:lstStyle/>
          <a:p>
            <a:pPr algn="l">
              <a:buNone/>
              <a:defRPr sz="975" b="1" i="0">
                <a:solidFill>
                  <a:srgbClr val="167D73"/>
                </a:solidFill>
              </a:defRPr>
            </a:pPr>
            <a:r>
              <a:rPr sz="975" b="1" i="0">
                <a:solidFill>
                  <a:srgbClr val="167D73"/>
                </a:solidFill>
              </a:rPr>
              <a:t>02</a:t>
            </a:r>
          </a:p>
        </p:txBody>
      </p:sp>
      <p:sp>
        <p:nvSpPr>
          <p:cNvPr id="17" name="Rettangolo 16">
            <a:extLst>
              <a:ext uri="{FF2B5EF4-FFF2-40B4-BE49-F238E27FC236}">
                <a16:creationId xmlns:a16="http://schemas.microsoft.com/office/drawing/2014/main" id="{A3243822-7747-4AA5-899E-0A5ED1769B9C}"/>
              </a:ext>
            </a:extLst>
          </p:cNvPr>
          <p:cNvSpPr>
            <a:spLocks noGrp="1"/>
          </p:cNvSpPr>
          <p:nvPr/>
        </p:nvSpPr>
        <p:spPr>
          <a:xfrm>
            <a:off x="2019300" y="3000375"/>
            <a:ext cx="1066800" cy="523875"/>
          </a:xfrm>
          <a:prstGeom prst="rect">
            <a:avLst/>
          </a:prstGeom>
          <a:noFill/>
          <a:ln w="0">
            <a:noFill/>
            <a:prstDash val="solid"/>
          </a:ln>
        </p:spPr>
        <p:txBody>
          <a:bodyPr anchor="ctr"/>
          <a:lstStyle/>
          <a:p>
            <a:pPr algn="ctr">
              <a:buNone/>
              <a:defRPr sz="1200" b="1" i="0">
                <a:solidFill>
                  <a:srgbClr val="13212A"/>
                </a:solidFill>
              </a:defRPr>
            </a:pPr>
            <a:r>
              <a:rPr sz="1200" b="1" i="0">
                <a:solidFill>
                  <a:srgbClr val="13212A"/>
                </a:solidFill>
              </a:rPr>
              <a:t>Profile</a:t>
            </a:r>
          </a:p>
        </p:txBody>
      </p:sp>
      <p:sp>
        <p:nvSpPr>
          <p:cNvPr id="18" name="Rettangolo con angoli arrotondati 17">
            <a:extLst>
              <a:ext uri="{FF2B5EF4-FFF2-40B4-BE49-F238E27FC236}">
                <a16:creationId xmlns:a16="http://schemas.microsoft.com/office/drawing/2014/main" id="{1D376C61-8426-4F71-A784-545014A6BE5C}"/>
              </a:ext>
            </a:extLst>
          </p:cNvPr>
          <p:cNvSpPr>
            <a:spLocks noGrp="1"/>
          </p:cNvSpPr>
          <p:nvPr/>
        </p:nvSpPr>
        <p:spPr>
          <a:xfrm>
            <a:off x="3400425" y="2571750"/>
            <a:ext cx="1181100" cy="1143000"/>
          </a:xfrm>
          <a:prstGeom prst="roundRect">
            <a:avLst>
              <a:gd name="adj" fmla="val 10000"/>
            </a:avLst>
          </a:prstGeom>
          <a:solidFill>
            <a:srgbClr val="F7F9F8"/>
          </a:solidFill>
          <a:ln w="9525">
            <a:solidFill>
              <a:srgbClr val="CBD7D6"/>
            </a:solidFill>
            <a:prstDash val="solid"/>
          </a:ln>
        </p:spPr>
        <p:txBody>
          <a:bodyPr/>
          <a:lstStyle/>
          <a:p>
            <a:endParaRPr/>
          </a:p>
        </p:txBody>
      </p:sp>
      <p:sp>
        <p:nvSpPr>
          <p:cNvPr id="19" name="Rettangolo 18">
            <a:extLst>
              <a:ext uri="{FF2B5EF4-FFF2-40B4-BE49-F238E27FC236}">
                <a16:creationId xmlns:a16="http://schemas.microsoft.com/office/drawing/2014/main" id="{4E0E4A8B-7E78-4917-B576-2DB11EBD3A22}"/>
              </a:ext>
            </a:extLst>
          </p:cNvPr>
          <p:cNvSpPr>
            <a:spLocks noGrp="1"/>
          </p:cNvSpPr>
          <p:nvPr/>
        </p:nvSpPr>
        <p:spPr>
          <a:xfrm>
            <a:off x="3514725" y="2686050"/>
            <a:ext cx="400050" cy="190500"/>
          </a:xfrm>
          <a:prstGeom prst="rect">
            <a:avLst/>
          </a:prstGeom>
          <a:noFill/>
          <a:ln w="0">
            <a:noFill/>
            <a:prstDash val="solid"/>
          </a:ln>
        </p:spPr>
        <p:txBody>
          <a:bodyPr anchor="t"/>
          <a:lstStyle/>
          <a:p>
            <a:pPr algn="l">
              <a:buNone/>
              <a:defRPr sz="975" b="1" i="0">
                <a:solidFill>
                  <a:srgbClr val="167D73"/>
                </a:solidFill>
              </a:defRPr>
            </a:pPr>
            <a:r>
              <a:rPr sz="975" b="1" i="0">
                <a:solidFill>
                  <a:srgbClr val="167D73"/>
                </a:solidFill>
              </a:rPr>
              <a:t>03</a:t>
            </a:r>
          </a:p>
        </p:txBody>
      </p:sp>
      <p:sp>
        <p:nvSpPr>
          <p:cNvPr id="20" name="Rettangolo 19">
            <a:extLst>
              <a:ext uri="{FF2B5EF4-FFF2-40B4-BE49-F238E27FC236}">
                <a16:creationId xmlns:a16="http://schemas.microsoft.com/office/drawing/2014/main" id="{6454D5BC-8961-4DEF-BE37-EACD6DED098E}"/>
              </a:ext>
            </a:extLst>
          </p:cNvPr>
          <p:cNvSpPr>
            <a:spLocks noGrp="1"/>
          </p:cNvSpPr>
          <p:nvPr/>
        </p:nvSpPr>
        <p:spPr>
          <a:xfrm>
            <a:off x="3457575" y="3000375"/>
            <a:ext cx="1066800" cy="523875"/>
          </a:xfrm>
          <a:prstGeom prst="rect">
            <a:avLst/>
          </a:prstGeom>
          <a:noFill/>
          <a:ln w="0">
            <a:noFill/>
            <a:prstDash val="solid"/>
          </a:ln>
        </p:spPr>
        <p:txBody>
          <a:bodyPr anchor="ctr"/>
          <a:lstStyle/>
          <a:p>
            <a:pPr algn="ctr">
              <a:buNone/>
              <a:defRPr sz="1200" b="1" i="0">
                <a:solidFill>
                  <a:srgbClr val="13212A"/>
                </a:solidFill>
              </a:defRPr>
            </a:pPr>
            <a:r>
              <a:rPr sz="1200" b="1" i="0">
                <a:solidFill>
                  <a:srgbClr val="13212A"/>
                </a:solidFill>
              </a:rPr>
              <a:t>Weekly</a:t>
            </a:r>
          </a:p>
          <a:p>
            <a:pPr algn="ctr">
              <a:buNone/>
              <a:defRPr sz="1200" b="1" i="0">
                <a:solidFill>
                  <a:srgbClr val="13212A"/>
                </a:solidFill>
              </a:defRPr>
            </a:pPr>
            <a:r>
              <a:rPr sz="1200" b="1" i="0">
                <a:solidFill>
                  <a:srgbClr val="13212A"/>
                </a:solidFill>
              </a:rPr>
              <a:t>projection</a:t>
            </a:r>
          </a:p>
        </p:txBody>
      </p:sp>
      <p:sp>
        <p:nvSpPr>
          <p:cNvPr id="21" name="Rettangolo con angoli arrotondati 20">
            <a:extLst>
              <a:ext uri="{FF2B5EF4-FFF2-40B4-BE49-F238E27FC236}">
                <a16:creationId xmlns:a16="http://schemas.microsoft.com/office/drawing/2014/main" id="{976C27F6-AE28-45E9-9F97-131A1A85748F}"/>
              </a:ext>
            </a:extLst>
          </p:cNvPr>
          <p:cNvSpPr>
            <a:spLocks noGrp="1"/>
          </p:cNvSpPr>
          <p:nvPr/>
        </p:nvSpPr>
        <p:spPr>
          <a:xfrm>
            <a:off x="4838700" y="2571750"/>
            <a:ext cx="1181100" cy="1143000"/>
          </a:xfrm>
          <a:prstGeom prst="roundRect">
            <a:avLst>
              <a:gd name="adj" fmla="val 10000"/>
            </a:avLst>
          </a:prstGeom>
          <a:solidFill>
            <a:srgbClr val="F7F9F8"/>
          </a:solidFill>
          <a:ln w="9525">
            <a:solidFill>
              <a:srgbClr val="CBD7D6"/>
            </a:solidFill>
            <a:prstDash val="solid"/>
          </a:ln>
        </p:spPr>
        <p:txBody>
          <a:bodyPr/>
          <a:lstStyle/>
          <a:p>
            <a:endParaRPr/>
          </a:p>
        </p:txBody>
      </p:sp>
      <p:sp>
        <p:nvSpPr>
          <p:cNvPr id="22" name="Rettangolo 21">
            <a:extLst>
              <a:ext uri="{FF2B5EF4-FFF2-40B4-BE49-F238E27FC236}">
                <a16:creationId xmlns:a16="http://schemas.microsoft.com/office/drawing/2014/main" id="{CB8EE697-89B2-4B56-A8FB-349680A8AD53}"/>
              </a:ext>
            </a:extLst>
          </p:cNvPr>
          <p:cNvSpPr>
            <a:spLocks noGrp="1"/>
          </p:cNvSpPr>
          <p:nvPr/>
        </p:nvSpPr>
        <p:spPr>
          <a:xfrm>
            <a:off x="4953000" y="2686050"/>
            <a:ext cx="400050" cy="190500"/>
          </a:xfrm>
          <a:prstGeom prst="rect">
            <a:avLst/>
          </a:prstGeom>
          <a:noFill/>
          <a:ln w="0">
            <a:noFill/>
            <a:prstDash val="solid"/>
          </a:ln>
        </p:spPr>
        <p:txBody>
          <a:bodyPr anchor="t"/>
          <a:lstStyle/>
          <a:p>
            <a:pPr algn="l">
              <a:buNone/>
              <a:defRPr sz="975" b="1" i="0">
                <a:solidFill>
                  <a:srgbClr val="167D73"/>
                </a:solidFill>
              </a:defRPr>
            </a:pPr>
            <a:r>
              <a:rPr sz="975" b="1" i="0">
                <a:solidFill>
                  <a:srgbClr val="167D73"/>
                </a:solidFill>
              </a:rPr>
              <a:t>04</a:t>
            </a:r>
          </a:p>
        </p:txBody>
      </p:sp>
      <p:sp>
        <p:nvSpPr>
          <p:cNvPr id="23" name="Rettangolo 22">
            <a:extLst>
              <a:ext uri="{FF2B5EF4-FFF2-40B4-BE49-F238E27FC236}">
                <a16:creationId xmlns:a16="http://schemas.microsoft.com/office/drawing/2014/main" id="{AAEC1308-BFEF-45FF-BE3E-1933C260F0DC}"/>
              </a:ext>
            </a:extLst>
          </p:cNvPr>
          <p:cNvSpPr>
            <a:spLocks noGrp="1"/>
          </p:cNvSpPr>
          <p:nvPr/>
        </p:nvSpPr>
        <p:spPr>
          <a:xfrm>
            <a:off x="4895850" y="3000375"/>
            <a:ext cx="1066800" cy="523875"/>
          </a:xfrm>
          <a:prstGeom prst="rect">
            <a:avLst/>
          </a:prstGeom>
          <a:noFill/>
          <a:ln w="0">
            <a:noFill/>
            <a:prstDash val="solid"/>
          </a:ln>
        </p:spPr>
        <p:txBody>
          <a:bodyPr anchor="ctr"/>
          <a:lstStyle/>
          <a:p>
            <a:pPr algn="ctr">
              <a:buNone/>
              <a:defRPr sz="1200" b="1" i="0">
                <a:solidFill>
                  <a:srgbClr val="13212A"/>
                </a:solidFill>
              </a:defRPr>
            </a:pPr>
            <a:r>
              <a:rPr sz="1200" b="1" i="0">
                <a:solidFill>
                  <a:srgbClr val="13212A"/>
                </a:solidFill>
              </a:rPr>
              <a:t>DiMε</a:t>
            </a:r>
          </a:p>
          <a:p>
            <a:pPr algn="ctr">
              <a:buNone/>
              <a:defRPr sz="1200" b="1" i="0">
                <a:solidFill>
                  <a:srgbClr val="13212A"/>
                </a:solidFill>
              </a:defRPr>
            </a:pPr>
            <a:r>
              <a:rPr sz="1200" b="1" i="0">
                <a:solidFill>
                  <a:srgbClr val="13212A"/>
                </a:solidFill>
              </a:rPr>
              <a:t>discovery</a:t>
            </a:r>
          </a:p>
        </p:txBody>
      </p:sp>
      <p:sp>
        <p:nvSpPr>
          <p:cNvPr id="24" name="Rettangolo con angoli arrotondati 23">
            <a:extLst>
              <a:ext uri="{FF2B5EF4-FFF2-40B4-BE49-F238E27FC236}">
                <a16:creationId xmlns:a16="http://schemas.microsoft.com/office/drawing/2014/main" id="{9843AB98-C302-48CD-ADAB-D42A165F274C}"/>
              </a:ext>
            </a:extLst>
          </p:cNvPr>
          <p:cNvSpPr>
            <a:spLocks noGrp="1"/>
          </p:cNvSpPr>
          <p:nvPr/>
        </p:nvSpPr>
        <p:spPr>
          <a:xfrm>
            <a:off x="6276975" y="2571750"/>
            <a:ext cx="1181100" cy="1143000"/>
          </a:xfrm>
          <a:prstGeom prst="roundRect">
            <a:avLst>
              <a:gd name="adj" fmla="val 10000"/>
            </a:avLst>
          </a:prstGeom>
          <a:solidFill>
            <a:srgbClr val="EEF4F3"/>
          </a:solidFill>
          <a:ln w="9525">
            <a:solidFill>
              <a:srgbClr val="CBD7D6"/>
            </a:solidFill>
            <a:prstDash val="solid"/>
          </a:ln>
        </p:spPr>
        <p:txBody>
          <a:bodyPr/>
          <a:lstStyle/>
          <a:p>
            <a:endParaRPr/>
          </a:p>
        </p:txBody>
      </p:sp>
      <p:sp>
        <p:nvSpPr>
          <p:cNvPr id="25" name="Rettangolo 24">
            <a:extLst>
              <a:ext uri="{FF2B5EF4-FFF2-40B4-BE49-F238E27FC236}">
                <a16:creationId xmlns:a16="http://schemas.microsoft.com/office/drawing/2014/main" id="{06B7BEE1-98BC-47A5-B2E8-6BE29F8EB22D}"/>
              </a:ext>
            </a:extLst>
          </p:cNvPr>
          <p:cNvSpPr>
            <a:spLocks noGrp="1"/>
          </p:cNvSpPr>
          <p:nvPr/>
        </p:nvSpPr>
        <p:spPr>
          <a:xfrm>
            <a:off x="6391275" y="2686050"/>
            <a:ext cx="400050" cy="190500"/>
          </a:xfrm>
          <a:prstGeom prst="rect">
            <a:avLst/>
          </a:prstGeom>
          <a:noFill/>
          <a:ln w="0">
            <a:noFill/>
            <a:prstDash val="solid"/>
          </a:ln>
        </p:spPr>
        <p:txBody>
          <a:bodyPr anchor="t"/>
          <a:lstStyle/>
          <a:p>
            <a:pPr algn="l">
              <a:buNone/>
              <a:defRPr sz="975" b="1" i="0">
                <a:solidFill>
                  <a:srgbClr val="167D73"/>
                </a:solidFill>
              </a:defRPr>
            </a:pPr>
            <a:r>
              <a:rPr sz="975" b="1" i="0">
                <a:solidFill>
                  <a:srgbClr val="167D73"/>
                </a:solidFill>
              </a:rPr>
              <a:t>05</a:t>
            </a:r>
          </a:p>
        </p:txBody>
      </p:sp>
      <p:sp>
        <p:nvSpPr>
          <p:cNvPr id="26" name="Rettangolo 25">
            <a:extLst>
              <a:ext uri="{FF2B5EF4-FFF2-40B4-BE49-F238E27FC236}">
                <a16:creationId xmlns:a16="http://schemas.microsoft.com/office/drawing/2014/main" id="{EF217D34-493E-4F1E-941A-4C960C8A1746}"/>
              </a:ext>
            </a:extLst>
          </p:cNvPr>
          <p:cNvSpPr>
            <a:spLocks noGrp="1"/>
          </p:cNvSpPr>
          <p:nvPr/>
        </p:nvSpPr>
        <p:spPr>
          <a:xfrm>
            <a:off x="6334125" y="3000375"/>
            <a:ext cx="1066800" cy="523875"/>
          </a:xfrm>
          <a:prstGeom prst="rect">
            <a:avLst/>
          </a:prstGeom>
          <a:noFill/>
          <a:ln w="0">
            <a:noFill/>
            <a:prstDash val="solid"/>
          </a:ln>
        </p:spPr>
        <p:txBody>
          <a:bodyPr anchor="ctr"/>
          <a:lstStyle/>
          <a:p>
            <a:pPr algn="ctr">
              <a:buNone/>
              <a:defRPr sz="1200" b="1" i="0">
                <a:solidFill>
                  <a:srgbClr val="13212A"/>
                </a:solidFill>
              </a:defRPr>
            </a:pPr>
            <a:r>
              <a:rPr sz="1200" b="1" i="0">
                <a:solidFill>
                  <a:srgbClr val="13212A"/>
                </a:solidFill>
              </a:rPr>
              <a:t>Permutation</a:t>
            </a:r>
          </a:p>
          <a:p>
            <a:pPr algn="ctr">
              <a:buNone/>
              <a:defRPr sz="1200" b="1" i="0">
                <a:solidFill>
                  <a:srgbClr val="13212A"/>
                </a:solidFill>
              </a:defRPr>
            </a:pPr>
            <a:r>
              <a:rPr sz="1200" b="1" i="0">
                <a:solidFill>
                  <a:srgbClr val="13212A"/>
                </a:solidFill>
              </a:rPr>
              <a:t>baseline</a:t>
            </a:r>
          </a:p>
        </p:txBody>
      </p:sp>
      <p:sp>
        <p:nvSpPr>
          <p:cNvPr id="27" name="Rettangolo con angoli arrotondati 26">
            <a:extLst>
              <a:ext uri="{FF2B5EF4-FFF2-40B4-BE49-F238E27FC236}">
                <a16:creationId xmlns:a16="http://schemas.microsoft.com/office/drawing/2014/main" id="{9E12405E-CDB1-46A7-9B0C-E214B7A96A77}"/>
              </a:ext>
            </a:extLst>
          </p:cNvPr>
          <p:cNvSpPr>
            <a:spLocks noGrp="1"/>
          </p:cNvSpPr>
          <p:nvPr/>
        </p:nvSpPr>
        <p:spPr>
          <a:xfrm>
            <a:off x="7715250" y="2571750"/>
            <a:ext cx="1181100" cy="1143000"/>
          </a:xfrm>
          <a:prstGeom prst="roundRect">
            <a:avLst>
              <a:gd name="adj" fmla="val 10000"/>
            </a:avLst>
          </a:prstGeom>
          <a:solidFill>
            <a:srgbClr val="EEF4F3"/>
          </a:solidFill>
          <a:ln w="9525">
            <a:solidFill>
              <a:srgbClr val="CBD7D6"/>
            </a:solidFill>
            <a:prstDash val="solid"/>
          </a:ln>
        </p:spPr>
        <p:txBody>
          <a:bodyPr/>
          <a:lstStyle/>
          <a:p>
            <a:endParaRPr/>
          </a:p>
        </p:txBody>
      </p:sp>
      <p:sp>
        <p:nvSpPr>
          <p:cNvPr id="28" name="Rettangolo 27">
            <a:extLst>
              <a:ext uri="{FF2B5EF4-FFF2-40B4-BE49-F238E27FC236}">
                <a16:creationId xmlns:a16="http://schemas.microsoft.com/office/drawing/2014/main" id="{8D8DBC20-F0C2-48AA-91DC-8A7D52C7F580}"/>
              </a:ext>
            </a:extLst>
          </p:cNvPr>
          <p:cNvSpPr>
            <a:spLocks noGrp="1"/>
          </p:cNvSpPr>
          <p:nvPr/>
        </p:nvSpPr>
        <p:spPr>
          <a:xfrm>
            <a:off x="7829550" y="2686050"/>
            <a:ext cx="400050" cy="190500"/>
          </a:xfrm>
          <a:prstGeom prst="rect">
            <a:avLst/>
          </a:prstGeom>
          <a:noFill/>
          <a:ln w="0">
            <a:noFill/>
            <a:prstDash val="solid"/>
          </a:ln>
        </p:spPr>
        <p:txBody>
          <a:bodyPr anchor="t"/>
          <a:lstStyle/>
          <a:p>
            <a:pPr algn="l">
              <a:buNone/>
              <a:defRPr sz="975" b="1" i="0">
                <a:solidFill>
                  <a:srgbClr val="167D73"/>
                </a:solidFill>
              </a:defRPr>
            </a:pPr>
            <a:r>
              <a:rPr sz="975" b="1" i="0">
                <a:solidFill>
                  <a:srgbClr val="167D73"/>
                </a:solidFill>
              </a:rPr>
              <a:t>06</a:t>
            </a:r>
          </a:p>
        </p:txBody>
      </p:sp>
      <p:sp>
        <p:nvSpPr>
          <p:cNvPr id="29" name="Rettangolo 28">
            <a:extLst>
              <a:ext uri="{FF2B5EF4-FFF2-40B4-BE49-F238E27FC236}">
                <a16:creationId xmlns:a16="http://schemas.microsoft.com/office/drawing/2014/main" id="{77737FDB-C131-4F33-B2D5-21B9CBC3689E}"/>
              </a:ext>
            </a:extLst>
          </p:cNvPr>
          <p:cNvSpPr>
            <a:spLocks noGrp="1"/>
          </p:cNvSpPr>
          <p:nvPr/>
        </p:nvSpPr>
        <p:spPr>
          <a:xfrm>
            <a:off x="7772400" y="3000375"/>
            <a:ext cx="1066800" cy="523875"/>
          </a:xfrm>
          <a:prstGeom prst="rect">
            <a:avLst/>
          </a:prstGeom>
          <a:noFill/>
          <a:ln w="0">
            <a:noFill/>
            <a:prstDash val="solid"/>
          </a:ln>
        </p:spPr>
        <p:txBody>
          <a:bodyPr anchor="ctr"/>
          <a:lstStyle/>
          <a:p>
            <a:pPr algn="ctr">
              <a:buNone/>
              <a:defRPr sz="1200" b="1" i="0">
                <a:solidFill>
                  <a:srgbClr val="13212A"/>
                </a:solidFill>
              </a:defRPr>
            </a:pPr>
            <a:r>
              <a:rPr sz="1200" b="1" i="0">
                <a:solidFill>
                  <a:srgbClr val="13212A"/>
                </a:solidFill>
              </a:rPr>
              <a:t>Bootstrap</a:t>
            </a:r>
          </a:p>
        </p:txBody>
      </p:sp>
      <p:sp>
        <p:nvSpPr>
          <p:cNvPr id="30" name="Rettangolo con angoli arrotondati 29">
            <a:extLst>
              <a:ext uri="{FF2B5EF4-FFF2-40B4-BE49-F238E27FC236}">
                <a16:creationId xmlns:a16="http://schemas.microsoft.com/office/drawing/2014/main" id="{A5EE5BDE-E207-4580-9181-2937E33E5C6D}"/>
              </a:ext>
            </a:extLst>
          </p:cNvPr>
          <p:cNvSpPr>
            <a:spLocks noGrp="1"/>
          </p:cNvSpPr>
          <p:nvPr/>
        </p:nvSpPr>
        <p:spPr>
          <a:xfrm>
            <a:off x="9153525" y="2571750"/>
            <a:ext cx="1181100" cy="1143000"/>
          </a:xfrm>
          <a:prstGeom prst="roundRect">
            <a:avLst>
              <a:gd name="adj" fmla="val 10000"/>
            </a:avLst>
          </a:prstGeom>
          <a:solidFill>
            <a:srgbClr val="EEF4F3"/>
          </a:solidFill>
          <a:ln w="9525">
            <a:solidFill>
              <a:srgbClr val="CBD7D6"/>
            </a:solidFill>
            <a:prstDash val="solid"/>
          </a:ln>
        </p:spPr>
        <p:txBody>
          <a:bodyPr/>
          <a:lstStyle/>
          <a:p>
            <a:endParaRPr/>
          </a:p>
        </p:txBody>
      </p:sp>
      <p:sp>
        <p:nvSpPr>
          <p:cNvPr id="31" name="Rettangolo 30">
            <a:extLst>
              <a:ext uri="{FF2B5EF4-FFF2-40B4-BE49-F238E27FC236}">
                <a16:creationId xmlns:a16="http://schemas.microsoft.com/office/drawing/2014/main" id="{435F2229-5271-4646-ABE1-64E812EA49E2}"/>
              </a:ext>
            </a:extLst>
          </p:cNvPr>
          <p:cNvSpPr>
            <a:spLocks noGrp="1"/>
          </p:cNvSpPr>
          <p:nvPr/>
        </p:nvSpPr>
        <p:spPr>
          <a:xfrm>
            <a:off x="9267825" y="2686050"/>
            <a:ext cx="400050" cy="190500"/>
          </a:xfrm>
          <a:prstGeom prst="rect">
            <a:avLst/>
          </a:prstGeom>
          <a:noFill/>
          <a:ln w="0">
            <a:noFill/>
            <a:prstDash val="solid"/>
          </a:ln>
        </p:spPr>
        <p:txBody>
          <a:bodyPr anchor="t"/>
          <a:lstStyle/>
          <a:p>
            <a:pPr algn="l">
              <a:buNone/>
              <a:defRPr sz="975" b="1" i="0">
                <a:solidFill>
                  <a:srgbClr val="167D73"/>
                </a:solidFill>
              </a:defRPr>
            </a:pPr>
            <a:r>
              <a:rPr sz="975" b="1" i="0">
                <a:solidFill>
                  <a:srgbClr val="167D73"/>
                </a:solidFill>
              </a:rPr>
              <a:t>07</a:t>
            </a:r>
          </a:p>
        </p:txBody>
      </p:sp>
      <p:sp>
        <p:nvSpPr>
          <p:cNvPr id="32" name="Rettangolo 31">
            <a:extLst>
              <a:ext uri="{FF2B5EF4-FFF2-40B4-BE49-F238E27FC236}">
                <a16:creationId xmlns:a16="http://schemas.microsoft.com/office/drawing/2014/main" id="{0986B19F-0C91-48EF-8B16-2594ABF5E4E9}"/>
              </a:ext>
            </a:extLst>
          </p:cNvPr>
          <p:cNvSpPr>
            <a:spLocks noGrp="1"/>
          </p:cNvSpPr>
          <p:nvPr/>
        </p:nvSpPr>
        <p:spPr>
          <a:xfrm>
            <a:off x="9210675" y="3000375"/>
            <a:ext cx="1066800" cy="523875"/>
          </a:xfrm>
          <a:prstGeom prst="rect">
            <a:avLst/>
          </a:prstGeom>
          <a:noFill/>
          <a:ln w="0">
            <a:noFill/>
            <a:prstDash val="solid"/>
          </a:ln>
        </p:spPr>
        <p:txBody>
          <a:bodyPr anchor="ctr"/>
          <a:lstStyle/>
          <a:p>
            <a:pPr algn="ctr">
              <a:buNone/>
              <a:defRPr sz="1200" b="1" i="0">
                <a:solidFill>
                  <a:srgbClr val="13212A"/>
                </a:solidFill>
              </a:defRPr>
            </a:pPr>
            <a:r>
              <a:rPr sz="1200" b="1" i="0">
                <a:solidFill>
                  <a:srgbClr val="13212A"/>
                </a:solidFill>
              </a:rPr>
              <a:t>Temporal +</a:t>
            </a:r>
          </a:p>
          <a:p>
            <a:pPr algn="ctr">
              <a:buNone/>
              <a:defRPr sz="1200" b="1" i="0">
                <a:solidFill>
                  <a:srgbClr val="13212A"/>
                </a:solidFill>
              </a:defRPr>
            </a:pPr>
            <a:r>
              <a:rPr sz="1200" b="1" i="0">
                <a:solidFill>
                  <a:srgbClr val="13212A"/>
                </a:solidFill>
              </a:rPr>
              <a:t>monthly</a:t>
            </a:r>
          </a:p>
        </p:txBody>
      </p:sp>
      <p:sp>
        <p:nvSpPr>
          <p:cNvPr id="33" name="Rettangolo con angoli arrotondati 32">
            <a:extLst>
              <a:ext uri="{FF2B5EF4-FFF2-40B4-BE49-F238E27FC236}">
                <a16:creationId xmlns:a16="http://schemas.microsoft.com/office/drawing/2014/main" id="{2F036839-1B34-43B5-8FBE-A604BF797CE1}"/>
              </a:ext>
            </a:extLst>
          </p:cNvPr>
          <p:cNvSpPr>
            <a:spLocks noGrp="1"/>
          </p:cNvSpPr>
          <p:nvPr/>
        </p:nvSpPr>
        <p:spPr>
          <a:xfrm>
            <a:off x="10591800" y="2571750"/>
            <a:ext cx="1181100" cy="1143000"/>
          </a:xfrm>
          <a:prstGeom prst="roundRect">
            <a:avLst>
              <a:gd name="adj" fmla="val 10000"/>
            </a:avLst>
          </a:prstGeom>
          <a:solidFill>
            <a:srgbClr val="EEF4F3"/>
          </a:solidFill>
          <a:ln w="9525">
            <a:solidFill>
              <a:srgbClr val="CBD7D6"/>
            </a:solidFill>
            <a:prstDash val="solid"/>
          </a:ln>
        </p:spPr>
        <p:txBody>
          <a:bodyPr/>
          <a:lstStyle/>
          <a:p>
            <a:endParaRPr/>
          </a:p>
        </p:txBody>
      </p:sp>
      <p:sp>
        <p:nvSpPr>
          <p:cNvPr id="34" name="Rettangolo 33">
            <a:extLst>
              <a:ext uri="{FF2B5EF4-FFF2-40B4-BE49-F238E27FC236}">
                <a16:creationId xmlns:a16="http://schemas.microsoft.com/office/drawing/2014/main" id="{CBF31A2E-539B-4E9E-B124-B1661EA8ABFA}"/>
              </a:ext>
            </a:extLst>
          </p:cNvPr>
          <p:cNvSpPr>
            <a:spLocks noGrp="1"/>
          </p:cNvSpPr>
          <p:nvPr/>
        </p:nvSpPr>
        <p:spPr>
          <a:xfrm>
            <a:off x="10706100" y="2686050"/>
            <a:ext cx="400050" cy="190500"/>
          </a:xfrm>
          <a:prstGeom prst="rect">
            <a:avLst/>
          </a:prstGeom>
          <a:noFill/>
          <a:ln w="0">
            <a:noFill/>
            <a:prstDash val="solid"/>
          </a:ln>
        </p:spPr>
        <p:txBody>
          <a:bodyPr anchor="t"/>
          <a:lstStyle/>
          <a:p>
            <a:pPr algn="l">
              <a:buNone/>
              <a:defRPr sz="975" b="1" i="0">
                <a:solidFill>
                  <a:srgbClr val="167D73"/>
                </a:solidFill>
              </a:defRPr>
            </a:pPr>
            <a:r>
              <a:rPr sz="975" b="1" i="0">
                <a:solidFill>
                  <a:srgbClr val="167D73"/>
                </a:solidFill>
              </a:rPr>
              <a:t>08</a:t>
            </a:r>
          </a:p>
        </p:txBody>
      </p:sp>
      <p:sp>
        <p:nvSpPr>
          <p:cNvPr id="35" name="Rettangolo 34">
            <a:extLst>
              <a:ext uri="{FF2B5EF4-FFF2-40B4-BE49-F238E27FC236}">
                <a16:creationId xmlns:a16="http://schemas.microsoft.com/office/drawing/2014/main" id="{3D36EBEB-E963-47D6-8DF3-77E95C7ACB81}"/>
              </a:ext>
            </a:extLst>
          </p:cNvPr>
          <p:cNvSpPr>
            <a:spLocks noGrp="1"/>
          </p:cNvSpPr>
          <p:nvPr/>
        </p:nvSpPr>
        <p:spPr>
          <a:xfrm>
            <a:off x="10648950" y="3000375"/>
            <a:ext cx="1066800" cy="523875"/>
          </a:xfrm>
          <a:prstGeom prst="rect">
            <a:avLst/>
          </a:prstGeom>
          <a:noFill/>
          <a:ln w="0">
            <a:noFill/>
            <a:prstDash val="solid"/>
          </a:ln>
        </p:spPr>
        <p:txBody>
          <a:bodyPr anchor="ctr"/>
          <a:lstStyle/>
          <a:p>
            <a:pPr algn="ctr">
              <a:buNone/>
              <a:defRPr sz="1200" b="1" i="0">
                <a:solidFill>
                  <a:srgbClr val="13212A"/>
                </a:solidFill>
              </a:defRPr>
            </a:pPr>
            <a:r>
              <a:rPr sz="1200" b="1" i="0">
                <a:solidFill>
                  <a:srgbClr val="13212A"/>
                </a:solidFill>
              </a:rPr>
              <a:t>Violations</a:t>
            </a:r>
          </a:p>
        </p:txBody>
      </p:sp>
      <p:sp>
        <p:nvSpPr>
          <p:cNvPr id="36" name="Rettangolo 35">
            <a:extLst>
              <a:ext uri="{FF2B5EF4-FFF2-40B4-BE49-F238E27FC236}">
                <a16:creationId xmlns:a16="http://schemas.microsoft.com/office/drawing/2014/main" id="{1FC3A62C-8C4B-48FC-9DE9-5F88B8A1701E}"/>
              </a:ext>
            </a:extLst>
          </p:cNvPr>
          <p:cNvSpPr>
            <a:spLocks noGrp="1"/>
          </p:cNvSpPr>
          <p:nvPr/>
        </p:nvSpPr>
        <p:spPr>
          <a:xfrm>
            <a:off x="876300" y="4038600"/>
            <a:ext cx="2476500" cy="266700"/>
          </a:xfrm>
          <a:prstGeom prst="rect">
            <a:avLst/>
          </a:prstGeom>
          <a:noFill/>
          <a:ln w="0">
            <a:noFill/>
            <a:prstDash val="solid"/>
          </a:ln>
        </p:spPr>
        <p:txBody>
          <a:bodyPr anchor="t"/>
          <a:lstStyle/>
          <a:p>
            <a:pPr algn="ctr">
              <a:buNone/>
              <a:defRPr sz="1275" b="1" i="0">
                <a:solidFill>
                  <a:srgbClr val="52636D"/>
                </a:solidFill>
              </a:defRPr>
            </a:pPr>
            <a:r>
              <a:rPr sz="1275" b="1" i="0">
                <a:solidFill>
                  <a:srgbClr val="52636D"/>
                </a:solidFill>
              </a:rPr>
              <a:t>PREPARE</a:t>
            </a:r>
          </a:p>
        </p:txBody>
      </p:sp>
      <p:sp>
        <p:nvSpPr>
          <p:cNvPr id="37" name="Rettangolo 36">
            <a:extLst>
              <a:ext uri="{FF2B5EF4-FFF2-40B4-BE49-F238E27FC236}">
                <a16:creationId xmlns:a16="http://schemas.microsoft.com/office/drawing/2014/main" id="{F12CF85D-E151-4BB1-9C31-D3E1F1BDE576}"/>
              </a:ext>
            </a:extLst>
          </p:cNvPr>
          <p:cNvSpPr>
            <a:spLocks noGrp="1"/>
          </p:cNvSpPr>
          <p:nvPr/>
        </p:nvSpPr>
        <p:spPr>
          <a:xfrm>
            <a:off x="3781425" y="4038600"/>
            <a:ext cx="2476500" cy="266700"/>
          </a:xfrm>
          <a:prstGeom prst="rect">
            <a:avLst/>
          </a:prstGeom>
          <a:noFill/>
          <a:ln w="0">
            <a:noFill/>
            <a:prstDash val="solid"/>
          </a:ln>
        </p:spPr>
        <p:txBody>
          <a:bodyPr anchor="t"/>
          <a:lstStyle/>
          <a:p>
            <a:pPr algn="ctr">
              <a:buNone/>
              <a:defRPr sz="1275" b="1" i="0">
                <a:solidFill>
                  <a:srgbClr val="52636D"/>
                </a:solidFill>
              </a:defRPr>
            </a:pPr>
            <a:r>
              <a:rPr sz="1275" b="1" i="0">
                <a:solidFill>
                  <a:srgbClr val="52636D"/>
                </a:solidFill>
              </a:rPr>
              <a:t>DISCOVER</a:t>
            </a:r>
          </a:p>
        </p:txBody>
      </p:sp>
      <p:sp>
        <p:nvSpPr>
          <p:cNvPr id="38" name="Rettangolo 37">
            <a:extLst>
              <a:ext uri="{FF2B5EF4-FFF2-40B4-BE49-F238E27FC236}">
                <a16:creationId xmlns:a16="http://schemas.microsoft.com/office/drawing/2014/main" id="{803D4A3D-EB57-4A23-9006-962281E9D272}"/>
              </a:ext>
            </a:extLst>
          </p:cNvPr>
          <p:cNvSpPr>
            <a:spLocks noGrp="1"/>
          </p:cNvSpPr>
          <p:nvPr/>
        </p:nvSpPr>
        <p:spPr>
          <a:xfrm>
            <a:off x="6667500" y="4038600"/>
            <a:ext cx="2457450" cy="266700"/>
          </a:xfrm>
          <a:prstGeom prst="rect">
            <a:avLst/>
          </a:prstGeom>
          <a:noFill/>
          <a:ln w="0">
            <a:noFill/>
            <a:prstDash val="solid"/>
          </a:ln>
        </p:spPr>
        <p:txBody>
          <a:bodyPr anchor="t"/>
          <a:lstStyle/>
          <a:p>
            <a:pPr algn="ctr">
              <a:buNone/>
              <a:defRPr sz="1275" b="1" i="0">
                <a:solidFill>
                  <a:srgbClr val="52636D"/>
                </a:solidFill>
              </a:defRPr>
            </a:pPr>
            <a:r>
              <a:rPr sz="1275" b="1" i="0">
                <a:solidFill>
                  <a:srgbClr val="52636D"/>
                </a:solidFill>
              </a:rPr>
              <a:t>VALIDATE</a:t>
            </a:r>
          </a:p>
        </p:txBody>
      </p:sp>
      <p:sp>
        <p:nvSpPr>
          <p:cNvPr id="39" name="Rettangolo 38">
            <a:extLst>
              <a:ext uri="{FF2B5EF4-FFF2-40B4-BE49-F238E27FC236}">
                <a16:creationId xmlns:a16="http://schemas.microsoft.com/office/drawing/2014/main" id="{C5F4F457-B25C-44D1-A913-741548873991}"/>
              </a:ext>
            </a:extLst>
          </p:cNvPr>
          <p:cNvSpPr>
            <a:spLocks noGrp="1"/>
          </p:cNvSpPr>
          <p:nvPr/>
        </p:nvSpPr>
        <p:spPr>
          <a:xfrm>
            <a:off x="9572625" y="4038600"/>
            <a:ext cx="1809750" cy="266700"/>
          </a:xfrm>
          <a:prstGeom prst="rect">
            <a:avLst/>
          </a:prstGeom>
          <a:noFill/>
          <a:ln w="0">
            <a:noFill/>
            <a:prstDash val="solid"/>
          </a:ln>
        </p:spPr>
        <p:txBody>
          <a:bodyPr anchor="t"/>
          <a:lstStyle/>
          <a:p>
            <a:pPr algn="ctr">
              <a:buNone/>
              <a:defRPr sz="1275" b="1" i="0">
                <a:solidFill>
                  <a:srgbClr val="52636D"/>
                </a:solidFill>
              </a:defRPr>
            </a:pPr>
            <a:r>
              <a:rPr sz="1275" b="1" i="0">
                <a:solidFill>
                  <a:srgbClr val="52636D"/>
                </a:solidFill>
              </a:rPr>
              <a:t>INVESTIGATE</a:t>
            </a:r>
          </a:p>
        </p:txBody>
      </p:sp>
      <p:sp>
        <p:nvSpPr>
          <p:cNvPr id="40" name="Rettangolo 39">
            <a:extLst>
              <a:ext uri="{FF2B5EF4-FFF2-40B4-BE49-F238E27FC236}">
                <a16:creationId xmlns:a16="http://schemas.microsoft.com/office/drawing/2014/main" id="{DEE0A035-1141-45C6-89D7-1ED0F8C27EFA}"/>
              </a:ext>
            </a:extLst>
          </p:cNvPr>
          <p:cNvSpPr>
            <a:spLocks noGrp="1"/>
          </p:cNvSpPr>
          <p:nvPr/>
        </p:nvSpPr>
        <p:spPr>
          <a:xfrm>
            <a:off x="609600" y="5953125"/>
            <a:ext cx="57150" cy="400050"/>
          </a:xfrm>
          <a:prstGeom prst="rect">
            <a:avLst/>
          </a:prstGeom>
          <a:solidFill>
            <a:srgbClr val="167D73"/>
          </a:solidFill>
          <a:ln w="0">
            <a:solidFill>
              <a:srgbClr val="167D73"/>
            </a:solidFill>
            <a:prstDash val="solid"/>
          </a:ln>
        </p:spPr>
        <p:txBody>
          <a:bodyPr/>
          <a:lstStyle/>
          <a:p>
            <a:endParaRPr/>
          </a:p>
        </p:txBody>
      </p:sp>
      <p:sp>
        <p:nvSpPr>
          <p:cNvPr id="41" name="Rettangolo 40">
            <a:extLst>
              <a:ext uri="{FF2B5EF4-FFF2-40B4-BE49-F238E27FC236}">
                <a16:creationId xmlns:a16="http://schemas.microsoft.com/office/drawing/2014/main" id="{50AC82CE-11A6-474C-9840-E7E0A34EEEB8}"/>
              </a:ext>
            </a:extLst>
          </p:cNvPr>
          <p:cNvSpPr>
            <a:spLocks noGrp="1"/>
          </p:cNvSpPr>
          <p:nvPr/>
        </p:nvSpPr>
        <p:spPr>
          <a:xfrm>
            <a:off x="800100" y="5943600"/>
            <a:ext cx="10287000" cy="457200"/>
          </a:xfrm>
          <a:prstGeom prst="rect">
            <a:avLst/>
          </a:prstGeom>
          <a:noFill/>
          <a:ln w="0">
            <a:noFill/>
            <a:prstDash val="solid"/>
          </a:ln>
        </p:spPr>
        <p:txBody>
          <a:bodyPr anchor="t"/>
          <a:lstStyle/>
          <a:p>
            <a:pPr algn="l">
              <a:buNone/>
              <a:defRPr sz="1650" b="1" i="0">
                <a:solidFill>
                  <a:srgbClr val="13212A"/>
                </a:solidFill>
              </a:defRPr>
            </a:pPr>
            <a:r>
              <a:rPr sz="1650" b="1" i="0">
                <a:solidFill>
                  <a:srgbClr val="13212A"/>
                </a:solidFill>
              </a:rPr>
              <a:t>Discovery is DiMε; every baseline and robustness check is strictly post-discovery.</a:t>
            </a:r>
          </a:p>
        </p:txBody>
      </p:sp>
    </p:spTree>
    <p:extLst>
      <p:ext uri="{BB962C8B-B14F-4D97-AF65-F5344CB8AC3E}">
        <p14:creationId xmlns:p14="http://schemas.microsoft.com/office/powerpoint/2010/main" val="100720638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6" name="Rettangolo 5">
            <a:extLst>
              <a:ext uri="{FF2B5EF4-FFF2-40B4-BE49-F238E27FC236}">
                <a16:creationId xmlns:a16="http://schemas.microsoft.com/office/drawing/2014/main" id="{63ACB8F7-DB4D-4320-A06E-9146FB4908C9}"/>
              </a:ext>
            </a:extLst>
          </p:cNvPr>
          <p:cNvSpPr>
            <a:spLocks noGrp="1"/>
          </p:cNvSpPr>
          <p:nvPr/>
        </p:nvSpPr>
        <p:spPr>
          <a:xfrm>
            <a:off x="609600" y="323850"/>
            <a:ext cx="5905500" cy="228600"/>
          </a:xfrm>
          <a:prstGeom prst="rect">
            <a:avLst/>
          </a:prstGeom>
          <a:noFill/>
          <a:ln w="0">
            <a:noFill/>
            <a:prstDash val="solid"/>
          </a:ln>
        </p:spPr>
        <p:txBody>
          <a:bodyPr anchor="t"/>
          <a:lstStyle/>
          <a:p>
            <a:pPr algn="l">
              <a:buNone/>
              <a:defRPr sz="1125" b="1" i="0">
                <a:solidFill>
                  <a:srgbClr val="167D73"/>
                </a:solidFill>
              </a:defRPr>
            </a:pPr>
            <a:r>
              <a:rPr sz="1125" b="1" i="0">
                <a:solidFill>
                  <a:srgbClr val="167D73"/>
                </a:solidFill>
              </a:rPr>
              <a:t>KDIID · RFD CONSISTENCY PROFILING</a:t>
            </a:r>
          </a:p>
        </p:txBody>
      </p:sp>
      <p:sp>
        <p:nvSpPr>
          <p:cNvPr id="2" name="Rettangolo 1">
            <a:extLst>
              <a:ext uri="{FF2B5EF4-FFF2-40B4-BE49-F238E27FC236}">
                <a16:creationId xmlns:a16="http://schemas.microsoft.com/office/drawing/2014/main" id="{55A258B5-1408-46BC-ACAA-1AE62FD88ADA}"/>
              </a:ext>
            </a:extLst>
          </p:cNvPr>
          <p:cNvSpPr>
            <a:spLocks noGrp="1"/>
          </p:cNvSpPr>
          <p:nvPr/>
        </p:nvSpPr>
        <p:spPr>
          <a:xfrm>
            <a:off x="609600" y="647700"/>
            <a:ext cx="10668000" cy="666750"/>
          </a:xfrm>
          <a:prstGeom prst="rect">
            <a:avLst/>
          </a:prstGeom>
          <a:noFill/>
          <a:ln w="0">
            <a:noFill/>
            <a:prstDash val="solid"/>
          </a:ln>
        </p:spPr>
        <p:txBody>
          <a:bodyPr anchor="t"/>
          <a:lstStyle/>
          <a:p>
            <a:pPr algn="l">
              <a:buNone/>
              <a:defRPr sz="3600" b="1" i="0">
                <a:solidFill>
                  <a:srgbClr val="13212A"/>
                </a:solidFill>
              </a:defRPr>
            </a:pPr>
            <a:r>
              <a:rPr sz="3600" b="1" i="0">
                <a:solidFill>
                  <a:srgbClr val="13212A"/>
                </a:solidFill>
              </a:rPr>
              <a:t>Descriptive profiling reveals one dominant pattern</a:t>
            </a:r>
          </a:p>
        </p:txBody>
      </p:sp>
      <p:sp>
        <p:nvSpPr>
          <p:cNvPr id="3" name="Connettore dritto 2">
            <a:extLst>
              <a:ext uri="{FF2B5EF4-FFF2-40B4-BE49-F238E27FC236}">
                <a16:creationId xmlns:a16="http://schemas.microsoft.com/office/drawing/2014/main" id="{375E299E-1C5B-4149-9178-8626E26EE7A5}"/>
              </a:ext>
            </a:extLst>
          </p:cNvPr>
          <p:cNvSpPr>
            <a:spLocks noGrp="1"/>
          </p:cNvSpPr>
          <p:nvPr/>
        </p:nvSpPr>
        <p:spPr>
          <a:xfrm>
            <a:off x="609600" y="1381125"/>
            <a:ext cx="10972800" cy="0"/>
          </a:xfrm>
          <a:prstGeom prst="line">
            <a:avLst/>
          </a:prstGeom>
          <a:noFill/>
          <a:ln w="9525">
            <a:solidFill>
              <a:srgbClr val="CBD7D6"/>
            </a:solidFill>
            <a:prstDash val="solid"/>
          </a:ln>
        </p:spPr>
        <p:txBody>
          <a:bodyPr/>
          <a:lstStyle/>
          <a:p>
            <a:endParaRPr/>
          </a:p>
        </p:txBody>
      </p:sp>
      <p:sp>
        <p:nvSpPr>
          <p:cNvPr id="4" name="Rettangolo 3">
            <a:extLst>
              <a:ext uri="{FF2B5EF4-FFF2-40B4-BE49-F238E27FC236}">
                <a16:creationId xmlns:a16="http://schemas.microsoft.com/office/drawing/2014/main" id="{98436897-71D9-4D62-9319-026609151FBD}"/>
              </a:ext>
            </a:extLst>
          </p:cNvPr>
          <p:cNvSpPr>
            <a:spLocks noGrp="1"/>
          </p:cNvSpPr>
          <p:nvPr/>
        </p:nvSpPr>
        <p:spPr>
          <a:xfrm>
            <a:off x="11144250" y="6419850"/>
            <a:ext cx="438150" cy="209550"/>
          </a:xfrm>
          <a:prstGeom prst="rect">
            <a:avLst/>
          </a:prstGeom>
          <a:noFill/>
          <a:ln w="0">
            <a:noFill/>
            <a:prstDash val="solid"/>
          </a:ln>
        </p:spPr>
        <p:txBody>
          <a:bodyPr anchor="t"/>
          <a:lstStyle/>
          <a:p>
            <a:pPr algn="r">
              <a:buNone/>
              <a:defRPr sz="1125" b="1" i="0">
                <a:solidFill>
                  <a:srgbClr val="52636D"/>
                </a:solidFill>
              </a:defRPr>
            </a:pPr>
            <a:r>
              <a:rPr sz="1125" b="1" i="0">
                <a:solidFill>
                  <a:srgbClr val="52636D"/>
                </a:solidFill>
              </a:rPr>
              <a:t>10</a:t>
            </a:r>
          </a:p>
        </p:txBody>
      </p:sp>
      <p:sp>
        <p:nvSpPr>
          <p:cNvPr id="5" name="Rettangolo con angoli arrotondati 4">
            <a:extLst>
              <a:ext uri="{FF2B5EF4-FFF2-40B4-BE49-F238E27FC236}">
                <a16:creationId xmlns:a16="http://schemas.microsoft.com/office/drawing/2014/main" id="{46F8E0F3-70CF-4F87-B272-9C72ECE27620}"/>
              </a:ext>
            </a:extLst>
          </p:cNvPr>
          <p:cNvSpPr>
            <a:spLocks noGrp="1"/>
          </p:cNvSpPr>
          <p:nvPr/>
        </p:nvSpPr>
        <p:spPr>
          <a:xfrm>
            <a:off x="590550" y="1600200"/>
            <a:ext cx="6905625" cy="4057650"/>
          </a:xfrm>
          <a:prstGeom prst="roundRect">
            <a:avLst>
              <a:gd name="adj" fmla="val 2817"/>
            </a:avLst>
          </a:prstGeom>
          <a:solidFill>
            <a:srgbClr val="F7F9F8"/>
          </a:solidFill>
          <a:ln w="9525">
            <a:solidFill>
              <a:srgbClr val="CBD7D6"/>
            </a:solidFill>
            <a:prstDash val="solid"/>
          </a:ln>
        </p:spPr>
        <p:txBody>
          <a:bodyPr/>
          <a:lstStyle/>
          <a:p>
            <a:endParaRPr/>
          </a:p>
        </p:txBody>
      </p:sp>
      <p:pic>
        <p:nvPicPr>
          <p:cNvPr id="18" name="Immagine 17"/>
          <p:cNvPicPr>
            <a:picLocks noChangeAspect="1"/>
          </p:cNvPicPr>
          <p:nvPr/>
        </p:nvPicPr>
        <p:blipFill>
          <a:blip r:embed="rId3"/>
          <a:stretch/>
        </p:blipFill>
        <p:spPr>
          <a:xfrm>
            <a:off x="1775336" y="1752600"/>
            <a:ext cx="4536053" cy="3752850"/>
          </a:xfrm>
          <a:prstGeom prst="rect">
            <a:avLst/>
          </a:prstGeom>
        </p:spPr>
      </p:pic>
      <p:sp>
        <p:nvSpPr>
          <p:cNvPr id="7" name="Rettangolo 6">
            <a:extLst>
              <a:ext uri="{FF2B5EF4-FFF2-40B4-BE49-F238E27FC236}">
                <a16:creationId xmlns:a16="http://schemas.microsoft.com/office/drawing/2014/main" id="{AEDA75EF-DED3-4F3D-A330-06364B87E169}"/>
              </a:ext>
            </a:extLst>
          </p:cNvPr>
          <p:cNvSpPr>
            <a:spLocks noGrp="1"/>
          </p:cNvSpPr>
          <p:nvPr/>
        </p:nvSpPr>
        <p:spPr>
          <a:xfrm>
            <a:off x="8096250" y="2333625"/>
            <a:ext cx="2857500" cy="857250"/>
          </a:xfrm>
          <a:prstGeom prst="rect">
            <a:avLst/>
          </a:prstGeom>
          <a:noFill/>
          <a:ln w="0">
            <a:noFill/>
            <a:prstDash val="solid"/>
          </a:ln>
        </p:spPr>
        <p:txBody>
          <a:bodyPr anchor="t"/>
          <a:lstStyle/>
          <a:p>
            <a:pPr algn="ctr">
              <a:buNone/>
              <a:defRPr sz="5100" b="1" i="0">
                <a:solidFill>
                  <a:srgbClr val="167D73"/>
                </a:solidFill>
              </a:defRPr>
            </a:pPr>
            <a:r>
              <a:rPr sz="5100" b="1" i="0">
                <a:solidFill>
                  <a:srgbClr val="167D73"/>
                </a:solidFill>
              </a:rPr>
              <a:t>0.874</a:t>
            </a:r>
          </a:p>
        </p:txBody>
      </p:sp>
      <p:sp>
        <p:nvSpPr>
          <p:cNvPr id="8" name="Rettangolo 7">
            <a:extLst>
              <a:ext uri="{FF2B5EF4-FFF2-40B4-BE49-F238E27FC236}">
                <a16:creationId xmlns:a16="http://schemas.microsoft.com/office/drawing/2014/main" id="{2F8F192A-AF9C-4F22-B9EF-8F1E2A664093}"/>
              </a:ext>
            </a:extLst>
          </p:cNvPr>
          <p:cNvSpPr>
            <a:spLocks noGrp="1"/>
          </p:cNvSpPr>
          <p:nvPr/>
        </p:nvSpPr>
        <p:spPr>
          <a:xfrm>
            <a:off x="8096250" y="3286125"/>
            <a:ext cx="2857500" cy="762000"/>
          </a:xfrm>
          <a:prstGeom prst="rect">
            <a:avLst/>
          </a:prstGeom>
          <a:noFill/>
          <a:ln w="0">
            <a:noFill/>
            <a:prstDash val="solid"/>
          </a:ln>
        </p:spPr>
        <p:txBody>
          <a:bodyPr anchor="t"/>
          <a:lstStyle/>
          <a:p>
            <a:pPr algn="ctr">
              <a:buNone/>
              <a:defRPr sz="1875" b="1" i="0">
                <a:solidFill>
                  <a:srgbClr val="13212A"/>
                </a:solidFill>
              </a:defRPr>
            </a:pPr>
            <a:r>
              <a:rPr sz="1875" b="1" i="0">
                <a:solidFill>
                  <a:srgbClr val="13212A"/>
                </a:solidFill>
              </a:rPr>
              <a:t>PM2.5–PM10</a:t>
            </a:r>
          </a:p>
          <a:p>
            <a:pPr algn="ctr">
              <a:buNone/>
              <a:defRPr sz="1875" b="1" i="0">
                <a:solidFill>
                  <a:srgbClr val="13212A"/>
                </a:solidFill>
              </a:defRPr>
            </a:pPr>
            <a:r>
              <a:rPr sz="1875" b="1" i="0">
                <a:solidFill>
                  <a:srgbClr val="13212A"/>
                </a:solidFill>
              </a:rPr>
              <a:t>Pearson correlation</a:t>
            </a:r>
          </a:p>
        </p:txBody>
      </p:sp>
      <p:sp>
        <p:nvSpPr>
          <p:cNvPr id="9" name="Rettangolo 8">
            <a:extLst>
              <a:ext uri="{FF2B5EF4-FFF2-40B4-BE49-F238E27FC236}">
                <a16:creationId xmlns:a16="http://schemas.microsoft.com/office/drawing/2014/main" id="{32735A68-78ED-44F2-B03A-A5DC5F42108A}"/>
              </a:ext>
            </a:extLst>
          </p:cNvPr>
          <p:cNvSpPr>
            <a:spLocks noGrp="1"/>
          </p:cNvSpPr>
          <p:nvPr/>
        </p:nvSpPr>
        <p:spPr>
          <a:xfrm>
            <a:off x="8048625" y="4343400"/>
            <a:ext cx="2952750" cy="838200"/>
          </a:xfrm>
          <a:prstGeom prst="rect">
            <a:avLst/>
          </a:prstGeom>
          <a:noFill/>
          <a:ln w="0">
            <a:noFill/>
            <a:prstDash val="solid"/>
          </a:ln>
        </p:spPr>
        <p:txBody>
          <a:bodyPr anchor="t"/>
          <a:lstStyle/>
          <a:p>
            <a:pPr algn="ctr">
              <a:buNone/>
              <a:defRPr sz="1500" b="0" i="0">
                <a:solidFill>
                  <a:srgbClr val="52636D"/>
                </a:solidFill>
              </a:defRPr>
            </a:pPr>
            <a:r>
              <a:rPr sz="1500" b="0" i="0">
                <a:solidFill>
                  <a:srgbClr val="52636D"/>
                </a:solidFill>
              </a:rPr>
              <a:t>Correlation is descriptive context—not an RFD metric and not causal evidence.</a:t>
            </a:r>
          </a:p>
        </p:txBody>
      </p:sp>
      <p:sp>
        <p:nvSpPr>
          <p:cNvPr id="10" name="Rettangolo 9">
            <a:extLst>
              <a:ext uri="{FF2B5EF4-FFF2-40B4-BE49-F238E27FC236}">
                <a16:creationId xmlns:a16="http://schemas.microsoft.com/office/drawing/2014/main" id="{2C75B64C-0413-491D-901B-14C32E0C3B77}"/>
              </a:ext>
            </a:extLst>
          </p:cNvPr>
          <p:cNvSpPr>
            <a:spLocks noGrp="1"/>
          </p:cNvSpPr>
          <p:nvPr/>
        </p:nvSpPr>
        <p:spPr>
          <a:xfrm>
            <a:off x="609600" y="5953125"/>
            <a:ext cx="57150" cy="400050"/>
          </a:xfrm>
          <a:prstGeom prst="rect">
            <a:avLst/>
          </a:prstGeom>
          <a:solidFill>
            <a:srgbClr val="167D73"/>
          </a:solidFill>
          <a:ln w="0">
            <a:solidFill>
              <a:srgbClr val="167D73"/>
            </a:solidFill>
            <a:prstDash val="solid"/>
          </a:ln>
        </p:spPr>
        <p:txBody>
          <a:bodyPr/>
          <a:lstStyle/>
          <a:p>
            <a:endParaRPr/>
          </a:p>
        </p:txBody>
      </p:sp>
      <p:sp>
        <p:nvSpPr>
          <p:cNvPr id="11" name="Rettangolo 10">
            <a:extLst>
              <a:ext uri="{FF2B5EF4-FFF2-40B4-BE49-F238E27FC236}">
                <a16:creationId xmlns:a16="http://schemas.microsoft.com/office/drawing/2014/main" id="{201FAD44-A711-4721-B382-8B59E958BE6C}"/>
              </a:ext>
            </a:extLst>
          </p:cNvPr>
          <p:cNvSpPr>
            <a:spLocks noGrp="1"/>
          </p:cNvSpPr>
          <p:nvPr/>
        </p:nvSpPr>
        <p:spPr>
          <a:xfrm>
            <a:off x="800100" y="5943600"/>
            <a:ext cx="10287000" cy="457200"/>
          </a:xfrm>
          <a:prstGeom prst="rect">
            <a:avLst/>
          </a:prstGeom>
          <a:noFill/>
          <a:ln w="0">
            <a:noFill/>
            <a:prstDash val="solid"/>
          </a:ln>
        </p:spPr>
        <p:txBody>
          <a:bodyPr anchor="t"/>
          <a:lstStyle/>
          <a:p>
            <a:pPr algn="l">
              <a:buNone/>
              <a:defRPr sz="1650" b="1" i="0">
                <a:solidFill>
                  <a:srgbClr val="13212A"/>
                </a:solidFill>
              </a:defRPr>
            </a:pPr>
            <a:r>
              <a:rPr sz="1650" b="1" i="0">
                <a:solidFill>
                  <a:srgbClr val="13212A"/>
                </a:solidFill>
              </a:rPr>
              <a:t>Fine and coarse particulate matter form the clearest descriptive relationship in the dataset.</a:t>
            </a:r>
          </a:p>
        </p:txBody>
      </p:sp>
    </p:spTree>
    <p:extLst>
      <p:ext uri="{BB962C8B-B14F-4D97-AF65-F5344CB8AC3E}">
        <p14:creationId xmlns:p14="http://schemas.microsoft.com/office/powerpoint/2010/main" val="78537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6" name="Rettangolo 5">
            <a:extLst>
              <a:ext uri="{FF2B5EF4-FFF2-40B4-BE49-F238E27FC236}">
                <a16:creationId xmlns:a16="http://schemas.microsoft.com/office/drawing/2014/main" id="{77387F9B-490B-4042-945E-0FABA286AECF}"/>
              </a:ext>
            </a:extLst>
          </p:cNvPr>
          <p:cNvSpPr>
            <a:spLocks noGrp="1"/>
          </p:cNvSpPr>
          <p:nvPr/>
        </p:nvSpPr>
        <p:spPr>
          <a:xfrm>
            <a:off x="609600" y="323850"/>
            <a:ext cx="5905500" cy="228600"/>
          </a:xfrm>
          <a:prstGeom prst="rect">
            <a:avLst/>
          </a:prstGeom>
          <a:noFill/>
          <a:ln w="0">
            <a:noFill/>
            <a:prstDash val="solid"/>
          </a:ln>
        </p:spPr>
        <p:txBody>
          <a:bodyPr anchor="t"/>
          <a:lstStyle/>
          <a:p>
            <a:pPr algn="l">
              <a:buNone/>
              <a:defRPr sz="1125" b="1" i="0">
                <a:solidFill>
                  <a:srgbClr val="167D73"/>
                </a:solidFill>
              </a:defRPr>
            </a:pPr>
            <a:r>
              <a:rPr sz="1125" b="1" i="0">
                <a:solidFill>
                  <a:srgbClr val="167D73"/>
                </a:solidFill>
              </a:rPr>
              <a:t>KDIID · RFD CONSISTENCY PROFILING</a:t>
            </a:r>
          </a:p>
        </p:txBody>
      </p:sp>
      <p:sp>
        <p:nvSpPr>
          <p:cNvPr id="2" name="Rettangolo 1">
            <a:extLst>
              <a:ext uri="{FF2B5EF4-FFF2-40B4-BE49-F238E27FC236}">
                <a16:creationId xmlns:a16="http://schemas.microsoft.com/office/drawing/2014/main" id="{313B7A60-600D-44A8-A2B2-A431428FF44C}"/>
              </a:ext>
            </a:extLst>
          </p:cNvPr>
          <p:cNvSpPr>
            <a:spLocks noGrp="1"/>
          </p:cNvSpPr>
          <p:nvPr/>
        </p:nvSpPr>
        <p:spPr>
          <a:xfrm>
            <a:off x="609600" y="647700"/>
            <a:ext cx="10668000" cy="666750"/>
          </a:xfrm>
          <a:prstGeom prst="rect">
            <a:avLst/>
          </a:prstGeom>
          <a:noFill/>
          <a:ln w="0">
            <a:noFill/>
            <a:prstDash val="solid"/>
          </a:ln>
        </p:spPr>
        <p:txBody>
          <a:bodyPr anchor="t"/>
          <a:lstStyle/>
          <a:p>
            <a:pPr algn="l">
              <a:buNone/>
              <a:defRPr sz="3600" b="1" i="0">
                <a:solidFill>
                  <a:srgbClr val="13212A"/>
                </a:solidFill>
              </a:defRPr>
            </a:pPr>
            <a:r>
              <a:rPr sz="3600" b="1" i="0">
                <a:solidFill>
                  <a:srgbClr val="13212A"/>
                </a:solidFill>
              </a:rPr>
              <a:t>PM2.5 behavior changes across time and stations</a:t>
            </a:r>
          </a:p>
        </p:txBody>
      </p:sp>
      <p:sp>
        <p:nvSpPr>
          <p:cNvPr id="3" name="Connettore dritto 2">
            <a:extLst>
              <a:ext uri="{FF2B5EF4-FFF2-40B4-BE49-F238E27FC236}">
                <a16:creationId xmlns:a16="http://schemas.microsoft.com/office/drawing/2014/main" id="{06D59E81-3B2E-49C7-88FD-866C63418EB8}"/>
              </a:ext>
            </a:extLst>
          </p:cNvPr>
          <p:cNvSpPr>
            <a:spLocks noGrp="1"/>
          </p:cNvSpPr>
          <p:nvPr/>
        </p:nvSpPr>
        <p:spPr>
          <a:xfrm>
            <a:off x="609600" y="1381125"/>
            <a:ext cx="10972800" cy="0"/>
          </a:xfrm>
          <a:prstGeom prst="line">
            <a:avLst/>
          </a:prstGeom>
          <a:noFill/>
          <a:ln w="9525">
            <a:solidFill>
              <a:srgbClr val="CBD7D6"/>
            </a:solidFill>
            <a:prstDash val="solid"/>
          </a:ln>
        </p:spPr>
        <p:txBody>
          <a:bodyPr/>
          <a:lstStyle/>
          <a:p>
            <a:endParaRPr/>
          </a:p>
        </p:txBody>
      </p:sp>
      <p:sp>
        <p:nvSpPr>
          <p:cNvPr id="4" name="Rettangolo 3">
            <a:extLst>
              <a:ext uri="{FF2B5EF4-FFF2-40B4-BE49-F238E27FC236}">
                <a16:creationId xmlns:a16="http://schemas.microsoft.com/office/drawing/2014/main" id="{8FF42F64-05A8-4A98-8C8E-AB58C86302BA}"/>
              </a:ext>
            </a:extLst>
          </p:cNvPr>
          <p:cNvSpPr>
            <a:spLocks noGrp="1"/>
          </p:cNvSpPr>
          <p:nvPr/>
        </p:nvSpPr>
        <p:spPr>
          <a:xfrm>
            <a:off x="11144250" y="6419850"/>
            <a:ext cx="438150" cy="209550"/>
          </a:xfrm>
          <a:prstGeom prst="rect">
            <a:avLst/>
          </a:prstGeom>
          <a:noFill/>
          <a:ln w="0">
            <a:noFill/>
            <a:prstDash val="solid"/>
          </a:ln>
        </p:spPr>
        <p:txBody>
          <a:bodyPr anchor="t"/>
          <a:lstStyle/>
          <a:p>
            <a:pPr algn="r">
              <a:buNone/>
              <a:defRPr sz="1125" b="1" i="0">
                <a:solidFill>
                  <a:srgbClr val="52636D"/>
                </a:solidFill>
              </a:defRPr>
            </a:pPr>
            <a:r>
              <a:rPr sz="1125" b="1" i="0">
                <a:solidFill>
                  <a:srgbClr val="52636D"/>
                </a:solidFill>
              </a:rPr>
              <a:t>11</a:t>
            </a:r>
          </a:p>
        </p:txBody>
      </p:sp>
      <p:sp>
        <p:nvSpPr>
          <p:cNvPr id="5" name="Rettangolo con angoli arrotondati 4">
            <a:extLst>
              <a:ext uri="{FF2B5EF4-FFF2-40B4-BE49-F238E27FC236}">
                <a16:creationId xmlns:a16="http://schemas.microsoft.com/office/drawing/2014/main" id="{60487F85-8AE4-4486-8ECF-49CEFEA4F083}"/>
              </a:ext>
            </a:extLst>
          </p:cNvPr>
          <p:cNvSpPr>
            <a:spLocks noGrp="1"/>
          </p:cNvSpPr>
          <p:nvPr/>
        </p:nvSpPr>
        <p:spPr>
          <a:xfrm>
            <a:off x="590550" y="1619250"/>
            <a:ext cx="11001375" cy="3943350"/>
          </a:xfrm>
          <a:prstGeom prst="roundRect">
            <a:avLst>
              <a:gd name="adj" fmla="val 2899"/>
            </a:avLst>
          </a:prstGeom>
          <a:solidFill>
            <a:srgbClr val="F7F9F8"/>
          </a:solidFill>
          <a:ln w="9525">
            <a:solidFill>
              <a:srgbClr val="CBD7D6"/>
            </a:solidFill>
            <a:prstDash val="solid"/>
          </a:ln>
        </p:spPr>
        <p:txBody>
          <a:bodyPr/>
          <a:lstStyle/>
          <a:p>
            <a:endParaRPr/>
          </a:p>
        </p:txBody>
      </p:sp>
      <p:pic>
        <p:nvPicPr>
          <p:cNvPr id="15" name="Immagine 14"/>
          <p:cNvPicPr>
            <a:picLocks noChangeAspect="1"/>
          </p:cNvPicPr>
          <p:nvPr/>
        </p:nvPicPr>
        <p:blipFill>
          <a:blip r:embed="rId3"/>
          <a:stretch/>
        </p:blipFill>
        <p:spPr>
          <a:xfrm>
            <a:off x="2423989" y="1809750"/>
            <a:ext cx="7334497" cy="3562350"/>
          </a:xfrm>
          <a:prstGeom prst="rect">
            <a:avLst/>
          </a:prstGeom>
        </p:spPr>
      </p:pic>
      <p:sp>
        <p:nvSpPr>
          <p:cNvPr id="7" name="Rettangolo 6">
            <a:extLst>
              <a:ext uri="{FF2B5EF4-FFF2-40B4-BE49-F238E27FC236}">
                <a16:creationId xmlns:a16="http://schemas.microsoft.com/office/drawing/2014/main" id="{22C849C9-6B53-4CFC-B0E6-DA18C04D6ECC}"/>
              </a:ext>
            </a:extLst>
          </p:cNvPr>
          <p:cNvSpPr>
            <a:spLocks noGrp="1"/>
          </p:cNvSpPr>
          <p:nvPr/>
        </p:nvSpPr>
        <p:spPr>
          <a:xfrm>
            <a:off x="609600" y="5953125"/>
            <a:ext cx="57150" cy="400050"/>
          </a:xfrm>
          <a:prstGeom prst="rect">
            <a:avLst/>
          </a:prstGeom>
          <a:solidFill>
            <a:srgbClr val="167D73"/>
          </a:solidFill>
          <a:ln w="0">
            <a:solidFill>
              <a:srgbClr val="167D73"/>
            </a:solidFill>
            <a:prstDash val="solid"/>
          </a:ln>
        </p:spPr>
        <p:txBody>
          <a:bodyPr/>
          <a:lstStyle/>
          <a:p>
            <a:endParaRPr/>
          </a:p>
        </p:txBody>
      </p:sp>
      <p:sp>
        <p:nvSpPr>
          <p:cNvPr id="8" name="Rettangolo 7">
            <a:extLst>
              <a:ext uri="{FF2B5EF4-FFF2-40B4-BE49-F238E27FC236}">
                <a16:creationId xmlns:a16="http://schemas.microsoft.com/office/drawing/2014/main" id="{ABCEDC8C-BF98-4E06-8DC0-4DCE1F2BBEFF}"/>
              </a:ext>
            </a:extLst>
          </p:cNvPr>
          <p:cNvSpPr>
            <a:spLocks noGrp="1"/>
          </p:cNvSpPr>
          <p:nvPr/>
        </p:nvSpPr>
        <p:spPr>
          <a:xfrm>
            <a:off x="800100" y="5943600"/>
            <a:ext cx="10287000" cy="457200"/>
          </a:xfrm>
          <a:prstGeom prst="rect">
            <a:avLst/>
          </a:prstGeom>
          <a:noFill/>
          <a:ln w="0">
            <a:noFill/>
            <a:prstDash val="solid"/>
          </a:ln>
        </p:spPr>
        <p:txBody>
          <a:bodyPr anchor="t"/>
          <a:lstStyle/>
          <a:p>
            <a:pPr algn="l">
              <a:buNone/>
              <a:defRPr sz="1650" b="1" i="0">
                <a:solidFill>
                  <a:srgbClr val="13212A"/>
                </a:solidFill>
              </a:defRPr>
            </a:pPr>
            <a:r>
              <a:rPr sz="1650" b="1" i="0">
                <a:solidFill>
                  <a:srgbClr val="13212A"/>
                </a:solidFill>
              </a:rPr>
              <a:t>Temporal and site-level variability motivates continuous profiling rather than one static summary.</a:t>
            </a:r>
          </a:p>
        </p:txBody>
      </p:sp>
    </p:spTree>
    <p:extLst>
      <p:ext uri="{BB962C8B-B14F-4D97-AF65-F5344CB8AC3E}">
        <p14:creationId xmlns:p14="http://schemas.microsoft.com/office/powerpoint/2010/main" val="107155712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4" name="Rettangolo 33">
            <a:extLst>
              <a:ext uri="{FF2B5EF4-FFF2-40B4-BE49-F238E27FC236}">
                <a16:creationId xmlns:a16="http://schemas.microsoft.com/office/drawing/2014/main" id="{31110AA1-1184-491D-BDFE-E686501F036F}"/>
              </a:ext>
            </a:extLst>
          </p:cNvPr>
          <p:cNvSpPr>
            <a:spLocks noGrp="1"/>
          </p:cNvSpPr>
          <p:nvPr/>
        </p:nvSpPr>
        <p:spPr>
          <a:xfrm>
            <a:off x="609600" y="323850"/>
            <a:ext cx="5905500" cy="228600"/>
          </a:xfrm>
          <a:prstGeom prst="rect">
            <a:avLst/>
          </a:prstGeom>
          <a:noFill/>
          <a:ln w="0">
            <a:noFill/>
            <a:prstDash val="solid"/>
          </a:ln>
        </p:spPr>
        <p:txBody>
          <a:bodyPr anchor="t"/>
          <a:lstStyle/>
          <a:p>
            <a:pPr algn="l">
              <a:buNone/>
              <a:defRPr sz="1125" b="1" i="0">
                <a:solidFill>
                  <a:srgbClr val="167D73"/>
                </a:solidFill>
              </a:defRPr>
            </a:pPr>
            <a:r>
              <a:rPr sz="1125" b="1" i="0">
                <a:solidFill>
                  <a:srgbClr val="167D73"/>
                </a:solidFill>
              </a:rPr>
              <a:t>KDIID · RFD CONSISTENCY PROFILING</a:t>
            </a:r>
          </a:p>
        </p:txBody>
      </p:sp>
      <p:sp>
        <p:nvSpPr>
          <p:cNvPr id="2" name="Rettangolo 1">
            <a:extLst>
              <a:ext uri="{FF2B5EF4-FFF2-40B4-BE49-F238E27FC236}">
                <a16:creationId xmlns:a16="http://schemas.microsoft.com/office/drawing/2014/main" id="{94FA4DBA-FC81-4AA5-8F28-B2D9048E325C}"/>
              </a:ext>
            </a:extLst>
          </p:cNvPr>
          <p:cNvSpPr>
            <a:spLocks noGrp="1"/>
          </p:cNvSpPr>
          <p:nvPr/>
        </p:nvSpPr>
        <p:spPr>
          <a:xfrm>
            <a:off x="609600" y="647700"/>
            <a:ext cx="10668000" cy="666750"/>
          </a:xfrm>
          <a:prstGeom prst="rect">
            <a:avLst/>
          </a:prstGeom>
          <a:noFill/>
          <a:ln w="0">
            <a:noFill/>
            <a:prstDash val="solid"/>
          </a:ln>
        </p:spPr>
        <p:txBody>
          <a:bodyPr anchor="t"/>
          <a:lstStyle/>
          <a:p>
            <a:pPr algn="l">
              <a:buNone/>
              <a:defRPr sz="3600" b="1" i="0">
                <a:solidFill>
                  <a:srgbClr val="13212A"/>
                </a:solidFill>
              </a:defRPr>
            </a:pPr>
            <a:r>
              <a:rPr sz="3600" b="1" i="0">
                <a:solidFill>
                  <a:srgbClr val="13212A"/>
                </a:solidFill>
              </a:rPr>
              <a:t>Top RFDs discovered by DiMε</a:t>
            </a:r>
          </a:p>
        </p:txBody>
      </p:sp>
      <p:sp>
        <p:nvSpPr>
          <p:cNvPr id="3" name="Connettore dritto 2">
            <a:extLst>
              <a:ext uri="{FF2B5EF4-FFF2-40B4-BE49-F238E27FC236}">
                <a16:creationId xmlns:a16="http://schemas.microsoft.com/office/drawing/2014/main" id="{207E91DF-27F3-44F5-9F3C-89FAF9104DA1}"/>
              </a:ext>
            </a:extLst>
          </p:cNvPr>
          <p:cNvSpPr>
            <a:spLocks noGrp="1"/>
          </p:cNvSpPr>
          <p:nvPr/>
        </p:nvSpPr>
        <p:spPr>
          <a:xfrm>
            <a:off x="609600" y="1381125"/>
            <a:ext cx="10972800" cy="0"/>
          </a:xfrm>
          <a:prstGeom prst="line">
            <a:avLst/>
          </a:prstGeom>
          <a:noFill/>
          <a:ln w="9525">
            <a:solidFill>
              <a:srgbClr val="CBD7D6"/>
            </a:solidFill>
            <a:prstDash val="solid"/>
          </a:ln>
        </p:spPr>
        <p:txBody>
          <a:bodyPr/>
          <a:lstStyle/>
          <a:p>
            <a:endParaRPr/>
          </a:p>
        </p:txBody>
      </p:sp>
      <p:sp>
        <p:nvSpPr>
          <p:cNvPr id="4" name="Rettangolo 3">
            <a:extLst>
              <a:ext uri="{FF2B5EF4-FFF2-40B4-BE49-F238E27FC236}">
                <a16:creationId xmlns:a16="http://schemas.microsoft.com/office/drawing/2014/main" id="{566707FF-99B3-46FB-B8E5-F47EC6C6706A}"/>
              </a:ext>
            </a:extLst>
          </p:cNvPr>
          <p:cNvSpPr>
            <a:spLocks noGrp="1"/>
          </p:cNvSpPr>
          <p:nvPr/>
        </p:nvSpPr>
        <p:spPr>
          <a:xfrm>
            <a:off x="11144250" y="6419850"/>
            <a:ext cx="438150" cy="209550"/>
          </a:xfrm>
          <a:prstGeom prst="rect">
            <a:avLst/>
          </a:prstGeom>
          <a:noFill/>
          <a:ln w="0">
            <a:noFill/>
            <a:prstDash val="solid"/>
          </a:ln>
        </p:spPr>
        <p:txBody>
          <a:bodyPr anchor="t"/>
          <a:lstStyle/>
          <a:p>
            <a:pPr algn="r">
              <a:buNone/>
              <a:defRPr sz="1125" b="1" i="0">
                <a:solidFill>
                  <a:srgbClr val="52636D"/>
                </a:solidFill>
              </a:defRPr>
            </a:pPr>
            <a:r>
              <a:rPr sz="1125" b="1" i="0">
                <a:solidFill>
                  <a:srgbClr val="52636D"/>
                </a:solidFill>
              </a:rPr>
              <a:t>12</a:t>
            </a:r>
          </a:p>
        </p:txBody>
      </p:sp>
      <p:sp>
        <p:nvSpPr>
          <p:cNvPr id="5" name="Rettangolo 4">
            <a:extLst>
              <a:ext uri="{FF2B5EF4-FFF2-40B4-BE49-F238E27FC236}">
                <a16:creationId xmlns:a16="http://schemas.microsoft.com/office/drawing/2014/main" id="{0C6A0B64-0812-4CE3-9974-77196A50D66C}"/>
              </a:ext>
            </a:extLst>
          </p:cNvPr>
          <p:cNvSpPr>
            <a:spLocks noGrp="1"/>
          </p:cNvSpPr>
          <p:nvPr/>
        </p:nvSpPr>
        <p:spPr>
          <a:xfrm>
            <a:off x="628650" y="1781175"/>
            <a:ext cx="5715000" cy="285750"/>
          </a:xfrm>
          <a:prstGeom prst="rect">
            <a:avLst/>
          </a:prstGeom>
          <a:noFill/>
          <a:ln w="0">
            <a:noFill/>
            <a:prstDash val="solid"/>
          </a:ln>
        </p:spPr>
        <p:txBody>
          <a:bodyPr anchor="t"/>
          <a:lstStyle/>
          <a:p>
            <a:pPr algn="l">
              <a:buNone/>
              <a:defRPr sz="1350" b="1" i="0">
                <a:solidFill>
                  <a:srgbClr val="52636D"/>
                </a:solidFill>
              </a:defRPr>
            </a:pPr>
            <a:r>
              <a:rPr sz="1350" b="1" i="0">
                <a:solidFill>
                  <a:srgbClr val="52636D"/>
                </a:solidFill>
              </a:rPr>
              <a:t>Rule</a:t>
            </a:r>
          </a:p>
        </p:txBody>
      </p:sp>
      <p:sp>
        <p:nvSpPr>
          <p:cNvPr id="6" name="Rettangolo 5">
            <a:extLst>
              <a:ext uri="{FF2B5EF4-FFF2-40B4-BE49-F238E27FC236}">
                <a16:creationId xmlns:a16="http://schemas.microsoft.com/office/drawing/2014/main" id="{132E8BC4-09EB-4743-9BF0-07067F1CEE15}"/>
              </a:ext>
            </a:extLst>
          </p:cNvPr>
          <p:cNvSpPr>
            <a:spLocks noGrp="1"/>
          </p:cNvSpPr>
          <p:nvPr/>
        </p:nvSpPr>
        <p:spPr>
          <a:xfrm>
            <a:off x="6572250" y="1781175"/>
            <a:ext cx="952500" cy="285750"/>
          </a:xfrm>
          <a:prstGeom prst="rect">
            <a:avLst/>
          </a:prstGeom>
          <a:noFill/>
          <a:ln w="0">
            <a:noFill/>
            <a:prstDash val="solid"/>
          </a:ln>
        </p:spPr>
        <p:txBody>
          <a:bodyPr anchor="t"/>
          <a:lstStyle/>
          <a:p>
            <a:pPr algn="ctr">
              <a:buNone/>
              <a:defRPr sz="1350" b="1" i="0">
                <a:solidFill>
                  <a:srgbClr val="52636D"/>
                </a:solidFill>
              </a:defRPr>
            </a:pPr>
            <a:r>
              <a:rPr sz="1350" b="1" i="0">
                <a:solidFill>
                  <a:srgbClr val="52636D"/>
                </a:solidFill>
              </a:rPr>
              <a:t>Support</a:t>
            </a:r>
          </a:p>
        </p:txBody>
      </p:sp>
      <p:sp>
        <p:nvSpPr>
          <p:cNvPr id="7" name="Rettangolo 6">
            <a:extLst>
              <a:ext uri="{FF2B5EF4-FFF2-40B4-BE49-F238E27FC236}">
                <a16:creationId xmlns:a16="http://schemas.microsoft.com/office/drawing/2014/main" id="{BD66C6D7-D1D3-4E99-B11C-E09087CDDAA4}"/>
              </a:ext>
            </a:extLst>
          </p:cNvPr>
          <p:cNvSpPr>
            <a:spLocks noGrp="1"/>
          </p:cNvSpPr>
          <p:nvPr/>
        </p:nvSpPr>
        <p:spPr>
          <a:xfrm>
            <a:off x="7715250" y="1781175"/>
            <a:ext cx="952500" cy="285750"/>
          </a:xfrm>
          <a:prstGeom prst="rect">
            <a:avLst/>
          </a:prstGeom>
          <a:noFill/>
          <a:ln w="0">
            <a:noFill/>
            <a:prstDash val="solid"/>
          </a:ln>
        </p:spPr>
        <p:txBody>
          <a:bodyPr anchor="t"/>
          <a:lstStyle/>
          <a:p>
            <a:pPr algn="ctr">
              <a:buNone/>
              <a:defRPr sz="1350" b="1" i="0">
                <a:solidFill>
                  <a:srgbClr val="52636D"/>
                </a:solidFill>
              </a:defRPr>
            </a:pPr>
            <a:r>
              <a:rPr sz="1350" b="1" i="0">
                <a:solidFill>
                  <a:srgbClr val="52636D"/>
                </a:solidFill>
              </a:rPr>
              <a:t>Conf.</a:t>
            </a:r>
          </a:p>
        </p:txBody>
      </p:sp>
      <p:sp>
        <p:nvSpPr>
          <p:cNvPr id="8" name="Rettangolo 7">
            <a:extLst>
              <a:ext uri="{FF2B5EF4-FFF2-40B4-BE49-F238E27FC236}">
                <a16:creationId xmlns:a16="http://schemas.microsoft.com/office/drawing/2014/main" id="{680FBC18-DB4E-4E6E-A00C-DB04C7DCB509}"/>
              </a:ext>
            </a:extLst>
          </p:cNvPr>
          <p:cNvSpPr>
            <a:spLocks noGrp="1"/>
          </p:cNvSpPr>
          <p:nvPr/>
        </p:nvSpPr>
        <p:spPr>
          <a:xfrm>
            <a:off x="8905875" y="1781175"/>
            <a:ext cx="1000125" cy="285750"/>
          </a:xfrm>
          <a:prstGeom prst="rect">
            <a:avLst/>
          </a:prstGeom>
          <a:noFill/>
          <a:ln w="0">
            <a:noFill/>
            <a:prstDash val="solid"/>
          </a:ln>
        </p:spPr>
        <p:txBody>
          <a:bodyPr anchor="t"/>
          <a:lstStyle/>
          <a:p>
            <a:pPr algn="ctr">
              <a:buNone/>
              <a:defRPr sz="1350" b="1" i="0">
                <a:solidFill>
                  <a:srgbClr val="52636D"/>
                </a:solidFill>
              </a:defRPr>
            </a:pPr>
            <a:r>
              <a:rPr sz="1350" b="1" i="0">
                <a:solidFill>
                  <a:srgbClr val="52636D"/>
                </a:solidFill>
              </a:rPr>
              <a:t>g3</a:t>
            </a:r>
          </a:p>
        </p:txBody>
      </p:sp>
      <p:sp>
        <p:nvSpPr>
          <p:cNvPr id="9" name="Rettangolo 8">
            <a:extLst>
              <a:ext uri="{FF2B5EF4-FFF2-40B4-BE49-F238E27FC236}">
                <a16:creationId xmlns:a16="http://schemas.microsoft.com/office/drawing/2014/main" id="{C4E36207-3E4F-4D7A-9FE7-06ABA636E791}"/>
              </a:ext>
            </a:extLst>
          </p:cNvPr>
          <p:cNvSpPr>
            <a:spLocks noGrp="1"/>
          </p:cNvSpPr>
          <p:nvPr/>
        </p:nvSpPr>
        <p:spPr>
          <a:xfrm>
            <a:off x="10096500" y="1781175"/>
            <a:ext cx="952500" cy="285750"/>
          </a:xfrm>
          <a:prstGeom prst="rect">
            <a:avLst/>
          </a:prstGeom>
          <a:noFill/>
          <a:ln w="0">
            <a:noFill/>
            <a:prstDash val="solid"/>
          </a:ln>
        </p:spPr>
        <p:txBody>
          <a:bodyPr anchor="t"/>
          <a:lstStyle/>
          <a:p>
            <a:pPr algn="ctr">
              <a:buNone/>
              <a:defRPr sz="1350" b="1" i="0">
                <a:solidFill>
                  <a:srgbClr val="52636D"/>
                </a:solidFill>
              </a:defRPr>
            </a:pPr>
            <a:r>
              <a:rPr sz="1350" b="1" i="0">
                <a:solidFill>
                  <a:srgbClr val="52636D"/>
                </a:solidFill>
              </a:rPr>
              <a:t>Lift</a:t>
            </a:r>
          </a:p>
        </p:txBody>
      </p:sp>
      <p:sp>
        <p:nvSpPr>
          <p:cNvPr id="10" name="Connettore dritto 9">
            <a:extLst>
              <a:ext uri="{FF2B5EF4-FFF2-40B4-BE49-F238E27FC236}">
                <a16:creationId xmlns:a16="http://schemas.microsoft.com/office/drawing/2014/main" id="{52CCE919-634F-4520-9DF7-8C8F6256D849}"/>
              </a:ext>
            </a:extLst>
          </p:cNvPr>
          <p:cNvSpPr>
            <a:spLocks noGrp="1"/>
          </p:cNvSpPr>
          <p:nvPr/>
        </p:nvSpPr>
        <p:spPr>
          <a:xfrm>
            <a:off x="609600" y="2133600"/>
            <a:ext cx="10477500" cy="0"/>
          </a:xfrm>
          <a:prstGeom prst="line">
            <a:avLst/>
          </a:prstGeom>
          <a:noFill/>
          <a:ln w="19050">
            <a:solidFill>
              <a:srgbClr val="13212A"/>
            </a:solidFill>
            <a:prstDash val="solid"/>
          </a:ln>
        </p:spPr>
        <p:txBody>
          <a:bodyPr/>
          <a:lstStyle/>
          <a:p>
            <a:endParaRPr/>
          </a:p>
        </p:txBody>
      </p:sp>
      <p:sp>
        <p:nvSpPr>
          <p:cNvPr id="11" name="Rettangolo 10">
            <a:extLst>
              <a:ext uri="{FF2B5EF4-FFF2-40B4-BE49-F238E27FC236}">
                <a16:creationId xmlns:a16="http://schemas.microsoft.com/office/drawing/2014/main" id="{6776A421-D4F6-4FBA-B3CE-23295F6669F0}"/>
              </a:ext>
            </a:extLst>
          </p:cNvPr>
          <p:cNvSpPr>
            <a:spLocks noGrp="1"/>
          </p:cNvSpPr>
          <p:nvPr/>
        </p:nvSpPr>
        <p:spPr>
          <a:xfrm>
            <a:off x="552450" y="2247900"/>
            <a:ext cx="10591800" cy="704850"/>
          </a:xfrm>
          <a:prstGeom prst="rect">
            <a:avLst/>
          </a:prstGeom>
          <a:solidFill>
            <a:srgbClr val="EEF4F3"/>
          </a:solidFill>
          <a:ln w="0">
            <a:solidFill>
              <a:srgbClr val="EEF4F3"/>
            </a:solidFill>
            <a:prstDash val="solid"/>
          </a:ln>
        </p:spPr>
        <p:txBody>
          <a:bodyPr/>
          <a:lstStyle/>
          <a:p>
            <a:endParaRPr/>
          </a:p>
        </p:txBody>
      </p:sp>
      <p:sp>
        <p:nvSpPr>
          <p:cNvPr id="12" name="Rettangolo 11">
            <a:extLst>
              <a:ext uri="{FF2B5EF4-FFF2-40B4-BE49-F238E27FC236}">
                <a16:creationId xmlns:a16="http://schemas.microsoft.com/office/drawing/2014/main" id="{6D975271-EDC6-443F-A28D-15159124FEBA}"/>
              </a:ext>
            </a:extLst>
          </p:cNvPr>
          <p:cNvSpPr>
            <a:spLocks noGrp="1"/>
          </p:cNvSpPr>
          <p:nvPr/>
        </p:nvSpPr>
        <p:spPr>
          <a:xfrm>
            <a:off x="628650" y="2343150"/>
            <a:ext cx="5715000" cy="476250"/>
          </a:xfrm>
          <a:prstGeom prst="rect">
            <a:avLst/>
          </a:prstGeom>
          <a:noFill/>
          <a:ln w="0">
            <a:noFill/>
            <a:prstDash val="solid"/>
          </a:ln>
        </p:spPr>
        <p:txBody>
          <a:bodyPr anchor="t"/>
          <a:lstStyle/>
          <a:p>
            <a:pPr algn="l">
              <a:buNone/>
              <a:defRPr sz="1650" b="1" i="0">
                <a:solidFill>
                  <a:srgbClr val="13212A"/>
                </a:solidFill>
              </a:defRPr>
            </a:pPr>
            <a:r>
              <a:rPr sz="1650" b="1" i="0">
                <a:solidFill>
                  <a:srgbClr val="13212A"/>
                </a:solidFill>
              </a:rPr>
              <a:t>station, PM10, NO2, O3, TEMP → WSPM</a:t>
            </a:r>
          </a:p>
        </p:txBody>
      </p:sp>
      <p:sp>
        <p:nvSpPr>
          <p:cNvPr id="13" name="Rettangolo 12">
            <a:extLst>
              <a:ext uri="{FF2B5EF4-FFF2-40B4-BE49-F238E27FC236}">
                <a16:creationId xmlns:a16="http://schemas.microsoft.com/office/drawing/2014/main" id="{538FB807-B4D7-426C-B29B-1157942269C7}"/>
              </a:ext>
            </a:extLst>
          </p:cNvPr>
          <p:cNvSpPr>
            <a:spLocks noGrp="1"/>
          </p:cNvSpPr>
          <p:nvPr/>
        </p:nvSpPr>
        <p:spPr>
          <a:xfrm>
            <a:off x="6572250" y="2343150"/>
            <a:ext cx="952500" cy="476250"/>
          </a:xfrm>
          <a:prstGeom prst="rect">
            <a:avLst/>
          </a:prstGeom>
          <a:noFill/>
          <a:ln w="0">
            <a:noFill/>
            <a:prstDash val="solid"/>
          </a:ln>
        </p:spPr>
        <p:txBody>
          <a:bodyPr anchor="t"/>
          <a:lstStyle/>
          <a:p>
            <a:pPr algn="ctr">
              <a:buNone/>
              <a:defRPr sz="1800" b="1" i="0">
                <a:solidFill>
                  <a:srgbClr val="13212A"/>
                </a:solidFill>
              </a:defRPr>
            </a:pPr>
            <a:r>
              <a:rPr sz="1800" b="1" i="0">
                <a:solidFill>
                  <a:srgbClr val="13212A"/>
                </a:solidFill>
              </a:rPr>
              <a:t>0.0016</a:t>
            </a:r>
          </a:p>
        </p:txBody>
      </p:sp>
      <p:sp>
        <p:nvSpPr>
          <p:cNvPr id="14" name="Rettangolo 13">
            <a:extLst>
              <a:ext uri="{FF2B5EF4-FFF2-40B4-BE49-F238E27FC236}">
                <a16:creationId xmlns:a16="http://schemas.microsoft.com/office/drawing/2014/main" id="{816222DA-02A5-4665-9476-3ED4FD3F2C13}"/>
              </a:ext>
            </a:extLst>
          </p:cNvPr>
          <p:cNvSpPr>
            <a:spLocks noGrp="1"/>
          </p:cNvSpPr>
          <p:nvPr/>
        </p:nvSpPr>
        <p:spPr>
          <a:xfrm>
            <a:off x="7715250" y="2343150"/>
            <a:ext cx="952500" cy="476250"/>
          </a:xfrm>
          <a:prstGeom prst="rect">
            <a:avLst/>
          </a:prstGeom>
          <a:noFill/>
          <a:ln w="0">
            <a:noFill/>
            <a:prstDash val="solid"/>
          </a:ln>
        </p:spPr>
        <p:txBody>
          <a:bodyPr anchor="t"/>
          <a:lstStyle/>
          <a:p>
            <a:pPr algn="ctr">
              <a:buNone/>
              <a:defRPr sz="1800" b="1" i="0">
                <a:solidFill>
                  <a:srgbClr val="13212A"/>
                </a:solidFill>
              </a:defRPr>
            </a:pPr>
            <a:r>
              <a:rPr sz="1800" b="1" i="0">
                <a:solidFill>
                  <a:srgbClr val="13212A"/>
                </a:solidFill>
              </a:rPr>
              <a:t>0.899</a:t>
            </a:r>
          </a:p>
        </p:txBody>
      </p:sp>
      <p:sp>
        <p:nvSpPr>
          <p:cNvPr id="15" name="Rettangolo 14">
            <a:extLst>
              <a:ext uri="{FF2B5EF4-FFF2-40B4-BE49-F238E27FC236}">
                <a16:creationId xmlns:a16="http://schemas.microsoft.com/office/drawing/2014/main" id="{4C0FA988-FD50-43EF-9098-964EFDC291C5}"/>
              </a:ext>
            </a:extLst>
          </p:cNvPr>
          <p:cNvSpPr>
            <a:spLocks noGrp="1"/>
          </p:cNvSpPr>
          <p:nvPr/>
        </p:nvSpPr>
        <p:spPr>
          <a:xfrm>
            <a:off x="8905875" y="2343150"/>
            <a:ext cx="1000125" cy="476250"/>
          </a:xfrm>
          <a:prstGeom prst="rect">
            <a:avLst/>
          </a:prstGeom>
          <a:noFill/>
          <a:ln w="0">
            <a:noFill/>
            <a:prstDash val="solid"/>
          </a:ln>
        </p:spPr>
        <p:txBody>
          <a:bodyPr anchor="t"/>
          <a:lstStyle/>
          <a:p>
            <a:pPr algn="ctr">
              <a:buNone/>
              <a:defRPr sz="1800" b="1" i="0">
                <a:solidFill>
                  <a:srgbClr val="13212A"/>
                </a:solidFill>
              </a:defRPr>
            </a:pPr>
            <a:r>
              <a:rPr sz="1800" b="1" i="0">
                <a:solidFill>
                  <a:srgbClr val="13212A"/>
                </a:solidFill>
              </a:rPr>
              <a:t>0.092</a:t>
            </a:r>
          </a:p>
        </p:txBody>
      </p:sp>
      <p:sp>
        <p:nvSpPr>
          <p:cNvPr id="16" name="Rettangolo 15">
            <a:extLst>
              <a:ext uri="{FF2B5EF4-FFF2-40B4-BE49-F238E27FC236}">
                <a16:creationId xmlns:a16="http://schemas.microsoft.com/office/drawing/2014/main" id="{2E500D78-EDB8-4FBF-A208-07CDB46EEF46}"/>
              </a:ext>
            </a:extLst>
          </p:cNvPr>
          <p:cNvSpPr>
            <a:spLocks noGrp="1"/>
          </p:cNvSpPr>
          <p:nvPr/>
        </p:nvSpPr>
        <p:spPr>
          <a:xfrm>
            <a:off x="10096500" y="2343150"/>
            <a:ext cx="952500" cy="476250"/>
          </a:xfrm>
          <a:prstGeom prst="rect">
            <a:avLst/>
          </a:prstGeom>
          <a:noFill/>
          <a:ln w="0">
            <a:noFill/>
            <a:prstDash val="solid"/>
          </a:ln>
        </p:spPr>
        <p:txBody>
          <a:bodyPr anchor="t"/>
          <a:lstStyle/>
          <a:p>
            <a:pPr algn="ctr">
              <a:buNone/>
              <a:defRPr sz="1800" b="1" i="0">
                <a:solidFill>
                  <a:srgbClr val="167D73"/>
                </a:solidFill>
              </a:defRPr>
            </a:pPr>
            <a:r>
              <a:rPr sz="1800" b="1" i="0">
                <a:solidFill>
                  <a:srgbClr val="167D73"/>
                </a:solidFill>
              </a:rPr>
              <a:t>1.163</a:t>
            </a:r>
          </a:p>
        </p:txBody>
      </p:sp>
      <p:sp>
        <p:nvSpPr>
          <p:cNvPr id="17" name="Connettore dritto 16">
            <a:extLst>
              <a:ext uri="{FF2B5EF4-FFF2-40B4-BE49-F238E27FC236}">
                <a16:creationId xmlns:a16="http://schemas.microsoft.com/office/drawing/2014/main" id="{17227CE4-69E3-407B-B59D-AB3FC086DC05}"/>
              </a:ext>
            </a:extLst>
          </p:cNvPr>
          <p:cNvSpPr>
            <a:spLocks noGrp="1"/>
          </p:cNvSpPr>
          <p:nvPr/>
        </p:nvSpPr>
        <p:spPr>
          <a:xfrm>
            <a:off x="609600" y="2971800"/>
            <a:ext cx="10477500" cy="0"/>
          </a:xfrm>
          <a:prstGeom prst="line">
            <a:avLst/>
          </a:prstGeom>
          <a:noFill/>
          <a:ln w="9525">
            <a:solidFill>
              <a:srgbClr val="CBD7D6"/>
            </a:solidFill>
            <a:prstDash val="solid"/>
          </a:ln>
        </p:spPr>
        <p:txBody>
          <a:bodyPr/>
          <a:lstStyle/>
          <a:p>
            <a:endParaRPr/>
          </a:p>
        </p:txBody>
      </p:sp>
      <p:sp>
        <p:nvSpPr>
          <p:cNvPr id="18" name="Rettangolo 17">
            <a:extLst>
              <a:ext uri="{FF2B5EF4-FFF2-40B4-BE49-F238E27FC236}">
                <a16:creationId xmlns:a16="http://schemas.microsoft.com/office/drawing/2014/main" id="{AC512EE4-398A-411D-9644-1E803D2232CB}"/>
              </a:ext>
            </a:extLst>
          </p:cNvPr>
          <p:cNvSpPr>
            <a:spLocks noGrp="1"/>
          </p:cNvSpPr>
          <p:nvPr/>
        </p:nvSpPr>
        <p:spPr>
          <a:xfrm>
            <a:off x="628650" y="3219450"/>
            <a:ext cx="5715000" cy="476250"/>
          </a:xfrm>
          <a:prstGeom prst="rect">
            <a:avLst/>
          </a:prstGeom>
          <a:noFill/>
          <a:ln w="0">
            <a:noFill/>
            <a:prstDash val="solid"/>
          </a:ln>
        </p:spPr>
        <p:txBody>
          <a:bodyPr anchor="t"/>
          <a:lstStyle/>
          <a:p>
            <a:pPr algn="l">
              <a:buNone/>
              <a:defRPr sz="1650" b="0" i="0">
                <a:solidFill>
                  <a:srgbClr val="13212A"/>
                </a:solidFill>
              </a:defRPr>
            </a:pPr>
            <a:r>
              <a:rPr sz="1650" b="0" i="0">
                <a:solidFill>
                  <a:srgbClr val="13212A"/>
                </a:solidFill>
              </a:rPr>
              <a:t>PM2.5, PM10, NO2, O3, TEMP → WSPM</a:t>
            </a:r>
          </a:p>
        </p:txBody>
      </p:sp>
      <p:sp>
        <p:nvSpPr>
          <p:cNvPr id="19" name="Rettangolo 18">
            <a:extLst>
              <a:ext uri="{FF2B5EF4-FFF2-40B4-BE49-F238E27FC236}">
                <a16:creationId xmlns:a16="http://schemas.microsoft.com/office/drawing/2014/main" id="{A89DDD17-B880-4C46-A118-ABDDA4A089BC}"/>
              </a:ext>
            </a:extLst>
          </p:cNvPr>
          <p:cNvSpPr>
            <a:spLocks noGrp="1"/>
          </p:cNvSpPr>
          <p:nvPr/>
        </p:nvSpPr>
        <p:spPr>
          <a:xfrm>
            <a:off x="6572250" y="3219450"/>
            <a:ext cx="952500" cy="476250"/>
          </a:xfrm>
          <a:prstGeom prst="rect">
            <a:avLst/>
          </a:prstGeom>
          <a:noFill/>
          <a:ln w="0">
            <a:noFill/>
            <a:prstDash val="solid"/>
          </a:ln>
        </p:spPr>
        <p:txBody>
          <a:bodyPr anchor="t"/>
          <a:lstStyle/>
          <a:p>
            <a:pPr algn="ctr">
              <a:buNone/>
              <a:defRPr sz="1800" b="0" i="0">
                <a:solidFill>
                  <a:srgbClr val="13212A"/>
                </a:solidFill>
              </a:defRPr>
            </a:pPr>
            <a:r>
              <a:rPr sz="1800" b="0" i="0">
                <a:solidFill>
                  <a:srgbClr val="13212A"/>
                </a:solidFill>
              </a:rPr>
              <a:t>0.0013</a:t>
            </a:r>
          </a:p>
        </p:txBody>
      </p:sp>
      <p:sp>
        <p:nvSpPr>
          <p:cNvPr id="20" name="Rettangolo 19">
            <a:extLst>
              <a:ext uri="{FF2B5EF4-FFF2-40B4-BE49-F238E27FC236}">
                <a16:creationId xmlns:a16="http://schemas.microsoft.com/office/drawing/2014/main" id="{2F5761DB-5985-450C-A471-8CFCD5942FBC}"/>
              </a:ext>
            </a:extLst>
          </p:cNvPr>
          <p:cNvSpPr>
            <a:spLocks noGrp="1"/>
          </p:cNvSpPr>
          <p:nvPr/>
        </p:nvSpPr>
        <p:spPr>
          <a:xfrm>
            <a:off x="7715250" y="3219450"/>
            <a:ext cx="952500" cy="476250"/>
          </a:xfrm>
          <a:prstGeom prst="rect">
            <a:avLst/>
          </a:prstGeom>
          <a:noFill/>
          <a:ln w="0">
            <a:noFill/>
            <a:prstDash val="solid"/>
          </a:ln>
        </p:spPr>
        <p:txBody>
          <a:bodyPr anchor="t"/>
          <a:lstStyle/>
          <a:p>
            <a:pPr algn="ctr">
              <a:buNone/>
              <a:defRPr sz="1800" b="0" i="0">
                <a:solidFill>
                  <a:srgbClr val="13212A"/>
                </a:solidFill>
              </a:defRPr>
            </a:pPr>
            <a:r>
              <a:rPr sz="1800" b="0" i="0">
                <a:solidFill>
                  <a:srgbClr val="13212A"/>
                </a:solidFill>
              </a:rPr>
              <a:t>0.889</a:t>
            </a:r>
          </a:p>
        </p:txBody>
      </p:sp>
      <p:sp>
        <p:nvSpPr>
          <p:cNvPr id="21" name="Rettangolo 20">
            <a:extLst>
              <a:ext uri="{FF2B5EF4-FFF2-40B4-BE49-F238E27FC236}">
                <a16:creationId xmlns:a16="http://schemas.microsoft.com/office/drawing/2014/main" id="{958DED24-199C-4EB7-BA35-F4A9B0AFE4ED}"/>
              </a:ext>
            </a:extLst>
          </p:cNvPr>
          <p:cNvSpPr>
            <a:spLocks noGrp="1"/>
          </p:cNvSpPr>
          <p:nvPr/>
        </p:nvSpPr>
        <p:spPr>
          <a:xfrm>
            <a:off x="8905875" y="3219450"/>
            <a:ext cx="1000125" cy="476250"/>
          </a:xfrm>
          <a:prstGeom prst="rect">
            <a:avLst/>
          </a:prstGeom>
          <a:noFill/>
          <a:ln w="0">
            <a:noFill/>
            <a:prstDash val="solid"/>
          </a:ln>
        </p:spPr>
        <p:txBody>
          <a:bodyPr anchor="t"/>
          <a:lstStyle/>
          <a:p>
            <a:pPr algn="ctr">
              <a:buNone/>
              <a:defRPr sz="1800" b="0" i="0">
                <a:solidFill>
                  <a:srgbClr val="13212A"/>
                </a:solidFill>
              </a:defRPr>
            </a:pPr>
            <a:r>
              <a:rPr sz="1800" b="0" i="0">
                <a:solidFill>
                  <a:srgbClr val="13212A"/>
                </a:solidFill>
              </a:rPr>
              <a:t>0.074</a:t>
            </a:r>
          </a:p>
        </p:txBody>
      </p:sp>
      <p:sp>
        <p:nvSpPr>
          <p:cNvPr id="22" name="Rettangolo 21">
            <a:extLst>
              <a:ext uri="{FF2B5EF4-FFF2-40B4-BE49-F238E27FC236}">
                <a16:creationId xmlns:a16="http://schemas.microsoft.com/office/drawing/2014/main" id="{5602F95B-5841-4825-B780-427D3B22400C}"/>
              </a:ext>
            </a:extLst>
          </p:cNvPr>
          <p:cNvSpPr>
            <a:spLocks noGrp="1"/>
          </p:cNvSpPr>
          <p:nvPr/>
        </p:nvSpPr>
        <p:spPr>
          <a:xfrm>
            <a:off x="10096500" y="3219450"/>
            <a:ext cx="952500" cy="476250"/>
          </a:xfrm>
          <a:prstGeom prst="rect">
            <a:avLst/>
          </a:prstGeom>
          <a:noFill/>
          <a:ln w="0">
            <a:noFill/>
            <a:prstDash val="solid"/>
          </a:ln>
        </p:spPr>
        <p:txBody>
          <a:bodyPr anchor="t"/>
          <a:lstStyle/>
          <a:p>
            <a:pPr algn="ctr">
              <a:buNone/>
              <a:defRPr sz="1800" b="1" i="0">
                <a:solidFill>
                  <a:srgbClr val="167D73"/>
                </a:solidFill>
              </a:defRPr>
            </a:pPr>
            <a:r>
              <a:rPr sz="1800" b="1" i="0">
                <a:solidFill>
                  <a:srgbClr val="167D73"/>
                </a:solidFill>
              </a:rPr>
              <a:t>1.155</a:t>
            </a:r>
          </a:p>
        </p:txBody>
      </p:sp>
      <p:sp>
        <p:nvSpPr>
          <p:cNvPr id="23" name="Connettore dritto 22">
            <a:extLst>
              <a:ext uri="{FF2B5EF4-FFF2-40B4-BE49-F238E27FC236}">
                <a16:creationId xmlns:a16="http://schemas.microsoft.com/office/drawing/2014/main" id="{B426CA17-E470-4A79-AAF9-9DED63FCBB29}"/>
              </a:ext>
            </a:extLst>
          </p:cNvPr>
          <p:cNvSpPr>
            <a:spLocks noGrp="1"/>
          </p:cNvSpPr>
          <p:nvPr/>
        </p:nvSpPr>
        <p:spPr>
          <a:xfrm>
            <a:off x="609600" y="3848100"/>
            <a:ext cx="10477500" cy="0"/>
          </a:xfrm>
          <a:prstGeom prst="line">
            <a:avLst/>
          </a:prstGeom>
          <a:noFill/>
          <a:ln w="9525">
            <a:solidFill>
              <a:srgbClr val="CBD7D6"/>
            </a:solidFill>
            <a:prstDash val="solid"/>
          </a:ln>
        </p:spPr>
        <p:txBody>
          <a:bodyPr/>
          <a:lstStyle/>
          <a:p>
            <a:endParaRPr/>
          </a:p>
        </p:txBody>
      </p:sp>
      <p:sp>
        <p:nvSpPr>
          <p:cNvPr id="24" name="Rettangolo 23">
            <a:extLst>
              <a:ext uri="{FF2B5EF4-FFF2-40B4-BE49-F238E27FC236}">
                <a16:creationId xmlns:a16="http://schemas.microsoft.com/office/drawing/2014/main" id="{DE21A576-CAE1-4615-870D-BD459803E083}"/>
              </a:ext>
            </a:extLst>
          </p:cNvPr>
          <p:cNvSpPr>
            <a:spLocks noGrp="1"/>
          </p:cNvSpPr>
          <p:nvPr/>
        </p:nvSpPr>
        <p:spPr>
          <a:xfrm>
            <a:off x="628650" y="4095750"/>
            <a:ext cx="5715000" cy="476250"/>
          </a:xfrm>
          <a:prstGeom prst="rect">
            <a:avLst/>
          </a:prstGeom>
          <a:noFill/>
          <a:ln w="0">
            <a:noFill/>
            <a:prstDash val="solid"/>
          </a:ln>
        </p:spPr>
        <p:txBody>
          <a:bodyPr anchor="t"/>
          <a:lstStyle/>
          <a:p>
            <a:pPr algn="l">
              <a:buNone/>
              <a:defRPr sz="1650" b="0" i="0">
                <a:solidFill>
                  <a:srgbClr val="13212A"/>
                </a:solidFill>
              </a:defRPr>
            </a:pPr>
            <a:r>
              <a:rPr sz="1650" b="0" i="0">
                <a:solidFill>
                  <a:srgbClr val="13212A"/>
                </a:solidFill>
              </a:rPr>
              <a:t>time_slot → WSPM</a:t>
            </a:r>
          </a:p>
        </p:txBody>
      </p:sp>
      <p:sp>
        <p:nvSpPr>
          <p:cNvPr id="25" name="Rettangolo 24">
            <a:extLst>
              <a:ext uri="{FF2B5EF4-FFF2-40B4-BE49-F238E27FC236}">
                <a16:creationId xmlns:a16="http://schemas.microsoft.com/office/drawing/2014/main" id="{166CE251-7047-4685-BC5A-2583062F1F5B}"/>
              </a:ext>
            </a:extLst>
          </p:cNvPr>
          <p:cNvSpPr>
            <a:spLocks noGrp="1"/>
          </p:cNvSpPr>
          <p:nvPr/>
        </p:nvSpPr>
        <p:spPr>
          <a:xfrm>
            <a:off x="6572250" y="4095750"/>
            <a:ext cx="952500" cy="476250"/>
          </a:xfrm>
          <a:prstGeom prst="rect">
            <a:avLst/>
          </a:prstGeom>
          <a:noFill/>
          <a:ln w="0">
            <a:noFill/>
            <a:prstDash val="solid"/>
          </a:ln>
        </p:spPr>
        <p:txBody>
          <a:bodyPr anchor="t"/>
          <a:lstStyle/>
          <a:p>
            <a:pPr algn="ctr">
              <a:buNone/>
              <a:defRPr sz="1800" b="0" i="0">
                <a:solidFill>
                  <a:srgbClr val="13212A"/>
                </a:solidFill>
              </a:defRPr>
            </a:pPr>
            <a:r>
              <a:rPr sz="1800" b="0" i="0">
                <a:solidFill>
                  <a:srgbClr val="13212A"/>
                </a:solidFill>
              </a:rPr>
              <a:t>0.2496</a:t>
            </a:r>
          </a:p>
        </p:txBody>
      </p:sp>
      <p:sp>
        <p:nvSpPr>
          <p:cNvPr id="26" name="Rettangolo 25">
            <a:extLst>
              <a:ext uri="{FF2B5EF4-FFF2-40B4-BE49-F238E27FC236}">
                <a16:creationId xmlns:a16="http://schemas.microsoft.com/office/drawing/2014/main" id="{E58B9546-8B68-4723-A058-E4CF7DB971F0}"/>
              </a:ext>
            </a:extLst>
          </p:cNvPr>
          <p:cNvSpPr>
            <a:spLocks noGrp="1"/>
          </p:cNvSpPr>
          <p:nvPr/>
        </p:nvSpPr>
        <p:spPr>
          <a:xfrm>
            <a:off x="7715250" y="4095750"/>
            <a:ext cx="952500" cy="476250"/>
          </a:xfrm>
          <a:prstGeom prst="rect">
            <a:avLst/>
          </a:prstGeom>
          <a:noFill/>
          <a:ln w="0">
            <a:noFill/>
            <a:prstDash val="solid"/>
          </a:ln>
        </p:spPr>
        <p:txBody>
          <a:bodyPr anchor="t"/>
          <a:lstStyle/>
          <a:p>
            <a:pPr algn="ctr">
              <a:buNone/>
              <a:defRPr sz="1800" b="0" i="0">
                <a:solidFill>
                  <a:srgbClr val="13212A"/>
                </a:solidFill>
              </a:defRPr>
            </a:pPr>
            <a:r>
              <a:rPr sz="1800" b="0" i="0">
                <a:solidFill>
                  <a:srgbClr val="13212A"/>
                </a:solidFill>
              </a:rPr>
              <a:t>0.858</a:t>
            </a:r>
          </a:p>
        </p:txBody>
      </p:sp>
      <p:sp>
        <p:nvSpPr>
          <p:cNvPr id="27" name="Rettangolo 26">
            <a:extLst>
              <a:ext uri="{FF2B5EF4-FFF2-40B4-BE49-F238E27FC236}">
                <a16:creationId xmlns:a16="http://schemas.microsoft.com/office/drawing/2014/main" id="{E432DB22-7CAD-4FAE-AB22-072D7858EBCE}"/>
              </a:ext>
            </a:extLst>
          </p:cNvPr>
          <p:cNvSpPr>
            <a:spLocks noGrp="1"/>
          </p:cNvSpPr>
          <p:nvPr/>
        </p:nvSpPr>
        <p:spPr>
          <a:xfrm>
            <a:off x="8905875" y="4095750"/>
            <a:ext cx="1000125" cy="476250"/>
          </a:xfrm>
          <a:prstGeom prst="rect">
            <a:avLst/>
          </a:prstGeom>
          <a:noFill/>
          <a:ln w="0">
            <a:noFill/>
            <a:prstDash val="solid"/>
          </a:ln>
        </p:spPr>
        <p:txBody>
          <a:bodyPr anchor="t"/>
          <a:lstStyle/>
          <a:p>
            <a:pPr algn="ctr">
              <a:buNone/>
              <a:defRPr sz="1800" b="0" i="0">
                <a:solidFill>
                  <a:srgbClr val="13212A"/>
                </a:solidFill>
              </a:defRPr>
            </a:pPr>
            <a:r>
              <a:rPr sz="1800" b="0" i="0">
                <a:solidFill>
                  <a:srgbClr val="13212A"/>
                </a:solidFill>
              </a:rPr>
              <a:t>0.047</a:t>
            </a:r>
          </a:p>
        </p:txBody>
      </p:sp>
      <p:sp>
        <p:nvSpPr>
          <p:cNvPr id="28" name="Rettangolo 27">
            <a:extLst>
              <a:ext uri="{FF2B5EF4-FFF2-40B4-BE49-F238E27FC236}">
                <a16:creationId xmlns:a16="http://schemas.microsoft.com/office/drawing/2014/main" id="{69366FC3-7099-480E-B331-F235AF50AC99}"/>
              </a:ext>
            </a:extLst>
          </p:cNvPr>
          <p:cNvSpPr>
            <a:spLocks noGrp="1"/>
          </p:cNvSpPr>
          <p:nvPr/>
        </p:nvSpPr>
        <p:spPr>
          <a:xfrm>
            <a:off x="10096500" y="4095750"/>
            <a:ext cx="952500" cy="476250"/>
          </a:xfrm>
          <a:prstGeom prst="rect">
            <a:avLst/>
          </a:prstGeom>
          <a:noFill/>
          <a:ln w="0">
            <a:noFill/>
            <a:prstDash val="solid"/>
          </a:ln>
        </p:spPr>
        <p:txBody>
          <a:bodyPr anchor="t"/>
          <a:lstStyle/>
          <a:p>
            <a:pPr algn="ctr">
              <a:buNone/>
              <a:defRPr sz="1800" b="1" i="0">
                <a:solidFill>
                  <a:srgbClr val="167D73"/>
                </a:solidFill>
              </a:defRPr>
            </a:pPr>
            <a:r>
              <a:rPr sz="1800" b="1" i="0">
                <a:solidFill>
                  <a:srgbClr val="167D73"/>
                </a:solidFill>
              </a:rPr>
              <a:t>1.113</a:t>
            </a:r>
          </a:p>
        </p:txBody>
      </p:sp>
      <p:sp>
        <p:nvSpPr>
          <p:cNvPr id="29" name="Connettore dritto 28">
            <a:extLst>
              <a:ext uri="{FF2B5EF4-FFF2-40B4-BE49-F238E27FC236}">
                <a16:creationId xmlns:a16="http://schemas.microsoft.com/office/drawing/2014/main" id="{00323B97-D867-425F-A8EA-DC7D4CBE87FE}"/>
              </a:ext>
            </a:extLst>
          </p:cNvPr>
          <p:cNvSpPr>
            <a:spLocks noGrp="1"/>
          </p:cNvSpPr>
          <p:nvPr/>
        </p:nvSpPr>
        <p:spPr>
          <a:xfrm>
            <a:off x="609600" y="4724400"/>
            <a:ext cx="10477500" cy="0"/>
          </a:xfrm>
          <a:prstGeom prst="line">
            <a:avLst/>
          </a:prstGeom>
          <a:noFill/>
          <a:ln w="9525">
            <a:solidFill>
              <a:srgbClr val="CBD7D6"/>
            </a:solidFill>
            <a:prstDash val="solid"/>
          </a:ln>
        </p:spPr>
        <p:txBody>
          <a:bodyPr/>
          <a:lstStyle/>
          <a:p>
            <a:endParaRPr/>
          </a:p>
        </p:txBody>
      </p:sp>
      <p:sp>
        <p:nvSpPr>
          <p:cNvPr id="30" name="Rettangolo con angoli arrotondati 29">
            <a:extLst>
              <a:ext uri="{FF2B5EF4-FFF2-40B4-BE49-F238E27FC236}">
                <a16:creationId xmlns:a16="http://schemas.microsoft.com/office/drawing/2014/main" id="{019BE711-00F1-42CB-9E80-E2367FCEF978}"/>
              </a:ext>
            </a:extLst>
          </p:cNvPr>
          <p:cNvSpPr>
            <a:spLocks noGrp="1"/>
          </p:cNvSpPr>
          <p:nvPr/>
        </p:nvSpPr>
        <p:spPr>
          <a:xfrm>
            <a:off x="1619250" y="5095875"/>
            <a:ext cx="8763000" cy="590550"/>
          </a:xfrm>
          <a:prstGeom prst="roundRect">
            <a:avLst>
              <a:gd name="adj" fmla="val 19355"/>
            </a:avLst>
          </a:prstGeom>
          <a:solidFill>
            <a:srgbClr val="D9EFEC"/>
          </a:solidFill>
          <a:ln w="9525">
            <a:solidFill>
              <a:srgbClr val="D9EFEC"/>
            </a:solidFill>
            <a:prstDash val="solid"/>
          </a:ln>
        </p:spPr>
        <p:txBody>
          <a:bodyPr/>
          <a:lstStyle/>
          <a:p>
            <a:endParaRPr/>
          </a:p>
        </p:txBody>
      </p:sp>
      <p:sp>
        <p:nvSpPr>
          <p:cNvPr id="31" name="Rettangolo 30">
            <a:extLst>
              <a:ext uri="{FF2B5EF4-FFF2-40B4-BE49-F238E27FC236}">
                <a16:creationId xmlns:a16="http://schemas.microsoft.com/office/drawing/2014/main" id="{81286D59-512B-418F-A35E-F2994C71F919}"/>
              </a:ext>
            </a:extLst>
          </p:cNvPr>
          <p:cNvSpPr>
            <a:spLocks noGrp="1"/>
          </p:cNvSpPr>
          <p:nvPr/>
        </p:nvSpPr>
        <p:spPr>
          <a:xfrm>
            <a:off x="1809750" y="5248275"/>
            <a:ext cx="8382000" cy="304800"/>
          </a:xfrm>
          <a:prstGeom prst="rect">
            <a:avLst/>
          </a:prstGeom>
          <a:noFill/>
          <a:ln w="0">
            <a:noFill/>
            <a:prstDash val="solid"/>
          </a:ln>
        </p:spPr>
        <p:txBody>
          <a:bodyPr anchor="t"/>
          <a:lstStyle/>
          <a:p>
            <a:pPr algn="ctr">
              <a:buNone/>
              <a:defRPr sz="1800" b="1" i="0">
                <a:solidFill>
                  <a:srgbClr val="13212A"/>
                </a:solidFill>
              </a:defRPr>
            </a:pPr>
            <a:r>
              <a:rPr sz="1800" b="1" i="0">
                <a:solidFill>
                  <a:srgbClr val="13212A"/>
                </a:solidFill>
              </a:rPr>
              <a:t>5 minimal RFDs · 960 candidates · 8 lattice levels</a:t>
            </a:r>
          </a:p>
        </p:txBody>
      </p:sp>
      <p:sp>
        <p:nvSpPr>
          <p:cNvPr id="32" name="Rettangolo 31">
            <a:extLst>
              <a:ext uri="{FF2B5EF4-FFF2-40B4-BE49-F238E27FC236}">
                <a16:creationId xmlns:a16="http://schemas.microsoft.com/office/drawing/2014/main" id="{26F92158-B2E2-4228-A69C-0B97A1365118}"/>
              </a:ext>
            </a:extLst>
          </p:cNvPr>
          <p:cNvSpPr>
            <a:spLocks noGrp="1"/>
          </p:cNvSpPr>
          <p:nvPr/>
        </p:nvSpPr>
        <p:spPr>
          <a:xfrm>
            <a:off x="609600" y="5953125"/>
            <a:ext cx="57150" cy="400050"/>
          </a:xfrm>
          <a:prstGeom prst="rect">
            <a:avLst/>
          </a:prstGeom>
          <a:solidFill>
            <a:srgbClr val="167D73"/>
          </a:solidFill>
          <a:ln w="0">
            <a:solidFill>
              <a:srgbClr val="167D73"/>
            </a:solidFill>
            <a:prstDash val="solid"/>
          </a:ln>
        </p:spPr>
        <p:txBody>
          <a:bodyPr/>
          <a:lstStyle/>
          <a:p>
            <a:endParaRPr/>
          </a:p>
        </p:txBody>
      </p:sp>
      <p:sp>
        <p:nvSpPr>
          <p:cNvPr id="33" name="Rettangolo 32">
            <a:extLst>
              <a:ext uri="{FF2B5EF4-FFF2-40B4-BE49-F238E27FC236}">
                <a16:creationId xmlns:a16="http://schemas.microsoft.com/office/drawing/2014/main" id="{E9D27876-BB47-4DD7-8AF3-54EE5F007370}"/>
              </a:ext>
            </a:extLst>
          </p:cNvPr>
          <p:cNvSpPr>
            <a:spLocks noGrp="1"/>
          </p:cNvSpPr>
          <p:nvPr/>
        </p:nvSpPr>
        <p:spPr>
          <a:xfrm>
            <a:off x="800100" y="5943600"/>
            <a:ext cx="10287000" cy="457200"/>
          </a:xfrm>
          <a:prstGeom prst="rect">
            <a:avLst/>
          </a:prstGeom>
          <a:noFill/>
          <a:ln w="0">
            <a:noFill/>
            <a:prstDash val="solid"/>
          </a:ln>
        </p:spPr>
        <p:txBody>
          <a:bodyPr anchor="t"/>
          <a:lstStyle/>
          <a:p>
            <a:pPr algn="l">
              <a:buNone/>
              <a:defRPr sz="1650" b="1" i="0">
                <a:solidFill>
                  <a:srgbClr val="13212A"/>
                </a:solidFill>
              </a:defRPr>
            </a:pPr>
            <a:r>
              <a:rPr sz="1650" b="1" i="0">
                <a:solidFill>
                  <a:srgbClr val="13212A"/>
                </a:solidFill>
              </a:rPr>
              <a:t>Four of five RFDs have low support; time_slot → WSPM is most general (support 0.24955).</a:t>
            </a:r>
          </a:p>
        </p:txBody>
      </p:sp>
    </p:spTree>
    <p:extLst>
      <p:ext uri="{BB962C8B-B14F-4D97-AF65-F5344CB8AC3E}">
        <p14:creationId xmlns:p14="http://schemas.microsoft.com/office/powerpoint/2010/main" val="199417435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4" name="Rettangolo 33">
            <a:extLst>
              <a:ext uri="{FF2B5EF4-FFF2-40B4-BE49-F238E27FC236}">
                <a16:creationId xmlns:a16="http://schemas.microsoft.com/office/drawing/2014/main" id="{31110AA1-1184-491D-BDFE-E686501F036F}"/>
              </a:ext>
            </a:extLst>
          </p:cNvPr>
          <p:cNvSpPr>
            <a:spLocks noGrp="1"/>
          </p:cNvSpPr>
          <p:nvPr/>
        </p:nvSpPr>
        <p:spPr>
          <a:xfrm>
            <a:off x="609600" y="323850"/>
            <a:ext cx="5905500" cy="228600"/>
          </a:xfrm>
          <a:prstGeom prst="rect">
            <a:avLst/>
          </a:prstGeom>
          <a:noFill/>
          <a:ln w="0">
            <a:noFill/>
            <a:prstDash val="solid"/>
          </a:ln>
        </p:spPr>
        <p:txBody>
          <a:bodyPr anchor="t"/>
          <a:lstStyle/>
          <a:p>
            <a:pPr algn="l">
              <a:buNone/>
              <a:defRPr sz="1125" b="1" i="0">
                <a:solidFill>
                  <a:srgbClr val="167D73"/>
                </a:solidFill>
              </a:defRPr>
            </a:pPr>
            <a:r>
              <a:rPr sz="1125" b="1" i="0">
                <a:solidFill>
                  <a:srgbClr val="167D73"/>
                </a:solidFill>
              </a:rPr>
              <a:t>KDIID · RFD CONSISTENCY PROFILING</a:t>
            </a:r>
          </a:p>
        </p:txBody>
      </p:sp>
      <p:sp>
        <p:nvSpPr>
          <p:cNvPr id="2" name="Rettangolo 1">
            <a:extLst>
              <a:ext uri="{FF2B5EF4-FFF2-40B4-BE49-F238E27FC236}">
                <a16:creationId xmlns:a16="http://schemas.microsoft.com/office/drawing/2014/main" id="{94FA4DBA-FC81-4AA5-8F28-B2D9048E325C}"/>
              </a:ext>
            </a:extLst>
          </p:cNvPr>
          <p:cNvSpPr>
            <a:spLocks noGrp="1"/>
          </p:cNvSpPr>
          <p:nvPr/>
        </p:nvSpPr>
        <p:spPr>
          <a:xfrm>
            <a:off x="609600" y="647700"/>
            <a:ext cx="10668000" cy="666750"/>
          </a:xfrm>
          <a:prstGeom prst="rect">
            <a:avLst/>
          </a:prstGeom>
          <a:noFill/>
          <a:ln w="0">
            <a:noFill/>
            <a:prstDash val="solid"/>
          </a:ln>
        </p:spPr>
        <p:txBody>
          <a:bodyPr anchor="t"/>
          <a:lstStyle/>
          <a:p>
            <a:pPr algn="l">
              <a:buNone/>
              <a:defRPr sz="3600" b="1" i="0">
                <a:solidFill>
                  <a:srgbClr val="13212A"/>
                </a:solidFill>
              </a:defRPr>
            </a:pPr>
            <a:r>
              <a:rPr sz="3600" b="1" i="0">
                <a:solidFill>
                  <a:srgbClr val="13212A"/>
                </a:solidFill>
              </a:rPr>
              <a:t>Sensitivity to similarity thresholds</a:t>
            </a:r>
          </a:p>
        </p:txBody>
      </p:sp>
      <p:sp>
        <p:nvSpPr>
          <p:cNvPr id="3" name="Connettore dritto 2">
            <a:extLst>
              <a:ext uri="{FF2B5EF4-FFF2-40B4-BE49-F238E27FC236}">
                <a16:creationId xmlns:a16="http://schemas.microsoft.com/office/drawing/2014/main" id="{207E91DF-27F3-44F5-9F3C-89FAF9104DA1}"/>
              </a:ext>
            </a:extLst>
          </p:cNvPr>
          <p:cNvSpPr>
            <a:spLocks noGrp="1"/>
          </p:cNvSpPr>
          <p:nvPr/>
        </p:nvSpPr>
        <p:spPr>
          <a:xfrm>
            <a:off x="609600" y="1381125"/>
            <a:ext cx="10972800" cy="0"/>
          </a:xfrm>
          <a:prstGeom prst="line">
            <a:avLst/>
          </a:prstGeom>
          <a:noFill/>
          <a:ln w="9525">
            <a:solidFill>
              <a:srgbClr val="CBD7D6"/>
            </a:solidFill>
            <a:prstDash val="solid"/>
          </a:ln>
        </p:spPr>
        <p:txBody>
          <a:bodyPr/>
          <a:lstStyle/>
          <a:p>
            <a:endParaRPr/>
          </a:p>
        </p:txBody>
      </p:sp>
      <p:sp>
        <p:nvSpPr>
          <p:cNvPr id="4" name="Rettangolo 3">
            <a:extLst>
              <a:ext uri="{FF2B5EF4-FFF2-40B4-BE49-F238E27FC236}">
                <a16:creationId xmlns:a16="http://schemas.microsoft.com/office/drawing/2014/main" id="{566707FF-99B3-46FB-B8E5-F47EC6C6706A}"/>
              </a:ext>
            </a:extLst>
          </p:cNvPr>
          <p:cNvSpPr>
            <a:spLocks noGrp="1"/>
          </p:cNvSpPr>
          <p:nvPr/>
        </p:nvSpPr>
        <p:spPr>
          <a:xfrm>
            <a:off x="11144250" y="6419850"/>
            <a:ext cx="438150" cy="209550"/>
          </a:xfrm>
          <a:prstGeom prst="rect">
            <a:avLst/>
          </a:prstGeom>
          <a:noFill/>
          <a:ln w="0">
            <a:noFill/>
            <a:prstDash val="solid"/>
          </a:ln>
        </p:spPr>
        <p:txBody>
          <a:bodyPr anchor="t"/>
          <a:lstStyle/>
          <a:p>
            <a:pPr algn="r">
              <a:buNone/>
              <a:defRPr sz="1125" b="1" i="0">
                <a:solidFill>
                  <a:srgbClr val="52636D"/>
                </a:solidFill>
              </a:defRPr>
            </a:pPr>
            <a:r>
              <a:rPr sz="1125" b="1" i="0">
                <a:solidFill>
                  <a:srgbClr val="52636D"/>
                </a:solidFill>
              </a:rPr>
              <a:t>13</a:t>
            </a:r>
          </a:p>
        </p:txBody>
      </p:sp>
      <p:sp>
        <p:nvSpPr>
          <p:cNvPr id="5" name="Rettangolo 4">
            <a:extLst>
              <a:ext uri="{FF2B5EF4-FFF2-40B4-BE49-F238E27FC236}">
                <a16:creationId xmlns:a16="http://schemas.microsoft.com/office/drawing/2014/main" id="{0C6A0B64-0812-4CE3-9974-77196A50D66C}"/>
              </a:ext>
            </a:extLst>
          </p:cNvPr>
          <p:cNvSpPr>
            <a:spLocks noGrp="1"/>
          </p:cNvSpPr>
          <p:nvPr/>
        </p:nvSpPr>
        <p:spPr>
          <a:xfrm>
            <a:off x="628650" y="1781175"/>
            <a:ext cx="2381250" cy="285750"/>
          </a:xfrm>
          <a:prstGeom prst="rect">
            <a:avLst/>
          </a:prstGeom>
          <a:noFill/>
          <a:ln w="0">
            <a:noFill/>
            <a:prstDash val="solid"/>
          </a:ln>
        </p:spPr>
        <p:txBody>
          <a:bodyPr anchor="t"/>
          <a:lstStyle/>
          <a:p>
            <a:pPr algn="l">
              <a:buNone/>
              <a:defRPr sz="1350" b="1" i="0">
                <a:solidFill>
                  <a:srgbClr val="52636D"/>
                </a:solidFill>
              </a:defRPr>
            </a:pPr>
            <a:r>
              <a:rPr sz="1350" b="1" i="0">
                <a:solidFill>
                  <a:srgbClr val="52636D"/>
                </a:solidFill>
              </a:rPr>
              <a:t>Configuration</a:t>
            </a:r>
          </a:p>
        </p:txBody>
      </p:sp>
      <p:sp>
        <p:nvSpPr>
          <p:cNvPr id="6" name="Rettangolo 5">
            <a:extLst>
              <a:ext uri="{FF2B5EF4-FFF2-40B4-BE49-F238E27FC236}">
                <a16:creationId xmlns:a16="http://schemas.microsoft.com/office/drawing/2014/main" id="{132E8BC4-09EB-4743-9BF0-07067F1CEE15}"/>
              </a:ext>
            </a:extLst>
          </p:cNvPr>
          <p:cNvSpPr>
            <a:spLocks noGrp="1"/>
          </p:cNvSpPr>
          <p:nvPr/>
        </p:nvSpPr>
        <p:spPr>
          <a:xfrm>
            <a:off x="3143250" y="1781175"/>
            <a:ext cx="1143000" cy="285750"/>
          </a:xfrm>
          <a:prstGeom prst="rect">
            <a:avLst/>
          </a:prstGeom>
          <a:noFill/>
          <a:ln w="0">
            <a:noFill/>
            <a:prstDash val="solid"/>
          </a:ln>
        </p:spPr>
        <p:txBody>
          <a:bodyPr anchor="t"/>
          <a:lstStyle/>
          <a:p>
            <a:pPr algn="ctr">
              <a:buNone/>
              <a:defRPr sz="1350" b="1" i="0">
                <a:solidFill>
                  <a:srgbClr val="52636D"/>
                </a:solidFill>
              </a:defRPr>
            </a:pPr>
            <a:r>
              <a:rPr sz="1350" b="1" i="0">
                <a:solidFill>
                  <a:srgbClr val="52636D"/>
                </a:solidFill>
              </a:rPr>
              <a:t>RFD</a:t>
            </a:r>
          </a:p>
        </p:txBody>
      </p:sp>
      <p:sp>
        <p:nvSpPr>
          <p:cNvPr id="7" name="Rettangolo 6">
            <a:extLst>
              <a:ext uri="{FF2B5EF4-FFF2-40B4-BE49-F238E27FC236}">
                <a16:creationId xmlns:a16="http://schemas.microsoft.com/office/drawing/2014/main" id="{BD66C6D7-D1D3-4E99-B11C-E09087CDDAA4}"/>
              </a:ext>
            </a:extLst>
          </p:cNvPr>
          <p:cNvSpPr>
            <a:spLocks noGrp="1"/>
          </p:cNvSpPr>
          <p:nvPr/>
        </p:nvSpPr>
        <p:spPr>
          <a:xfrm>
            <a:off x="4476750" y="1781175"/>
            <a:ext cx="1143000" cy="285750"/>
          </a:xfrm>
          <a:prstGeom prst="rect">
            <a:avLst/>
          </a:prstGeom>
          <a:noFill/>
          <a:ln w="0">
            <a:noFill/>
            <a:prstDash val="solid"/>
          </a:ln>
        </p:spPr>
        <p:txBody>
          <a:bodyPr anchor="t"/>
          <a:lstStyle/>
          <a:p>
            <a:pPr algn="ctr">
              <a:buNone/>
              <a:defRPr sz="1350" b="1" i="0">
                <a:solidFill>
                  <a:srgbClr val="52636D"/>
                </a:solidFill>
              </a:defRPr>
            </a:pPr>
            <a:r>
              <a:rPr lang="it-IT" sz="1350" b="1" i="0" dirty="0" err="1">
                <a:solidFill>
                  <a:srgbClr val="52636D"/>
                </a:solidFill>
              </a:rPr>
              <a:t>Distinct</a:t>
            </a:r>
            <a:r>
              <a:rPr lang="it-IT" sz="1350" b="1" i="0" dirty="0">
                <a:solidFill>
                  <a:srgbClr val="52636D"/>
                </a:solidFill>
              </a:rPr>
              <a:t> RHS</a:t>
            </a:r>
            <a:endParaRPr sz="1350" b="1" i="0" dirty="0">
              <a:solidFill>
                <a:srgbClr val="52636D"/>
              </a:solidFill>
            </a:endParaRPr>
          </a:p>
        </p:txBody>
      </p:sp>
      <p:sp>
        <p:nvSpPr>
          <p:cNvPr id="8" name="Rettangolo 7">
            <a:extLst>
              <a:ext uri="{FF2B5EF4-FFF2-40B4-BE49-F238E27FC236}">
                <a16:creationId xmlns:a16="http://schemas.microsoft.com/office/drawing/2014/main" id="{680FBC18-DB4E-4E6E-A00C-DB04C7DCB509}"/>
              </a:ext>
            </a:extLst>
          </p:cNvPr>
          <p:cNvSpPr>
            <a:spLocks noGrp="1"/>
          </p:cNvSpPr>
          <p:nvPr/>
        </p:nvSpPr>
        <p:spPr>
          <a:xfrm>
            <a:off x="5810250" y="1781175"/>
            <a:ext cx="1714500" cy="285750"/>
          </a:xfrm>
          <a:prstGeom prst="rect">
            <a:avLst/>
          </a:prstGeom>
          <a:noFill/>
          <a:ln w="0">
            <a:noFill/>
            <a:prstDash val="solid"/>
          </a:ln>
        </p:spPr>
        <p:txBody>
          <a:bodyPr anchor="t"/>
          <a:lstStyle/>
          <a:p>
            <a:pPr algn="ctr">
              <a:buNone/>
              <a:defRPr sz="1350" b="1" i="0">
                <a:solidFill>
                  <a:srgbClr val="52636D"/>
                </a:solidFill>
              </a:defRPr>
            </a:pPr>
            <a:r>
              <a:rPr sz="1350" b="1" i="0">
                <a:solidFill>
                  <a:srgbClr val="52636D"/>
                </a:solidFill>
              </a:rPr>
              <a:t>WSPM share</a:t>
            </a:r>
          </a:p>
        </p:txBody>
      </p:sp>
      <p:sp>
        <p:nvSpPr>
          <p:cNvPr id="9" name="Rettangolo 8">
            <a:extLst>
              <a:ext uri="{FF2B5EF4-FFF2-40B4-BE49-F238E27FC236}">
                <a16:creationId xmlns:a16="http://schemas.microsoft.com/office/drawing/2014/main" id="{C4E36207-3E4F-4D7A-9FE7-06ABA636E791}"/>
              </a:ext>
            </a:extLst>
          </p:cNvPr>
          <p:cNvSpPr>
            <a:spLocks noGrp="1"/>
          </p:cNvSpPr>
          <p:nvPr/>
        </p:nvSpPr>
        <p:spPr>
          <a:xfrm>
            <a:off x="7715250" y="1781175"/>
            <a:ext cx="3333750" cy="285750"/>
          </a:xfrm>
          <a:prstGeom prst="rect">
            <a:avLst/>
          </a:prstGeom>
          <a:noFill/>
          <a:ln w="0">
            <a:noFill/>
            <a:prstDash val="solid"/>
          </a:ln>
        </p:spPr>
        <p:txBody>
          <a:bodyPr anchor="t"/>
          <a:lstStyle/>
          <a:p>
            <a:pPr algn="ctr">
              <a:buNone/>
              <a:defRPr sz="1350" b="1" i="0">
                <a:solidFill>
                  <a:srgbClr val="52636D"/>
                </a:solidFill>
              </a:defRPr>
            </a:pPr>
            <a:r>
              <a:rPr sz="1350" b="1" i="0">
                <a:solidFill>
                  <a:srgbClr val="52636D"/>
                </a:solidFill>
              </a:rPr>
              <a:t>Note</a:t>
            </a:r>
          </a:p>
        </p:txBody>
      </p:sp>
      <p:sp>
        <p:nvSpPr>
          <p:cNvPr id="10" name="Connettore dritto 9">
            <a:extLst>
              <a:ext uri="{FF2B5EF4-FFF2-40B4-BE49-F238E27FC236}">
                <a16:creationId xmlns:a16="http://schemas.microsoft.com/office/drawing/2014/main" id="{52CCE919-634F-4520-9DF7-8C8F6256D849}"/>
              </a:ext>
            </a:extLst>
          </p:cNvPr>
          <p:cNvSpPr>
            <a:spLocks noGrp="1"/>
          </p:cNvSpPr>
          <p:nvPr/>
        </p:nvSpPr>
        <p:spPr>
          <a:xfrm>
            <a:off x="609600" y="2133600"/>
            <a:ext cx="10477500" cy="0"/>
          </a:xfrm>
          <a:prstGeom prst="line">
            <a:avLst/>
          </a:prstGeom>
          <a:noFill/>
          <a:ln w="19050">
            <a:solidFill>
              <a:srgbClr val="13212A"/>
            </a:solidFill>
            <a:prstDash val="solid"/>
          </a:ln>
        </p:spPr>
        <p:txBody>
          <a:bodyPr/>
          <a:lstStyle/>
          <a:p>
            <a:endParaRPr/>
          </a:p>
        </p:txBody>
      </p:sp>
      <p:sp>
        <p:nvSpPr>
          <p:cNvPr id="11" name="Rettangolo 10">
            <a:extLst>
              <a:ext uri="{FF2B5EF4-FFF2-40B4-BE49-F238E27FC236}">
                <a16:creationId xmlns:a16="http://schemas.microsoft.com/office/drawing/2014/main" id="{6776A421-D4F6-4FBA-B3CE-23295F6669F0}"/>
              </a:ext>
            </a:extLst>
          </p:cNvPr>
          <p:cNvSpPr>
            <a:spLocks noGrp="1"/>
          </p:cNvSpPr>
          <p:nvPr/>
        </p:nvSpPr>
        <p:spPr>
          <a:xfrm>
            <a:off x="552450" y="2247900"/>
            <a:ext cx="10591800" cy="704850"/>
          </a:xfrm>
          <a:prstGeom prst="rect">
            <a:avLst/>
          </a:prstGeom>
          <a:solidFill>
            <a:srgbClr val="EEF4F3"/>
          </a:solidFill>
          <a:ln w="0">
            <a:solidFill>
              <a:srgbClr val="EEF4F3"/>
            </a:solidFill>
            <a:prstDash val="solid"/>
          </a:ln>
        </p:spPr>
        <p:txBody>
          <a:bodyPr/>
          <a:lstStyle/>
          <a:p>
            <a:endParaRPr/>
          </a:p>
        </p:txBody>
      </p:sp>
      <p:sp>
        <p:nvSpPr>
          <p:cNvPr id="12" name="Rettangolo 11">
            <a:extLst>
              <a:ext uri="{FF2B5EF4-FFF2-40B4-BE49-F238E27FC236}">
                <a16:creationId xmlns:a16="http://schemas.microsoft.com/office/drawing/2014/main" id="{6D975271-EDC6-443F-A28D-15159124FEBA}"/>
              </a:ext>
            </a:extLst>
          </p:cNvPr>
          <p:cNvSpPr>
            <a:spLocks noGrp="1"/>
          </p:cNvSpPr>
          <p:nvPr/>
        </p:nvSpPr>
        <p:spPr>
          <a:xfrm>
            <a:off x="628650" y="2343150"/>
            <a:ext cx="2381250" cy="476250"/>
          </a:xfrm>
          <a:prstGeom prst="rect">
            <a:avLst/>
          </a:prstGeom>
          <a:noFill/>
          <a:ln w="0">
            <a:noFill/>
            <a:prstDash val="solid"/>
          </a:ln>
        </p:spPr>
        <p:txBody>
          <a:bodyPr anchor="t"/>
          <a:lstStyle/>
          <a:p>
            <a:pPr algn="l">
              <a:buNone/>
              <a:defRPr sz="1650" b="1" i="0">
                <a:solidFill>
                  <a:srgbClr val="13212A"/>
                </a:solidFill>
              </a:defRPr>
            </a:pPr>
            <a:r>
              <a:rPr sz="1650" b="1" i="0">
                <a:solidFill>
                  <a:srgbClr val="13212A"/>
                </a:solidFill>
              </a:rPr>
              <a:t>strict_075x</a:t>
            </a:r>
          </a:p>
        </p:txBody>
      </p:sp>
      <p:sp>
        <p:nvSpPr>
          <p:cNvPr id="13" name="Rettangolo 12">
            <a:extLst>
              <a:ext uri="{FF2B5EF4-FFF2-40B4-BE49-F238E27FC236}">
                <a16:creationId xmlns:a16="http://schemas.microsoft.com/office/drawing/2014/main" id="{538FB807-B4D7-426C-B29B-1157942269C7}"/>
              </a:ext>
            </a:extLst>
          </p:cNvPr>
          <p:cNvSpPr>
            <a:spLocks noGrp="1"/>
          </p:cNvSpPr>
          <p:nvPr/>
        </p:nvSpPr>
        <p:spPr>
          <a:xfrm>
            <a:off x="3143250" y="2343150"/>
            <a:ext cx="1143000" cy="476250"/>
          </a:xfrm>
          <a:prstGeom prst="rect">
            <a:avLst/>
          </a:prstGeom>
          <a:noFill/>
          <a:ln w="0">
            <a:noFill/>
            <a:prstDash val="solid"/>
          </a:ln>
        </p:spPr>
        <p:txBody>
          <a:bodyPr anchor="t"/>
          <a:lstStyle/>
          <a:p>
            <a:pPr algn="ctr">
              <a:buNone/>
              <a:defRPr sz="1800" b="1" i="0">
                <a:solidFill>
                  <a:srgbClr val="13212A"/>
                </a:solidFill>
              </a:defRPr>
            </a:pPr>
            <a:r>
              <a:rPr sz="1800" b="1" i="0">
                <a:solidFill>
                  <a:srgbClr val="13212A"/>
                </a:solidFill>
              </a:rPr>
              <a:t>19</a:t>
            </a:r>
          </a:p>
        </p:txBody>
      </p:sp>
      <p:sp>
        <p:nvSpPr>
          <p:cNvPr id="14" name="Rettangolo 13">
            <a:extLst>
              <a:ext uri="{FF2B5EF4-FFF2-40B4-BE49-F238E27FC236}">
                <a16:creationId xmlns:a16="http://schemas.microsoft.com/office/drawing/2014/main" id="{816222DA-02A5-4665-9476-3ED4FD3F2C13}"/>
              </a:ext>
            </a:extLst>
          </p:cNvPr>
          <p:cNvSpPr>
            <a:spLocks noGrp="1"/>
          </p:cNvSpPr>
          <p:nvPr/>
        </p:nvSpPr>
        <p:spPr>
          <a:xfrm>
            <a:off x="4476750" y="2343150"/>
            <a:ext cx="1143000" cy="476250"/>
          </a:xfrm>
          <a:prstGeom prst="rect">
            <a:avLst/>
          </a:prstGeom>
          <a:noFill/>
          <a:ln w="0">
            <a:noFill/>
            <a:prstDash val="solid"/>
          </a:ln>
        </p:spPr>
        <p:txBody>
          <a:bodyPr anchor="t"/>
          <a:lstStyle/>
          <a:p>
            <a:pPr algn="ctr">
              <a:buNone/>
              <a:defRPr sz="1800" b="1" i="0">
                <a:solidFill>
                  <a:srgbClr val="13212A"/>
                </a:solidFill>
              </a:defRPr>
            </a:pPr>
            <a:r>
              <a:rPr sz="1800" b="1" i="0">
                <a:solidFill>
                  <a:srgbClr val="13212A"/>
                </a:solidFill>
              </a:rPr>
              <a:t>6</a:t>
            </a:r>
          </a:p>
        </p:txBody>
      </p:sp>
      <p:sp>
        <p:nvSpPr>
          <p:cNvPr id="15" name="Rettangolo 14">
            <a:extLst>
              <a:ext uri="{FF2B5EF4-FFF2-40B4-BE49-F238E27FC236}">
                <a16:creationId xmlns:a16="http://schemas.microsoft.com/office/drawing/2014/main" id="{4C0FA988-FD50-43EF-9098-964EFDC291C5}"/>
              </a:ext>
            </a:extLst>
          </p:cNvPr>
          <p:cNvSpPr>
            <a:spLocks noGrp="1"/>
          </p:cNvSpPr>
          <p:nvPr/>
        </p:nvSpPr>
        <p:spPr>
          <a:xfrm>
            <a:off x="5810250" y="2343150"/>
            <a:ext cx="1714500" cy="476250"/>
          </a:xfrm>
          <a:prstGeom prst="rect">
            <a:avLst/>
          </a:prstGeom>
          <a:noFill/>
          <a:ln w="0">
            <a:noFill/>
            <a:prstDash val="solid"/>
          </a:ln>
        </p:spPr>
        <p:txBody>
          <a:bodyPr anchor="t"/>
          <a:lstStyle/>
          <a:p>
            <a:pPr algn="ctr">
              <a:buNone/>
              <a:defRPr sz="1800" b="1" i="0">
                <a:solidFill>
                  <a:srgbClr val="13212A"/>
                </a:solidFill>
              </a:defRPr>
            </a:pPr>
            <a:r>
              <a:rPr sz="1800" b="1" i="0">
                <a:solidFill>
                  <a:srgbClr val="13212A"/>
                </a:solidFill>
              </a:rPr>
              <a:t>0.632</a:t>
            </a:r>
          </a:p>
        </p:txBody>
      </p:sp>
      <p:sp>
        <p:nvSpPr>
          <p:cNvPr id="16" name="Rettangolo 15">
            <a:extLst>
              <a:ext uri="{FF2B5EF4-FFF2-40B4-BE49-F238E27FC236}">
                <a16:creationId xmlns:a16="http://schemas.microsoft.com/office/drawing/2014/main" id="{2E500D78-EDB8-4FBF-A208-07CDB46EEF46}"/>
              </a:ext>
            </a:extLst>
          </p:cNvPr>
          <p:cNvSpPr>
            <a:spLocks noGrp="1"/>
          </p:cNvSpPr>
          <p:nvPr/>
        </p:nvSpPr>
        <p:spPr>
          <a:xfrm>
            <a:off x="7715250" y="2343150"/>
            <a:ext cx="3333750" cy="476250"/>
          </a:xfrm>
          <a:prstGeom prst="rect">
            <a:avLst/>
          </a:prstGeom>
          <a:noFill/>
          <a:ln w="0">
            <a:noFill/>
            <a:prstDash val="solid"/>
          </a:ln>
        </p:spPr>
        <p:txBody>
          <a:bodyPr anchor="t"/>
          <a:lstStyle/>
          <a:p>
            <a:pPr algn="ctr">
              <a:buNone/>
              <a:defRPr sz="1800" b="1" i="0">
                <a:solidFill>
                  <a:srgbClr val="167D73"/>
                </a:solidFill>
              </a:defRPr>
            </a:pPr>
            <a:r>
              <a:rPr sz="1800" b="1" i="0">
                <a:solidFill>
                  <a:srgbClr val="167D73"/>
                </a:solidFill>
              </a:rPr>
              <a:t>—</a:t>
            </a:r>
          </a:p>
        </p:txBody>
      </p:sp>
      <p:sp>
        <p:nvSpPr>
          <p:cNvPr id="17" name="Connettore dritto 16">
            <a:extLst>
              <a:ext uri="{FF2B5EF4-FFF2-40B4-BE49-F238E27FC236}">
                <a16:creationId xmlns:a16="http://schemas.microsoft.com/office/drawing/2014/main" id="{17227CE4-69E3-407B-B59D-AB3FC086DC05}"/>
              </a:ext>
            </a:extLst>
          </p:cNvPr>
          <p:cNvSpPr>
            <a:spLocks noGrp="1"/>
          </p:cNvSpPr>
          <p:nvPr/>
        </p:nvSpPr>
        <p:spPr>
          <a:xfrm>
            <a:off x="609600" y="2971800"/>
            <a:ext cx="10477500" cy="0"/>
          </a:xfrm>
          <a:prstGeom prst="line">
            <a:avLst/>
          </a:prstGeom>
          <a:noFill/>
          <a:ln w="9525">
            <a:solidFill>
              <a:srgbClr val="CBD7D6"/>
            </a:solidFill>
            <a:prstDash val="solid"/>
          </a:ln>
        </p:spPr>
        <p:txBody>
          <a:bodyPr/>
          <a:lstStyle/>
          <a:p>
            <a:endParaRPr/>
          </a:p>
        </p:txBody>
      </p:sp>
      <p:sp>
        <p:nvSpPr>
          <p:cNvPr id="18" name="Rettangolo 17">
            <a:extLst>
              <a:ext uri="{FF2B5EF4-FFF2-40B4-BE49-F238E27FC236}">
                <a16:creationId xmlns:a16="http://schemas.microsoft.com/office/drawing/2014/main" id="{AC512EE4-398A-411D-9644-1E803D2232CB}"/>
              </a:ext>
            </a:extLst>
          </p:cNvPr>
          <p:cNvSpPr>
            <a:spLocks noGrp="1"/>
          </p:cNvSpPr>
          <p:nvPr/>
        </p:nvSpPr>
        <p:spPr>
          <a:xfrm>
            <a:off x="628650" y="3219450"/>
            <a:ext cx="2381250" cy="476250"/>
          </a:xfrm>
          <a:prstGeom prst="rect">
            <a:avLst/>
          </a:prstGeom>
          <a:noFill/>
          <a:ln w="0">
            <a:noFill/>
            <a:prstDash val="solid"/>
          </a:ln>
        </p:spPr>
        <p:txBody>
          <a:bodyPr anchor="t"/>
          <a:lstStyle/>
          <a:p>
            <a:pPr algn="l">
              <a:buNone/>
              <a:defRPr sz="1650" b="0" i="0">
                <a:solidFill>
                  <a:srgbClr val="13212A"/>
                </a:solidFill>
              </a:defRPr>
            </a:pPr>
            <a:r>
              <a:rPr sz="1650" b="0" i="0">
                <a:solidFill>
                  <a:srgbClr val="13212A"/>
                </a:solidFill>
              </a:rPr>
              <a:t>medium</a:t>
            </a:r>
          </a:p>
        </p:txBody>
      </p:sp>
      <p:sp>
        <p:nvSpPr>
          <p:cNvPr id="19" name="Rettangolo 18">
            <a:extLst>
              <a:ext uri="{FF2B5EF4-FFF2-40B4-BE49-F238E27FC236}">
                <a16:creationId xmlns:a16="http://schemas.microsoft.com/office/drawing/2014/main" id="{A89DDD17-B880-4C46-A118-ABDDA4A089BC}"/>
              </a:ext>
            </a:extLst>
          </p:cNvPr>
          <p:cNvSpPr>
            <a:spLocks noGrp="1"/>
          </p:cNvSpPr>
          <p:nvPr/>
        </p:nvSpPr>
        <p:spPr>
          <a:xfrm>
            <a:off x="3143250" y="3219450"/>
            <a:ext cx="1143000" cy="476250"/>
          </a:xfrm>
          <a:prstGeom prst="rect">
            <a:avLst/>
          </a:prstGeom>
          <a:noFill/>
          <a:ln w="0">
            <a:noFill/>
            <a:prstDash val="solid"/>
          </a:ln>
        </p:spPr>
        <p:txBody>
          <a:bodyPr anchor="t"/>
          <a:lstStyle/>
          <a:p>
            <a:pPr algn="ctr">
              <a:buNone/>
              <a:defRPr sz="1800" b="0" i="0">
                <a:solidFill>
                  <a:srgbClr val="13212A"/>
                </a:solidFill>
              </a:defRPr>
            </a:pPr>
            <a:r>
              <a:rPr sz="1800" b="0" i="0">
                <a:solidFill>
                  <a:srgbClr val="13212A"/>
                </a:solidFill>
              </a:rPr>
              <a:t>5</a:t>
            </a:r>
          </a:p>
        </p:txBody>
      </p:sp>
      <p:sp>
        <p:nvSpPr>
          <p:cNvPr id="20" name="Rettangolo 19">
            <a:extLst>
              <a:ext uri="{FF2B5EF4-FFF2-40B4-BE49-F238E27FC236}">
                <a16:creationId xmlns:a16="http://schemas.microsoft.com/office/drawing/2014/main" id="{2F5761DB-5985-450C-A471-8CFCD5942FBC}"/>
              </a:ext>
            </a:extLst>
          </p:cNvPr>
          <p:cNvSpPr>
            <a:spLocks noGrp="1"/>
          </p:cNvSpPr>
          <p:nvPr/>
        </p:nvSpPr>
        <p:spPr>
          <a:xfrm>
            <a:off x="4476750" y="3219450"/>
            <a:ext cx="1143000" cy="476250"/>
          </a:xfrm>
          <a:prstGeom prst="rect">
            <a:avLst/>
          </a:prstGeom>
          <a:noFill/>
          <a:ln w="0">
            <a:noFill/>
            <a:prstDash val="solid"/>
          </a:ln>
        </p:spPr>
        <p:txBody>
          <a:bodyPr anchor="t"/>
          <a:lstStyle/>
          <a:p>
            <a:pPr algn="ctr">
              <a:buNone/>
              <a:defRPr sz="1800" b="0" i="0">
                <a:solidFill>
                  <a:srgbClr val="13212A"/>
                </a:solidFill>
              </a:defRPr>
            </a:pPr>
            <a:r>
              <a:rPr sz="1800" b="0" i="0">
                <a:solidFill>
                  <a:srgbClr val="13212A"/>
                </a:solidFill>
              </a:rPr>
              <a:t>1</a:t>
            </a:r>
          </a:p>
        </p:txBody>
      </p:sp>
      <p:sp>
        <p:nvSpPr>
          <p:cNvPr id="21" name="Rettangolo 20">
            <a:extLst>
              <a:ext uri="{FF2B5EF4-FFF2-40B4-BE49-F238E27FC236}">
                <a16:creationId xmlns:a16="http://schemas.microsoft.com/office/drawing/2014/main" id="{958DED24-199C-4EB7-BA35-F4A9B0AFE4ED}"/>
              </a:ext>
            </a:extLst>
          </p:cNvPr>
          <p:cNvSpPr>
            <a:spLocks noGrp="1"/>
          </p:cNvSpPr>
          <p:nvPr/>
        </p:nvSpPr>
        <p:spPr>
          <a:xfrm>
            <a:off x="5810250" y="3219450"/>
            <a:ext cx="1714500" cy="476250"/>
          </a:xfrm>
          <a:prstGeom prst="rect">
            <a:avLst/>
          </a:prstGeom>
          <a:noFill/>
          <a:ln w="0">
            <a:noFill/>
            <a:prstDash val="solid"/>
          </a:ln>
        </p:spPr>
        <p:txBody>
          <a:bodyPr anchor="t"/>
          <a:lstStyle/>
          <a:p>
            <a:pPr algn="ctr">
              <a:buNone/>
              <a:defRPr sz="1800" b="0" i="0">
                <a:solidFill>
                  <a:srgbClr val="13212A"/>
                </a:solidFill>
              </a:defRPr>
            </a:pPr>
            <a:r>
              <a:rPr sz="1800" b="0" i="0">
                <a:solidFill>
                  <a:srgbClr val="13212A"/>
                </a:solidFill>
              </a:rPr>
              <a:t>1.000</a:t>
            </a:r>
          </a:p>
        </p:txBody>
      </p:sp>
      <p:sp>
        <p:nvSpPr>
          <p:cNvPr id="22" name="Rettangolo 21">
            <a:extLst>
              <a:ext uri="{FF2B5EF4-FFF2-40B4-BE49-F238E27FC236}">
                <a16:creationId xmlns:a16="http://schemas.microsoft.com/office/drawing/2014/main" id="{5602F95B-5841-4825-B780-427D3B22400C}"/>
              </a:ext>
            </a:extLst>
          </p:cNvPr>
          <p:cNvSpPr>
            <a:spLocks noGrp="1"/>
          </p:cNvSpPr>
          <p:nvPr/>
        </p:nvSpPr>
        <p:spPr>
          <a:xfrm>
            <a:off x="7715250" y="3219450"/>
            <a:ext cx="3333750" cy="476250"/>
          </a:xfrm>
          <a:prstGeom prst="rect">
            <a:avLst/>
          </a:prstGeom>
          <a:noFill/>
          <a:ln w="0">
            <a:noFill/>
            <a:prstDash val="solid"/>
          </a:ln>
        </p:spPr>
        <p:txBody>
          <a:bodyPr anchor="t"/>
          <a:lstStyle/>
          <a:p>
            <a:pPr algn="ctr">
              <a:buNone/>
              <a:defRPr sz="1800" b="1" i="0">
                <a:solidFill>
                  <a:srgbClr val="167D73"/>
                </a:solidFill>
              </a:defRPr>
            </a:pPr>
            <a:r>
              <a:rPr sz="1800" b="1" i="0">
                <a:solidFill>
                  <a:srgbClr val="167D73"/>
                </a:solidFill>
              </a:rPr>
              <a:t>—</a:t>
            </a:r>
          </a:p>
        </p:txBody>
      </p:sp>
      <p:sp>
        <p:nvSpPr>
          <p:cNvPr id="23" name="Connettore dritto 22">
            <a:extLst>
              <a:ext uri="{FF2B5EF4-FFF2-40B4-BE49-F238E27FC236}">
                <a16:creationId xmlns:a16="http://schemas.microsoft.com/office/drawing/2014/main" id="{B426CA17-E470-4A79-AAF9-9DED63FCBB29}"/>
              </a:ext>
            </a:extLst>
          </p:cNvPr>
          <p:cNvSpPr>
            <a:spLocks noGrp="1"/>
          </p:cNvSpPr>
          <p:nvPr/>
        </p:nvSpPr>
        <p:spPr>
          <a:xfrm>
            <a:off x="609600" y="3848100"/>
            <a:ext cx="10477500" cy="0"/>
          </a:xfrm>
          <a:prstGeom prst="line">
            <a:avLst/>
          </a:prstGeom>
          <a:noFill/>
          <a:ln w="9525">
            <a:solidFill>
              <a:srgbClr val="CBD7D6"/>
            </a:solidFill>
            <a:prstDash val="solid"/>
          </a:ln>
        </p:spPr>
        <p:txBody>
          <a:bodyPr/>
          <a:lstStyle/>
          <a:p>
            <a:endParaRPr/>
          </a:p>
        </p:txBody>
      </p:sp>
      <p:sp>
        <p:nvSpPr>
          <p:cNvPr id="24" name="Rettangolo 23">
            <a:extLst>
              <a:ext uri="{FF2B5EF4-FFF2-40B4-BE49-F238E27FC236}">
                <a16:creationId xmlns:a16="http://schemas.microsoft.com/office/drawing/2014/main" id="{DE21A576-CAE1-4615-870D-BD459803E083}"/>
              </a:ext>
            </a:extLst>
          </p:cNvPr>
          <p:cNvSpPr>
            <a:spLocks noGrp="1"/>
          </p:cNvSpPr>
          <p:nvPr/>
        </p:nvSpPr>
        <p:spPr>
          <a:xfrm>
            <a:off x="628650" y="4095750"/>
            <a:ext cx="2381250" cy="476250"/>
          </a:xfrm>
          <a:prstGeom prst="rect">
            <a:avLst/>
          </a:prstGeom>
          <a:noFill/>
          <a:ln w="0">
            <a:noFill/>
            <a:prstDash val="solid"/>
          </a:ln>
        </p:spPr>
        <p:txBody>
          <a:bodyPr anchor="t"/>
          <a:lstStyle/>
          <a:p>
            <a:pPr algn="l">
              <a:buNone/>
              <a:defRPr sz="1650" b="0" i="0">
                <a:solidFill>
                  <a:srgbClr val="13212A"/>
                </a:solidFill>
              </a:defRPr>
            </a:pPr>
            <a:r>
              <a:rPr sz="1650" b="0" i="0">
                <a:solidFill>
                  <a:srgbClr val="13212A"/>
                </a:solidFill>
              </a:rPr>
              <a:t>loose_150x</a:t>
            </a:r>
          </a:p>
        </p:txBody>
      </p:sp>
      <p:sp>
        <p:nvSpPr>
          <p:cNvPr id="25" name="Rettangolo 24">
            <a:extLst>
              <a:ext uri="{FF2B5EF4-FFF2-40B4-BE49-F238E27FC236}">
                <a16:creationId xmlns:a16="http://schemas.microsoft.com/office/drawing/2014/main" id="{166CE251-7047-4685-BC5A-2583062F1F5B}"/>
              </a:ext>
            </a:extLst>
          </p:cNvPr>
          <p:cNvSpPr>
            <a:spLocks noGrp="1"/>
          </p:cNvSpPr>
          <p:nvPr/>
        </p:nvSpPr>
        <p:spPr>
          <a:xfrm>
            <a:off x="3143250" y="4095750"/>
            <a:ext cx="1143000" cy="476250"/>
          </a:xfrm>
          <a:prstGeom prst="rect">
            <a:avLst/>
          </a:prstGeom>
          <a:noFill/>
          <a:ln w="0">
            <a:noFill/>
            <a:prstDash val="solid"/>
          </a:ln>
        </p:spPr>
        <p:txBody>
          <a:bodyPr anchor="t"/>
          <a:lstStyle/>
          <a:p>
            <a:pPr algn="ctr">
              <a:buNone/>
              <a:defRPr sz="1800" b="0" i="0">
                <a:solidFill>
                  <a:srgbClr val="13212A"/>
                </a:solidFill>
              </a:defRPr>
            </a:pPr>
            <a:r>
              <a:rPr sz="1800" b="0" i="0">
                <a:solidFill>
                  <a:srgbClr val="13212A"/>
                </a:solidFill>
              </a:rPr>
              <a:t>1</a:t>
            </a:r>
          </a:p>
        </p:txBody>
      </p:sp>
      <p:sp>
        <p:nvSpPr>
          <p:cNvPr id="26" name="Rettangolo 25">
            <a:extLst>
              <a:ext uri="{FF2B5EF4-FFF2-40B4-BE49-F238E27FC236}">
                <a16:creationId xmlns:a16="http://schemas.microsoft.com/office/drawing/2014/main" id="{E58B9546-8B68-4723-A058-E4CF7DB971F0}"/>
              </a:ext>
            </a:extLst>
          </p:cNvPr>
          <p:cNvSpPr>
            <a:spLocks noGrp="1"/>
          </p:cNvSpPr>
          <p:nvPr/>
        </p:nvSpPr>
        <p:spPr>
          <a:xfrm>
            <a:off x="4476750" y="4095750"/>
            <a:ext cx="1143000" cy="476250"/>
          </a:xfrm>
          <a:prstGeom prst="rect">
            <a:avLst/>
          </a:prstGeom>
          <a:noFill/>
          <a:ln w="0">
            <a:noFill/>
            <a:prstDash val="solid"/>
          </a:ln>
        </p:spPr>
        <p:txBody>
          <a:bodyPr anchor="t"/>
          <a:lstStyle/>
          <a:p>
            <a:pPr algn="ctr">
              <a:buNone/>
              <a:defRPr sz="1800" b="0" i="0">
                <a:solidFill>
                  <a:srgbClr val="13212A"/>
                </a:solidFill>
              </a:defRPr>
            </a:pPr>
            <a:r>
              <a:rPr sz="1800" b="0" i="0">
                <a:solidFill>
                  <a:srgbClr val="13212A"/>
                </a:solidFill>
              </a:rPr>
              <a:t>1</a:t>
            </a:r>
          </a:p>
        </p:txBody>
      </p:sp>
      <p:sp>
        <p:nvSpPr>
          <p:cNvPr id="27" name="Rettangolo 26">
            <a:extLst>
              <a:ext uri="{FF2B5EF4-FFF2-40B4-BE49-F238E27FC236}">
                <a16:creationId xmlns:a16="http://schemas.microsoft.com/office/drawing/2014/main" id="{E432DB22-7CAD-4FAE-AB22-072D7858EBCE}"/>
              </a:ext>
            </a:extLst>
          </p:cNvPr>
          <p:cNvSpPr>
            <a:spLocks noGrp="1"/>
          </p:cNvSpPr>
          <p:nvPr/>
        </p:nvSpPr>
        <p:spPr>
          <a:xfrm>
            <a:off x="5810250" y="4095750"/>
            <a:ext cx="1714500" cy="476250"/>
          </a:xfrm>
          <a:prstGeom prst="rect">
            <a:avLst/>
          </a:prstGeom>
          <a:noFill/>
          <a:ln w="0">
            <a:noFill/>
            <a:prstDash val="solid"/>
          </a:ln>
        </p:spPr>
        <p:txBody>
          <a:bodyPr anchor="t"/>
          <a:lstStyle/>
          <a:p>
            <a:pPr algn="ctr">
              <a:buNone/>
              <a:defRPr sz="1800" b="0" i="0">
                <a:solidFill>
                  <a:srgbClr val="13212A"/>
                </a:solidFill>
              </a:defRPr>
            </a:pPr>
            <a:r>
              <a:rPr sz="1800" b="0" i="0">
                <a:solidFill>
                  <a:srgbClr val="13212A"/>
                </a:solidFill>
              </a:rPr>
              <a:t>1.000</a:t>
            </a:r>
          </a:p>
        </p:txBody>
      </p:sp>
      <p:sp>
        <p:nvSpPr>
          <p:cNvPr id="28" name="Rettangolo 27">
            <a:extLst>
              <a:ext uri="{FF2B5EF4-FFF2-40B4-BE49-F238E27FC236}">
                <a16:creationId xmlns:a16="http://schemas.microsoft.com/office/drawing/2014/main" id="{69366FC3-7099-480E-B331-F235AF50AC99}"/>
              </a:ext>
            </a:extLst>
          </p:cNvPr>
          <p:cNvSpPr>
            <a:spLocks noGrp="1"/>
          </p:cNvSpPr>
          <p:nvPr/>
        </p:nvSpPr>
        <p:spPr>
          <a:xfrm>
            <a:off x="7715250" y="4095750"/>
            <a:ext cx="3333750" cy="476250"/>
          </a:xfrm>
          <a:prstGeom prst="rect">
            <a:avLst/>
          </a:prstGeom>
          <a:noFill/>
          <a:ln w="0">
            <a:noFill/>
            <a:prstDash val="solid"/>
          </a:ln>
        </p:spPr>
        <p:txBody>
          <a:bodyPr anchor="t"/>
          <a:lstStyle/>
          <a:p>
            <a:pPr algn="ctr">
              <a:buNone/>
              <a:defRPr sz="1800" b="1" i="0">
                <a:solidFill>
                  <a:srgbClr val="167D73"/>
                </a:solidFill>
              </a:defRPr>
            </a:pPr>
            <a:r>
              <a:rPr sz="1800" b="1" i="0">
                <a:solidFill>
                  <a:srgbClr val="167D73"/>
                </a:solidFill>
              </a:rPr>
              <a:t>∅ → WSPM</a:t>
            </a:r>
          </a:p>
        </p:txBody>
      </p:sp>
      <p:sp>
        <p:nvSpPr>
          <p:cNvPr id="29" name="Connettore dritto 28">
            <a:extLst>
              <a:ext uri="{FF2B5EF4-FFF2-40B4-BE49-F238E27FC236}">
                <a16:creationId xmlns:a16="http://schemas.microsoft.com/office/drawing/2014/main" id="{00323B97-D867-425F-A8EA-DC7D4CBE87FE}"/>
              </a:ext>
            </a:extLst>
          </p:cNvPr>
          <p:cNvSpPr>
            <a:spLocks noGrp="1"/>
          </p:cNvSpPr>
          <p:nvPr/>
        </p:nvSpPr>
        <p:spPr>
          <a:xfrm>
            <a:off x="609600" y="4724400"/>
            <a:ext cx="10477500" cy="0"/>
          </a:xfrm>
          <a:prstGeom prst="line">
            <a:avLst/>
          </a:prstGeom>
          <a:noFill/>
          <a:ln w="9525">
            <a:solidFill>
              <a:srgbClr val="CBD7D6"/>
            </a:solidFill>
            <a:prstDash val="solid"/>
          </a:ln>
        </p:spPr>
        <p:txBody>
          <a:bodyPr/>
          <a:lstStyle/>
          <a:p>
            <a:endParaRPr/>
          </a:p>
        </p:txBody>
      </p:sp>
      <p:sp>
        <p:nvSpPr>
          <p:cNvPr id="30" name="Rettangolo con angoli arrotondati 29">
            <a:extLst>
              <a:ext uri="{FF2B5EF4-FFF2-40B4-BE49-F238E27FC236}">
                <a16:creationId xmlns:a16="http://schemas.microsoft.com/office/drawing/2014/main" id="{019BE711-00F1-42CB-9E80-E2367FCEF978}"/>
              </a:ext>
            </a:extLst>
          </p:cNvPr>
          <p:cNvSpPr>
            <a:spLocks noGrp="1"/>
          </p:cNvSpPr>
          <p:nvPr/>
        </p:nvSpPr>
        <p:spPr>
          <a:xfrm>
            <a:off x="1619250" y="5095875"/>
            <a:ext cx="8763000" cy="590550"/>
          </a:xfrm>
          <a:prstGeom prst="roundRect">
            <a:avLst>
              <a:gd name="adj" fmla="val 19355"/>
            </a:avLst>
          </a:prstGeom>
          <a:solidFill>
            <a:srgbClr val="D9EFEC"/>
          </a:solidFill>
          <a:ln w="9525">
            <a:solidFill>
              <a:srgbClr val="D9EFEC"/>
            </a:solidFill>
            <a:prstDash val="solid"/>
          </a:ln>
        </p:spPr>
        <p:txBody>
          <a:bodyPr/>
          <a:lstStyle/>
          <a:p>
            <a:endParaRPr/>
          </a:p>
        </p:txBody>
      </p:sp>
      <p:sp>
        <p:nvSpPr>
          <p:cNvPr id="31" name="Rettangolo 30">
            <a:extLst>
              <a:ext uri="{FF2B5EF4-FFF2-40B4-BE49-F238E27FC236}">
                <a16:creationId xmlns:a16="http://schemas.microsoft.com/office/drawing/2014/main" id="{81286D59-512B-418F-A35E-F2994C71F919}"/>
              </a:ext>
            </a:extLst>
          </p:cNvPr>
          <p:cNvSpPr>
            <a:spLocks noGrp="1"/>
          </p:cNvSpPr>
          <p:nvPr/>
        </p:nvSpPr>
        <p:spPr>
          <a:xfrm>
            <a:off x="1809750" y="5133975"/>
            <a:ext cx="8382000" cy="533400"/>
          </a:xfrm>
          <a:prstGeom prst="rect">
            <a:avLst/>
          </a:prstGeom>
          <a:noFill/>
          <a:ln w="0">
            <a:noFill/>
            <a:prstDash val="solid"/>
          </a:ln>
        </p:spPr>
        <p:txBody>
          <a:bodyPr anchor="t"/>
          <a:lstStyle/>
          <a:p>
            <a:pPr algn="l">
              <a:buNone/>
              <a:defRPr sz="1200" b="1" i="0">
                <a:solidFill>
                  <a:srgbClr val="13212A"/>
                </a:solidFill>
              </a:defRPr>
            </a:pPr>
            <a:r>
              <a:rPr sz="1800" b="1" i="0">
                <a:solidFill>
                  <a:srgbClr val="13212A"/>
                </a:solidFill>
              </a:rPr>
              <a:t>1. Medium gives a compact and interpretable rule set.
2. Strict thresholds reveal alternative RHS: WSPM dominance is not absolute.
3. Loose thresholds collapse to uninformative rules.</a:t>
            </a:r>
          </a:p>
        </p:txBody>
      </p:sp>
      <p:sp>
        <p:nvSpPr>
          <p:cNvPr id="32" name="Rettangolo 31">
            <a:extLst>
              <a:ext uri="{FF2B5EF4-FFF2-40B4-BE49-F238E27FC236}">
                <a16:creationId xmlns:a16="http://schemas.microsoft.com/office/drawing/2014/main" id="{26F92158-B2E2-4228-A69C-0B97A1365118}"/>
              </a:ext>
            </a:extLst>
          </p:cNvPr>
          <p:cNvSpPr>
            <a:spLocks noGrp="1"/>
          </p:cNvSpPr>
          <p:nvPr/>
        </p:nvSpPr>
        <p:spPr>
          <a:xfrm>
            <a:off x="609600" y="5953125"/>
            <a:ext cx="57150" cy="400050"/>
          </a:xfrm>
          <a:prstGeom prst="rect">
            <a:avLst/>
          </a:prstGeom>
          <a:solidFill>
            <a:srgbClr val="167D73"/>
          </a:solidFill>
          <a:ln w="0">
            <a:solidFill>
              <a:srgbClr val="167D73"/>
            </a:solidFill>
            <a:prstDash val="solid"/>
          </a:ln>
        </p:spPr>
        <p:txBody>
          <a:bodyPr/>
          <a:lstStyle/>
          <a:p>
            <a:endParaRPr/>
          </a:p>
        </p:txBody>
      </p:sp>
      <p:sp>
        <p:nvSpPr>
          <p:cNvPr id="33" name="Rettangolo 32">
            <a:extLst>
              <a:ext uri="{FF2B5EF4-FFF2-40B4-BE49-F238E27FC236}">
                <a16:creationId xmlns:a16="http://schemas.microsoft.com/office/drawing/2014/main" id="{E9D27876-BB47-4DD7-8AF3-54EE5F007370}"/>
              </a:ext>
            </a:extLst>
          </p:cNvPr>
          <p:cNvSpPr>
            <a:spLocks noGrp="1"/>
          </p:cNvSpPr>
          <p:nvPr/>
        </p:nvSpPr>
        <p:spPr>
          <a:xfrm>
            <a:off x="800100" y="5943600"/>
            <a:ext cx="10287000" cy="457200"/>
          </a:xfrm>
          <a:prstGeom prst="rect">
            <a:avLst/>
          </a:prstGeom>
          <a:noFill/>
          <a:ln w="0">
            <a:noFill/>
            <a:prstDash val="solid"/>
          </a:ln>
        </p:spPr>
        <p:txBody>
          <a:bodyPr anchor="t"/>
          <a:lstStyle/>
          <a:p>
            <a:pPr algn="l">
              <a:buNone/>
              <a:defRPr sz="1650" b="1" i="0">
                <a:solidFill>
                  <a:srgbClr val="13212A"/>
                </a:solidFill>
              </a:defRPr>
            </a:pPr>
            <a:r>
              <a:rPr sz="1650" b="1" i="0">
                <a:solidFill>
                  <a:srgbClr val="13212A"/>
                </a:solidFill>
              </a:rPr>
              <a:t>Medium remains the main run; sensitivity qualifies interpretation without changing the primary results.</a:t>
            </a:r>
          </a:p>
        </p:txBody>
      </p:sp>
    </p:spTree>
    <p:extLst>
      <p:ext uri="{BB962C8B-B14F-4D97-AF65-F5344CB8AC3E}">
        <p14:creationId xmlns:p14="http://schemas.microsoft.com/office/powerpoint/2010/main" val="199417435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9" name="Rettangolo 18">
            <a:extLst>
              <a:ext uri="{FF2B5EF4-FFF2-40B4-BE49-F238E27FC236}">
                <a16:creationId xmlns:a16="http://schemas.microsoft.com/office/drawing/2014/main" id="{5853D310-4F32-4ED4-ADC5-95549C35D394}"/>
              </a:ext>
            </a:extLst>
          </p:cNvPr>
          <p:cNvSpPr>
            <a:spLocks noGrp="1"/>
          </p:cNvSpPr>
          <p:nvPr/>
        </p:nvSpPr>
        <p:spPr>
          <a:xfrm>
            <a:off x="609600" y="323850"/>
            <a:ext cx="5905500" cy="228600"/>
          </a:xfrm>
          <a:prstGeom prst="rect">
            <a:avLst/>
          </a:prstGeom>
          <a:noFill/>
          <a:ln w="0">
            <a:noFill/>
            <a:prstDash val="solid"/>
          </a:ln>
        </p:spPr>
        <p:txBody>
          <a:bodyPr anchor="t"/>
          <a:lstStyle/>
          <a:p>
            <a:pPr algn="l">
              <a:buNone/>
              <a:defRPr sz="1125" b="1" i="0">
                <a:solidFill>
                  <a:srgbClr val="167D73"/>
                </a:solidFill>
              </a:defRPr>
            </a:pPr>
            <a:r>
              <a:rPr sz="1125" b="1" i="0">
                <a:solidFill>
                  <a:srgbClr val="167D73"/>
                </a:solidFill>
              </a:rPr>
              <a:t>KDIID · RFD CONSISTENCY PROFILING</a:t>
            </a:r>
          </a:p>
        </p:txBody>
      </p:sp>
      <p:sp>
        <p:nvSpPr>
          <p:cNvPr id="2" name="Rettangolo 1">
            <a:extLst>
              <a:ext uri="{FF2B5EF4-FFF2-40B4-BE49-F238E27FC236}">
                <a16:creationId xmlns:a16="http://schemas.microsoft.com/office/drawing/2014/main" id="{44A28C40-5809-4E1C-A47F-F5B28939CC5C}"/>
              </a:ext>
            </a:extLst>
          </p:cNvPr>
          <p:cNvSpPr>
            <a:spLocks noGrp="1"/>
          </p:cNvSpPr>
          <p:nvPr/>
        </p:nvSpPr>
        <p:spPr>
          <a:xfrm>
            <a:off x="609600" y="647700"/>
            <a:ext cx="10668000" cy="666750"/>
          </a:xfrm>
          <a:prstGeom prst="rect">
            <a:avLst/>
          </a:prstGeom>
          <a:noFill/>
          <a:ln w="0">
            <a:noFill/>
            <a:prstDash val="solid"/>
          </a:ln>
        </p:spPr>
        <p:txBody>
          <a:bodyPr anchor="t"/>
          <a:lstStyle/>
          <a:p>
            <a:pPr algn="l">
              <a:buNone/>
              <a:defRPr sz="3600" b="1" i="0">
                <a:solidFill>
                  <a:srgbClr val="13212A"/>
                </a:solidFill>
              </a:defRPr>
            </a:pPr>
            <a:r>
              <a:rPr sz="3600" b="1" i="0">
                <a:solidFill>
                  <a:srgbClr val="13212A"/>
                </a:solidFill>
              </a:rPr>
              <a:t>g3 and confidence answer different questions</a:t>
            </a:r>
          </a:p>
        </p:txBody>
      </p:sp>
      <p:sp>
        <p:nvSpPr>
          <p:cNvPr id="3" name="Connettore dritto 2">
            <a:extLst>
              <a:ext uri="{FF2B5EF4-FFF2-40B4-BE49-F238E27FC236}">
                <a16:creationId xmlns:a16="http://schemas.microsoft.com/office/drawing/2014/main" id="{0E06D9BC-23E1-4173-8C77-D81C16234A83}"/>
              </a:ext>
            </a:extLst>
          </p:cNvPr>
          <p:cNvSpPr>
            <a:spLocks noGrp="1"/>
          </p:cNvSpPr>
          <p:nvPr/>
        </p:nvSpPr>
        <p:spPr>
          <a:xfrm>
            <a:off x="609600" y="1381125"/>
            <a:ext cx="10972800" cy="0"/>
          </a:xfrm>
          <a:prstGeom prst="line">
            <a:avLst/>
          </a:prstGeom>
          <a:noFill/>
          <a:ln w="9525">
            <a:solidFill>
              <a:srgbClr val="CBD7D6"/>
            </a:solidFill>
            <a:prstDash val="solid"/>
          </a:ln>
        </p:spPr>
        <p:txBody>
          <a:bodyPr/>
          <a:lstStyle/>
          <a:p>
            <a:endParaRPr/>
          </a:p>
        </p:txBody>
      </p:sp>
      <p:sp>
        <p:nvSpPr>
          <p:cNvPr id="4" name="Rettangolo 3">
            <a:extLst>
              <a:ext uri="{FF2B5EF4-FFF2-40B4-BE49-F238E27FC236}">
                <a16:creationId xmlns:a16="http://schemas.microsoft.com/office/drawing/2014/main" id="{E4273E80-EB22-40D7-B0D0-FC19B6FA8803}"/>
              </a:ext>
            </a:extLst>
          </p:cNvPr>
          <p:cNvSpPr>
            <a:spLocks noGrp="1"/>
          </p:cNvSpPr>
          <p:nvPr/>
        </p:nvSpPr>
        <p:spPr>
          <a:xfrm>
            <a:off x="11144250" y="6419850"/>
            <a:ext cx="438150" cy="209550"/>
          </a:xfrm>
          <a:prstGeom prst="rect">
            <a:avLst/>
          </a:prstGeom>
          <a:noFill/>
          <a:ln w="0">
            <a:noFill/>
            <a:prstDash val="solid"/>
          </a:ln>
        </p:spPr>
        <p:txBody>
          <a:bodyPr anchor="t"/>
          <a:lstStyle/>
          <a:p>
            <a:pPr algn="r">
              <a:buNone/>
              <a:defRPr sz="1125" b="1" i="0">
                <a:solidFill>
                  <a:srgbClr val="52636D"/>
                </a:solidFill>
              </a:defRPr>
            </a:pPr>
            <a:r>
              <a:rPr sz="1125" b="1" i="0">
                <a:solidFill>
                  <a:srgbClr val="52636D"/>
                </a:solidFill>
              </a:rPr>
              <a:t>14</a:t>
            </a:r>
          </a:p>
        </p:txBody>
      </p:sp>
      <p:sp>
        <p:nvSpPr>
          <p:cNvPr id="5" name="Ovale 4">
            <a:extLst>
              <a:ext uri="{FF2B5EF4-FFF2-40B4-BE49-F238E27FC236}">
                <a16:creationId xmlns:a16="http://schemas.microsoft.com/office/drawing/2014/main" id="{A6F0BF3B-1C1D-4689-9129-5B5AADD149C4}"/>
              </a:ext>
            </a:extLst>
          </p:cNvPr>
          <p:cNvSpPr>
            <a:spLocks noGrp="1"/>
          </p:cNvSpPr>
          <p:nvPr/>
        </p:nvSpPr>
        <p:spPr>
          <a:xfrm>
            <a:off x="857250" y="1857375"/>
            <a:ext cx="4000500" cy="3143250"/>
          </a:xfrm>
          <a:prstGeom prst="ellipse">
            <a:avLst/>
          </a:prstGeom>
          <a:solidFill>
            <a:srgbClr val="D9EFEC"/>
          </a:solidFill>
          <a:ln w="19050">
            <a:solidFill>
              <a:srgbClr val="53A89F"/>
            </a:solidFill>
            <a:prstDash val="solid"/>
          </a:ln>
        </p:spPr>
        <p:txBody>
          <a:bodyPr/>
          <a:lstStyle/>
          <a:p>
            <a:endParaRPr/>
          </a:p>
        </p:txBody>
      </p:sp>
      <p:sp>
        <p:nvSpPr>
          <p:cNvPr id="6" name="Rettangolo 5">
            <a:extLst>
              <a:ext uri="{FF2B5EF4-FFF2-40B4-BE49-F238E27FC236}">
                <a16:creationId xmlns:a16="http://schemas.microsoft.com/office/drawing/2014/main" id="{DC54A307-AE12-4673-ABD9-4FC06EB94651}"/>
              </a:ext>
            </a:extLst>
          </p:cNvPr>
          <p:cNvSpPr>
            <a:spLocks noGrp="1"/>
          </p:cNvSpPr>
          <p:nvPr/>
        </p:nvSpPr>
        <p:spPr>
          <a:xfrm>
            <a:off x="1743075" y="2095500"/>
            <a:ext cx="2238375" cy="457200"/>
          </a:xfrm>
          <a:prstGeom prst="rect">
            <a:avLst/>
          </a:prstGeom>
          <a:noFill/>
          <a:ln w="0">
            <a:noFill/>
            <a:prstDash val="solid"/>
          </a:ln>
        </p:spPr>
        <p:txBody>
          <a:bodyPr anchor="t"/>
          <a:lstStyle/>
          <a:p>
            <a:pPr algn="ctr">
              <a:buNone/>
              <a:defRPr sz="2550" b="1" i="0">
                <a:solidFill>
                  <a:srgbClr val="2D6278"/>
                </a:solidFill>
              </a:defRPr>
            </a:pPr>
            <a:r>
              <a:rPr sz="2550" b="1" i="0">
                <a:solidFill>
                  <a:srgbClr val="2D6278"/>
                </a:solidFill>
              </a:rPr>
              <a:t>g3 ERROR</a:t>
            </a:r>
          </a:p>
        </p:txBody>
      </p:sp>
      <p:sp>
        <p:nvSpPr>
          <p:cNvPr id="7" name="Ovale 6">
            <a:extLst>
              <a:ext uri="{FF2B5EF4-FFF2-40B4-BE49-F238E27FC236}">
                <a16:creationId xmlns:a16="http://schemas.microsoft.com/office/drawing/2014/main" id="{BBEC5DFE-B7E4-4B0D-BCC9-2CCE347022B2}"/>
              </a:ext>
            </a:extLst>
          </p:cNvPr>
          <p:cNvSpPr>
            <a:spLocks noGrp="1"/>
          </p:cNvSpPr>
          <p:nvPr/>
        </p:nvSpPr>
        <p:spPr>
          <a:xfrm>
            <a:off x="1838325" y="3000375"/>
            <a:ext cx="2000250" cy="1524000"/>
          </a:xfrm>
          <a:prstGeom prst="ellipse">
            <a:avLst/>
          </a:prstGeom>
          <a:solidFill>
            <a:srgbClr val="FFFFFF"/>
          </a:solidFill>
          <a:ln w="19050">
            <a:solidFill>
              <a:srgbClr val="167D73"/>
            </a:solidFill>
            <a:prstDash val="solid"/>
          </a:ln>
        </p:spPr>
        <p:txBody>
          <a:bodyPr/>
          <a:lstStyle/>
          <a:p>
            <a:endParaRPr/>
          </a:p>
        </p:txBody>
      </p:sp>
      <p:sp>
        <p:nvSpPr>
          <p:cNvPr id="8" name="Rettangolo 7">
            <a:extLst>
              <a:ext uri="{FF2B5EF4-FFF2-40B4-BE49-F238E27FC236}">
                <a16:creationId xmlns:a16="http://schemas.microsoft.com/office/drawing/2014/main" id="{64FA002A-D24B-465C-8B6B-9DAB7253FE77}"/>
              </a:ext>
            </a:extLst>
          </p:cNvPr>
          <p:cNvSpPr>
            <a:spLocks noGrp="1"/>
          </p:cNvSpPr>
          <p:nvPr/>
        </p:nvSpPr>
        <p:spPr>
          <a:xfrm>
            <a:off x="2133600" y="3495675"/>
            <a:ext cx="1428750" cy="428625"/>
          </a:xfrm>
          <a:prstGeom prst="rect">
            <a:avLst/>
          </a:prstGeom>
          <a:noFill/>
          <a:ln w="0">
            <a:noFill/>
            <a:prstDash val="solid"/>
          </a:ln>
        </p:spPr>
        <p:txBody>
          <a:bodyPr anchor="t"/>
          <a:lstStyle/>
          <a:p>
            <a:pPr algn="ctr">
              <a:buNone/>
              <a:defRPr sz="2250" b="1" i="0">
                <a:solidFill>
                  <a:srgbClr val="167D73"/>
                </a:solidFill>
              </a:defRPr>
            </a:pPr>
            <a:r>
              <a:rPr sz="2250" b="1" i="0">
                <a:solidFill>
                  <a:srgbClr val="167D73"/>
                </a:solidFill>
              </a:rPr>
              <a:t>CONF.</a:t>
            </a:r>
          </a:p>
        </p:txBody>
      </p:sp>
      <p:sp>
        <p:nvSpPr>
          <p:cNvPr id="9" name="Rettangolo 8">
            <a:extLst>
              <a:ext uri="{FF2B5EF4-FFF2-40B4-BE49-F238E27FC236}">
                <a16:creationId xmlns:a16="http://schemas.microsoft.com/office/drawing/2014/main" id="{C9A67209-EBCF-4A60-B5B9-5484B42FFBE2}"/>
              </a:ext>
            </a:extLst>
          </p:cNvPr>
          <p:cNvSpPr>
            <a:spLocks noGrp="1"/>
          </p:cNvSpPr>
          <p:nvPr/>
        </p:nvSpPr>
        <p:spPr>
          <a:xfrm>
            <a:off x="5715000" y="1857375"/>
            <a:ext cx="5143500" cy="723900"/>
          </a:xfrm>
          <a:prstGeom prst="rect">
            <a:avLst/>
          </a:prstGeom>
          <a:noFill/>
          <a:ln w="0">
            <a:noFill/>
            <a:prstDash val="solid"/>
          </a:ln>
        </p:spPr>
        <p:txBody>
          <a:bodyPr anchor="t"/>
          <a:lstStyle/>
          <a:p>
            <a:pPr algn="l">
              <a:buNone/>
              <a:defRPr sz="1875" b="1" i="0">
                <a:solidFill>
                  <a:srgbClr val="13212A"/>
                </a:solidFill>
              </a:defRPr>
            </a:pPr>
            <a:r>
              <a:rPr sz="1875" b="1" i="0">
                <a:solidFill>
                  <a:srgbClr val="13212A"/>
                </a:solidFill>
              </a:rPr>
              <a:t>Minimum tuple-removal fraction needed to make an RFD hold.</a:t>
            </a:r>
          </a:p>
        </p:txBody>
      </p:sp>
      <p:sp>
        <p:nvSpPr>
          <p:cNvPr id="10" name="Ovale 9">
            <a:extLst>
              <a:ext uri="{FF2B5EF4-FFF2-40B4-BE49-F238E27FC236}">
                <a16:creationId xmlns:a16="http://schemas.microsoft.com/office/drawing/2014/main" id="{1712AFBB-F3D9-4AAA-B525-16E2353A69AF}"/>
              </a:ext>
            </a:extLst>
          </p:cNvPr>
          <p:cNvSpPr>
            <a:spLocks noGrp="1"/>
          </p:cNvSpPr>
          <p:nvPr/>
        </p:nvSpPr>
        <p:spPr>
          <a:xfrm>
            <a:off x="5762625" y="2943225"/>
            <a:ext cx="95250" cy="95250"/>
          </a:xfrm>
          <a:prstGeom prst="ellipse">
            <a:avLst/>
          </a:prstGeom>
          <a:solidFill>
            <a:srgbClr val="167D73"/>
          </a:solidFill>
          <a:ln w="0">
            <a:solidFill>
              <a:srgbClr val="167D73"/>
            </a:solidFill>
            <a:prstDash val="solid"/>
          </a:ln>
        </p:spPr>
        <p:txBody>
          <a:bodyPr/>
          <a:lstStyle/>
          <a:p>
            <a:endParaRPr/>
          </a:p>
        </p:txBody>
      </p:sp>
      <p:sp>
        <p:nvSpPr>
          <p:cNvPr id="11" name="Rettangolo 10">
            <a:extLst>
              <a:ext uri="{FF2B5EF4-FFF2-40B4-BE49-F238E27FC236}">
                <a16:creationId xmlns:a16="http://schemas.microsoft.com/office/drawing/2014/main" id="{48289C21-4451-4001-8084-04F3FF112D53}"/>
              </a:ext>
            </a:extLst>
          </p:cNvPr>
          <p:cNvSpPr>
            <a:spLocks noGrp="1"/>
          </p:cNvSpPr>
          <p:nvPr/>
        </p:nvSpPr>
        <p:spPr>
          <a:xfrm>
            <a:off x="5991225" y="2857500"/>
            <a:ext cx="4867275" cy="619125"/>
          </a:xfrm>
          <a:prstGeom prst="rect">
            <a:avLst/>
          </a:prstGeom>
          <a:noFill/>
          <a:ln w="0">
            <a:noFill/>
            <a:prstDash val="solid"/>
          </a:ln>
        </p:spPr>
        <p:txBody>
          <a:bodyPr anchor="t"/>
          <a:lstStyle/>
          <a:p>
            <a:pPr algn="l">
              <a:buNone/>
              <a:defRPr sz="1575" b="0" i="0">
                <a:solidFill>
                  <a:srgbClr val="13212A"/>
                </a:solidFill>
              </a:defRPr>
            </a:pPr>
            <a:r>
              <a:rPr sz="1575" b="0" i="0">
                <a:solidFill>
                  <a:srgbClr val="13212A"/>
                </a:solidFill>
              </a:rPr>
              <a:t>Valid similar pairs divided by antecedent pairs.</a:t>
            </a:r>
          </a:p>
        </p:txBody>
      </p:sp>
      <p:sp>
        <p:nvSpPr>
          <p:cNvPr id="12" name="Ovale 11">
            <a:extLst>
              <a:ext uri="{FF2B5EF4-FFF2-40B4-BE49-F238E27FC236}">
                <a16:creationId xmlns:a16="http://schemas.microsoft.com/office/drawing/2014/main" id="{C463B36E-C853-429A-9A67-CA711F33B46D}"/>
              </a:ext>
            </a:extLst>
          </p:cNvPr>
          <p:cNvSpPr>
            <a:spLocks noGrp="1"/>
          </p:cNvSpPr>
          <p:nvPr/>
        </p:nvSpPr>
        <p:spPr>
          <a:xfrm>
            <a:off x="5762625" y="3590925"/>
            <a:ext cx="95250" cy="95250"/>
          </a:xfrm>
          <a:prstGeom prst="ellipse">
            <a:avLst/>
          </a:prstGeom>
          <a:solidFill>
            <a:srgbClr val="167D73"/>
          </a:solidFill>
          <a:ln w="0">
            <a:solidFill>
              <a:srgbClr val="167D73"/>
            </a:solidFill>
            <a:prstDash val="solid"/>
          </a:ln>
        </p:spPr>
        <p:txBody>
          <a:bodyPr/>
          <a:lstStyle/>
          <a:p>
            <a:endParaRPr/>
          </a:p>
        </p:txBody>
      </p:sp>
      <p:sp>
        <p:nvSpPr>
          <p:cNvPr id="13" name="Rettangolo 12">
            <a:extLst>
              <a:ext uri="{FF2B5EF4-FFF2-40B4-BE49-F238E27FC236}">
                <a16:creationId xmlns:a16="http://schemas.microsoft.com/office/drawing/2014/main" id="{71BE60C6-F880-4207-B1CB-AA47EE39D5E6}"/>
              </a:ext>
            </a:extLst>
          </p:cNvPr>
          <p:cNvSpPr>
            <a:spLocks noGrp="1"/>
          </p:cNvSpPr>
          <p:nvPr/>
        </p:nvSpPr>
        <p:spPr>
          <a:xfrm>
            <a:off x="5991225" y="3505200"/>
            <a:ext cx="4867275" cy="619125"/>
          </a:xfrm>
          <a:prstGeom prst="rect">
            <a:avLst/>
          </a:prstGeom>
          <a:noFill/>
          <a:ln w="0">
            <a:noFill/>
            <a:prstDash val="solid"/>
          </a:ln>
        </p:spPr>
        <p:txBody>
          <a:bodyPr anchor="t"/>
          <a:lstStyle/>
          <a:p>
            <a:pPr algn="l">
              <a:buNone/>
              <a:defRPr sz="1575" b="0" i="0">
                <a:solidFill>
                  <a:srgbClr val="13212A"/>
                </a:solidFill>
              </a:defRPr>
            </a:pPr>
            <a:r>
              <a:rPr sz="1575" b="0" i="0">
                <a:solidFill>
                  <a:srgbClr val="13212A"/>
                </a:solidFill>
              </a:rPr>
              <a:t>DiMε discovers rules with g3 ≤ 0.10.</a:t>
            </a:r>
          </a:p>
        </p:txBody>
      </p:sp>
      <p:sp>
        <p:nvSpPr>
          <p:cNvPr id="14" name="Ovale 13">
            <a:extLst>
              <a:ext uri="{FF2B5EF4-FFF2-40B4-BE49-F238E27FC236}">
                <a16:creationId xmlns:a16="http://schemas.microsoft.com/office/drawing/2014/main" id="{28EF1E64-F17E-40CC-96C5-06E8F6FC6EDD}"/>
              </a:ext>
            </a:extLst>
          </p:cNvPr>
          <p:cNvSpPr>
            <a:spLocks noGrp="1"/>
          </p:cNvSpPr>
          <p:nvPr/>
        </p:nvSpPr>
        <p:spPr>
          <a:xfrm>
            <a:off x="5762625" y="4238625"/>
            <a:ext cx="95250" cy="95250"/>
          </a:xfrm>
          <a:prstGeom prst="ellipse">
            <a:avLst/>
          </a:prstGeom>
          <a:solidFill>
            <a:srgbClr val="167D73"/>
          </a:solidFill>
          <a:ln w="0">
            <a:solidFill>
              <a:srgbClr val="167D73"/>
            </a:solidFill>
            <a:prstDash val="solid"/>
          </a:ln>
        </p:spPr>
        <p:txBody>
          <a:bodyPr/>
          <a:lstStyle/>
          <a:p>
            <a:endParaRPr/>
          </a:p>
        </p:txBody>
      </p:sp>
      <p:sp>
        <p:nvSpPr>
          <p:cNvPr id="15" name="Rettangolo 14">
            <a:extLst>
              <a:ext uri="{FF2B5EF4-FFF2-40B4-BE49-F238E27FC236}">
                <a16:creationId xmlns:a16="http://schemas.microsoft.com/office/drawing/2014/main" id="{31A772BD-C746-45C6-B5CE-00C4775885B6}"/>
              </a:ext>
            </a:extLst>
          </p:cNvPr>
          <p:cNvSpPr>
            <a:spLocks noGrp="1"/>
          </p:cNvSpPr>
          <p:nvPr/>
        </p:nvSpPr>
        <p:spPr>
          <a:xfrm>
            <a:off x="5991225" y="4152900"/>
            <a:ext cx="4867275" cy="619125"/>
          </a:xfrm>
          <a:prstGeom prst="rect">
            <a:avLst/>
          </a:prstGeom>
          <a:noFill/>
          <a:ln w="0">
            <a:noFill/>
            <a:prstDash val="solid"/>
          </a:ln>
        </p:spPr>
        <p:txBody>
          <a:bodyPr anchor="t"/>
          <a:lstStyle/>
          <a:p>
            <a:pPr algn="l">
              <a:buNone/>
              <a:defRPr sz="1575" b="0" i="0">
                <a:solidFill>
                  <a:srgbClr val="13212A"/>
                </a:solidFill>
              </a:defRPr>
            </a:pPr>
            <a:r>
              <a:rPr sz="1575" b="0" i="0">
                <a:solidFill>
                  <a:srgbClr val="13212A"/>
                </a:solidFill>
              </a:rPr>
              <a:t>Pairwise confidence ranks discovered rules afterward.</a:t>
            </a:r>
          </a:p>
        </p:txBody>
      </p:sp>
      <p:sp>
        <p:nvSpPr>
          <p:cNvPr id="16" name="Rettangolo 15">
            <a:extLst>
              <a:ext uri="{FF2B5EF4-FFF2-40B4-BE49-F238E27FC236}">
                <a16:creationId xmlns:a16="http://schemas.microsoft.com/office/drawing/2014/main" id="{531D8D2D-93BB-4D0D-B3FC-F0480F8F81C4}"/>
              </a:ext>
            </a:extLst>
          </p:cNvPr>
          <p:cNvSpPr>
            <a:spLocks noGrp="1"/>
          </p:cNvSpPr>
          <p:nvPr/>
        </p:nvSpPr>
        <p:spPr>
          <a:xfrm>
            <a:off x="5753100" y="4933950"/>
            <a:ext cx="4762500" cy="438150"/>
          </a:xfrm>
          <a:prstGeom prst="rect">
            <a:avLst/>
          </a:prstGeom>
          <a:noFill/>
          <a:ln w="0">
            <a:noFill/>
            <a:prstDash val="solid"/>
          </a:ln>
        </p:spPr>
        <p:txBody>
          <a:bodyPr anchor="t"/>
          <a:lstStyle/>
          <a:p>
            <a:pPr algn="l">
              <a:buNone/>
              <a:defRPr sz="2250" b="1" i="0">
                <a:solidFill>
                  <a:srgbClr val="B5534A"/>
                </a:solidFill>
              </a:defRPr>
            </a:pPr>
            <a:r>
              <a:rPr sz="2250" b="1" i="0">
                <a:solidFill>
                  <a:srgbClr val="B5534A"/>
                </a:solidFill>
              </a:rPr>
              <a:t>DISCOVERY ≠ RANKING</a:t>
            </a:r>
          </a:p>
        </p:txBody>
      </p:sp>
      <p:sp>
        <p:nvSpPr>
          <p:cNvPr id="17" name="Rettangolo 16">
            <a:extLst>
              <a:ext uri="{FF2B5EF4-FFF2-40B4-BE49-F238E27FC236}">
                <a16:creationId xmlns:a16="http://schemas.microsoft.com/office/drawing/2014/main" id="{402BD765-6F44-4189-BC8F-80926EF1EAAF}"/>
              </a:ext>
            </a:extLst>
          </p:cNvPr>
          <p:cNvSpPr>
            <a:spLocks noGrp="1"/>
          </p:cNvSpPr>
          <p:nvPr/>
        </p:nvSpPr>
        <p:spPr>
          <a:xfrm>
            <a:off x="609600" y="5953125"/>
            <a:ext cx="57150" cy="400050"/>
          </a:xfrm>
          <a:prstGeom prst="rect">
            <a:avLst/>
          </a:prstGeom>
          <a:solidFill>
            <a:srgbClr val="167D73"/>
          </a:solidFill>
          <a:ln w="0">
            <a:solidFill>
              <a:srgbClr val="167D73"/>
            </a:solidFill>
            <a:prstDash val="solid"/>
          </a:ln>
        </p:spPr>
        <p:txBody>
          <a:bodyPr/>
          <a:lstStyle/>
          <a:p>
            <a:endParaRPr/>
          </a:p>
        </p:txBody>
      </p:sp>
      <p:sp>
        <p:nvSpPr>
          <p:cNvPr id="18" name="Rettangolo 17">
            <a:extLst>
              <a:ext uri="{FF2B5EF4-FFF2-40B4-BE49-F238E27FC236}">
                <a16:creationId xmlns:a16="http://schemas.microsoft.com/office/drawing/2014/main" id="{5C303053-3DAF-4AD0-BDFE-B07464C995F2}"/>
              </a:ext>
            </a:extLst>
          </p:cNvPr>
          <p:cNvSpPr>
            <a:spLocks noGrp="1"/>
          </p:cNvSpPr>
          <p:nvPr/>
        </p:nvSpPr>
        <p:spPr>
          <a:xfrm>
            <a:off x="800100" y="5943600"/>
            <a:ext cx="10287000" cy="457200"/>
          </a:xfrm>
          <a:prstGeom prst="rect">
            <a:avLst/>
          </a:prstGeom>
          <a:noFill/>
          <a:ln w="0">
            <a:noFill/>
            <a:prstDash val="solid"/>
          </a:ln>
        </p:spPr>
        <p:txBody>
          <a:bodyPr anchor="t"/>
          <a:lstStyle/>
          <a:p>
            <a:pPr algn="l">
              <a:buNone/>
              <a:defRPr sz="1650" b="1" i="0">
                <a:solidFill>
                  <a:srgbClr val="13212A"/>
                </a:solidFill>
              </a:defRPr>
            </a:pPr>
            <a:r>
              <a:rPr sz="1650" b="1" i="0">
                <a:solidFill>
                  <a:srgbClr val="13212A"/>
                </a:solidFill>
              </a:rPr>
              <a:t>Low g3 can coexist with pair violations because tuple removal and pair counting differ.</a:t>
            </a:r>
          </a:p>
        </p:txBody>
      </p:sp>
    </p:spTree>
    <p:extLst>
      <p:ext uri="{BB962C8B-B14F-4D97-AF65-F5344CB8AC3E}">
        <p14:creationId xmlns:p14="http://schemas.microsoft.com/office/powerpoint/2010/main" val="144666809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9" name="Rettangolo 18">
            <a:extLst>
              <a:ext uri="{FF2B5EF4-FFF2-40B4-BE49-F238E27FC236}">
                <a16:creationId xmlns:a16="http://schemas.microsoft.com/office/drawing/2014/main" id="{6896A3C4-AD5E-4BB6-A977-51B9BDBF8C2F}"/>
              </a:ext>
            </a:extLst>
          </p:cNvPr>
          <p:cNvSpPr>
            <a:spLocks noGrp="1"/>
          </p:cNvSpPr>
          <p:nvPr/>
        </p:nvSpPr>
        <p:spPr>
          <a:xfrm>
            <a:off x="609600" y="323850"/>
            <a:ext cx="5905500" cy="228600"/>
          </a:xfrm>
          <a:prstGeom prst="rect">
            <a:avLst/>
          </a:prstGeom>
          <a:noFill/>
          <a:ln w="0">
            <a:noFill/>
            <a:prstDash val="solid"/>
          </a:ln>
        </p:spPr>
        <p:txBody>
          <a:bodyPr anchor="t"/>
          <a:lstStyle/>
          <a:p>
            <a:pPr algn="l">
              <a:buNone/>
              <a:defRPr sz="1125" b="1" i="0">
                <a:solidFill>
                  <a:srgbClr val="167D73"/>
                </a:solidFill>
              </a:defRPr>
            </a:pPr>
            <a:r>
              <a:rPr sz="1125" b="1" i="0">
                <a:solidFill>
                  <a:srgbClr val="167D73"/>
                </a:solidFill>
              </a:rPr>
              <a:t>KDIID · RFD CONSISTENCY PROFILING</a:t>
            </a:r>
          </a:p>
        </p:txBody>
      </p:sp>
      <p:sp>
        <p:nvSpPr>
          <p:cNvPr id="2" name="Rettangolo 1">
            <a:extLst>
              <a:ext uri="{FF2B5EF4-FFF2-40B4-BE49-F238E27FC236}">
                <a16:creationId xmlns:a16="http://schemas.microsoft.com/office/drawing/2014/main" id="{13E9451B-3B2B-4067-870A-6CFA5CE5CAC8}"/>
              </a:ext>
            </a:extLst>
          </p:cNvPr>
          <p:cNvSpPr>
            <a:spLocks noGrp="1"/>
          </p:cNvSpPr>
          <p:nvPr/>
        </p:nvSpPr>
        <p:spPr>
          <a:xfrm>
            <a:off x="609600" y="647700"/>
            <a:ext cx="10668000" cy="666750"/>
          </a:xfrm>
          <a:prstGeom prst="rect">
            <a:avLst/>
          </a:prstGeom>
          <a:noFill/>
          <a:ln w="0">
            <a:noFill/>
            <a:prstDash val="solid"/>
          </a:ln>
        </p:spPr>
        <p:txBody>
          <a:bodyPr anchor="t"/>
          <a:lstStyle/>
          <a:p>
            <a:pPr algn="l">
              <a:buNone/>
              <a:defRPr sz="3600" b="1" i="0">
                <a:solidFill>
                  <a:srgbClr val="13212A"/>
                </a:solidFill>
              </a:defRPr>
            </a:pPr>
            <a:r>
              <a:rPr sz="3600" b="1" i="0">
                <a:solidFill>
                  <a:srgbClr val="13212A"/>
                </a:solidFill>
              </a:rPr>
              <a:t>Post-discovery validation design</a:t>
            </a:r>
          </a:p>
        </p:txBody>
      </p:sp>
      <p:sp>
        <p:nvSpPr>
          <p:cNvPr id="3" name="Connettore dritto 2">
            <a:extLst>
              <a:ext uri="{FF2B5EF4-FFF2-40B4-BE49-F238E27FC236}">
                <a16:creationId xmlns:a16="http://schemas.microsoft.com/office/drawing/2014/main" id="{92E6D701-3E80-4196-B481-371A186ED903}"/>
              </a:ext>
            </a:extLst>
          </p:cNvPr>
          <p:cNvSpPr>
            <a:spLocks noGrp="1"/>
          </p:cNvSpPr>
          <p:nvPr/>
        </p:nvSpPr>
        <p:spPr>
          <a:xfrm>
            <a:off x="609600" y="1381125"/>
            <a:ext cx="10972800" cy="0"/>
          </a:xfrm>
          <a:prstGeom prst="line">
            <a:avLst/>
          </a:prstGeom>
          <a:noFill/>
          <a:ln w="9525">
            <a:solidFill>
              <a:srgbClr val="CBD7D6"/>
            </a:solidFill>
            <a:prstDash val="solid"/>
          </a:ln>
        </p:spPr>
        <p:txBody>
          <a:bodyPr/>
          <a:lstStyle/>
          <a:p>
            <a:endParaRPr/>
          </a:p>
        </p:txBody>
      </p:sp>
      <p:sp>
        <p:nvSpPr>
          <p:cNvPr id="4" name="Rettangolo 3">
            <a:extLst>
              <a:ext uri="{FF2B5EF4-FFF2-40B4-BE49-F238E27FC236}">
                <a16:creationId xmlns:a16="http://schemas.microsoft.com/office/drawing/2014/main" id="{03736A15-0710-4D1E-A58E-26518CE57AD2}"/>
              </a:ext>
            </a:extLst>
          </p:cNvPr>
          <p:cNvSpPr>
            <a:spLocks noGrp="1"/>
          </p:cNvSpPr>
          <p:nvPr/>
        </p:nvSpPr>
        <p:spPr>
          <a:xfrm>
            <a:off x="11144250" y="6419850"/>
            <a:ext cx="438150" cy="209550"/>
          </a:xfrm>
          <a:prstGeom prst="rect">
            <a:avLst/>
          </a:prstGeom>
          <a:noFill/>
          <a:ln w="0">
            <a:noFill/>
            <a:prstDash val="solid"/>
          </a:ln>
        </p:spPr>
        <p:txBody>
          <a:bodyPr anchor="t"/>
          <a:lstStyle/>
          <a:p>
            <a:pPr algn="r">
              <a:buNone/>
              <a:defRPr sz="1125" b="1" i="0">
                <a:solidFill>
                  <a:srgbClr val="52636D"/>
                </a:solidFill>
              </a:defRPr>
            </a:pPr>
            <a:r>
              <a:rPr sz="1125" b="1" i="0">
                <a:solidFill>
                  <a:srgbClr val="52636D"/>
                </a:solidFill>
              </a:rPr>
              <a:t>15</a:t>
            </a:r>
          </a:p>
        </p:txBody>
      </p:sp>
      <p:sp>
        <p:nvSpPr>
          <p:cNvPr id="5" name="Rettangolo con angoli arrotondati 4">
            <a:extLst>
              <a:ext uri="{FF2B5EF4-FFF2-40B4-BE49-F238E27FC236}">
                <a16:creationId xmlns:a16="http://schemas.microsoft.com/office/drawing/2014/main" id="{F50221FD-8F88-42C2-9716-6FABE1AA71E3}"/>
              </a:ext>
            </a:extLst>
          </p:cNvPr>
          <p:cNvSpPr>
            <a:spLocks noGrp="1"/>
          </p:cNvSpPr>
          <p:nvPr/>
        </p:nvSpPr>
        <p:spPr>
          <a:xfrm>
            <a:off x="876300" y="1866900"/>
            <a:ext cx="10429875" cy="1123950"/>
          </a:xfrm>
          <a:prstGeom prst="roundRect">
            <a:avLst>
              <a:gd name="adj" fmla="val 10169"/>
            </a:avLst>
          </a:prstGeom>
          <a:solidFill>
            <a:srgbClr val="EEF4F3"/>
          </a:solidFill>
          <a:ln w="9525">
            <a:solidFill>
              <a:srgbClr val="CBD7D6"/>
            </a:solidFill>
            <a:prstDash val="solid"/>
          </a:ln>
        </p:spPr>
        <p:txBody>
          <a:bodyPr/>
          <a:lstStyle/>
          <a:p>
            <a:endParaRPr/>
          </a:p>
        </p:txBody>
      </p:sp>
      <p:sp>
        <p:nvSpPr>
          <p:cNvPr id="6" name="Rettangolo 5">
            <a:extLst>
              <a:ext uri="{FF2B5EF4-FFF2-40B4-BE49-F238E27FC236}">
                <a16:creationId xmlns:a16="http://schemas.microsoft.com/office/drawing/2014/main" id="{3B703F2E-C2AF-49D1-9496-605DBC3A7F4E}"/>
              </a:ext>
            </a:extLst>
          </p:cNvPr>
          <p:cNvSpPr>
            <a:spLocks noGrp="1"/>
          </p:cNvSpPr>
          <p:nvPr/>
        </p:nvSpPr>
        <p:spPr>
          <a:xfrm>
            <a:off x="1143000" y="2200275"/>
            <a:ext cx="9906000" cy="476250"/>
          </a:xfrm>
          <a:prstGeom prst="rect">
            <a:avLst/>
          </a:prstGeom>
          <a:noFill/>
          <a:ln w="0">
            <a:noFill/>
            <a:prstDash val="solid"/>
          </a:ln>
        </p:spPr>
        <p:txBody>
          <a:bodyPr anchor="t"/>
          <a:lstStyle/>
          <a:p>
            <a:pPr algn="ctr">
              <a:buNone/>
              <a:defRPr sz="2325" b="1" i="0">
                <a:solidFill>
                  <a:srgbClr val="13212A"/>
                </a:solidFill>
              </a:defRPr>
            </a:pPr>
            <a:r>
              <a:rPr sz="2325" b="1" i="0">
                <a:solidFill>
                  <a:srgbClr val="13212A"/>
                </a:solidFill>
              </a:rPr>
              <a:t>Discovered RFDs  →  robustness checks</a:t>
            </a:r>
          </a:p>
        </p:txBody>
      </p:sp>
      <p:sp>
        <p:nvSpPr>
          <p:cNvPr id="7" name="Rettangolo 6">
            <a:extLst>
              <a:ext uri="{FF2B5EF4-FFF2-40B4-BE49-F238E27FC236}">
                <a16:creationId xmlns:a16="http://schemas.microsoft.com/office/drawing/2014/main" id="{FE3520CE-F383-4CBC-AA77-B2E2C6A17B33}"/>
              </a:ext>
            </a:extLst>
          </p:cNvPr>
          <p:cNvSpPr>
            <a:spLocks noGrp="1"/>
          </p:cNvSpPr>
          <p:nvPr/>
        </p:nvSpPr>
        <p:spPr>
          <a:xfrm>
            <a:off x="1285875" y="3476625"/>
            <a:ext cx="1809750" cy="590550"/>
          </a:xfrm>
          <a:prstGeom prst="rect">
            <a:avLst/>
          </a:prstGeom>
          <a:noFill/>
          <a:ln w="0">
            <a:noFill/>
            <a:prstDash val="solid"/>
          </a:ln>
        </p:spPr>
        <p:txBody>
          <a:bodyPr anchor="t"/>
          <a:lstStyle/>
          <a:p>
            <a:pPr algn="ctr">
              <a:buNone/>
              <a:defRPr sz="3600" b="1" i="0">
                <a:solidFill>
                  <a:srgbClr val="13212A"/>
                </a:solidFill>
              </a:defRPr>
            </a:pPr>
            <a:r>
              <a:rPr sz="3600" b="1" i="0">
                <a:solidFill>
                  <a:srgbClr val="13212A"/>
                </a:solidFill>
              </a:rPr>
              <a:t>30</a:t>
            </a:r>
          </a:p>
        </p:txBody>
      </p:sp>
      <p:sp>
        <p:nvSpPr>
          <p:cNvPr id="8" name="Rettangolo 7">
            <a:extLst>
              <a:ext uri="{FF2B5EF4-FFF2-40B4-BE49-F238E27FC236}">
                <a16:creationId xmlns:a16="http://schemas.microsoft.com/office/drawing/2014/main" id="{555E2BCE-4918-4548-BAED-C73D634AA7DD}"/>
              </a:ext>
            </a:extLst>
          </p:cNvPr>
          <p:cNvSpPr>
            <a:spLocks noGrp="1"/>
          </p:cNvSpPr>
          <p:nvPr/>
        </p:nvSpPr>
        <p:spPr>
          <a:xfrm>
            <a:off x="1285875" y="4114800"/>
            <a:ext cx="1809750" cy="266700"/>
          </a:xfrm>
          <a:prstGeom prst="rect">
            <a:avLst/>
          </a:prstGeom>
          <a:noFill/>
          <a:ln w="0">
            <a:noFill/>
            <a:prstDash val="solid"/>
          </a:ln>
        </p:spPr>
        <p:txBody>
          <a:bodyPr anchor="t"/>
          <a:lstStyle/>
          <a:p>
            <a:pPr algn="ctr">
              <a:buNone/>
              <a:defRPr sz="1350" b="0" i="0">
                <a:solidFill>
                  <a:srgbClr val="52636D"/>
                </a:solidFill>
              </a:defRPr>
            </a:pPr>
            <a:r>
              <a:rPr sz="1350" b="0" i="0">
                <a:solidFill>
                  <a:srgbClr val="52636D"/>
                </a:solidFill>
              </a:rPr>
              <a:t>bootstrap</a:t>
            </a:r>
          </a:p>
        </p:txBody>
      </p:sp>
      <p:sp>
        <p:nvSpPr>
          <p:cNvPr id="9" name="Rettangolo 8">
            <a:extLst>
              <a:ext uri="{FF2B5EF4-FFF2-40B4-BE49-F238E27FC236}">
                <a16:creationId xmlns:a16="http://schemas.microsoft.com/office/drawing/2014/main" id="{68493296-8240-4BB0-AC65-286F31505CA7}"/>
              </a:ext>
            </a:extLst>
          </p:cNvPr>
          <p:cNvSpPr>
            <a:spLocks noGrp="1"/>
          </p:cNvSpPr>
          <p:nvPr/>
        </p:nvSpPr>
        <p:spPr>
          <a:xfrm>
            <a:off x="3876675" y="3476625"/>
            <a:ext cx="1809750" cy="590550"/>
          </a:xfrm>
          <a:prstGeom prst="rect">
            <a:avLst/>
          </a:prstGeom>
          <a:noFill/>
          <a:ln w="0">
            <a:noFill/>
            <a:prstDash val="solid"/>
          </a:ln>
        </p:spPr>
        <p:txBody>
          <a:bodyPr anchor="t"/>
          <a:lstStyle/>
          <a:p>
            <a:pPr algn="ctr">
              <a:buNone/>
              <a:defRPr sz="3600" b="1" i="0">
                <a:solidFill>
                  <a:srgbClr val="167D73"/>
                </a:solidFill>
              </a:defRPr>
            </a:pPr>
            <a:r>
              <a:rPr sz="3600" b="1" i="0">
                <a:solidFill>
                  <a:srgbClr val="167D73"/>
                </a:solidFill>
              </a:rPr>
              <a:t>75 / 25</a:t>
            </a:r>
          </a:p>
        </p:txBody>
      </p:sp>
      <p:sp>
        <p:nvSpPr>
          <p:cNvPr id="10" name="Rettangolo 9">
            <a:extLst>
              <a:ext uri="{FF2B5EF4-FFF2-40B4-BE49-F238E27FC236}">
                <a16:creationId xmlns:a16="http://schemas.microsoft.com/office/drawing/2014/main" id="{55FF19E9-D21E-4B1E-9D93-2FEBE7F8DB6D}"/>
              </a:ext>
            </a:extLst>
          </p:cNvPr>
          <p:cNvSpPr>
            <a:spLocks noGrp="1"/>
          </p:cNvSpPr>
          <p:nvPr/>
        </p:nvSpPr>
        <p:spPr>
          <a:xfrm>
            <a:off x="3876675" y="4114800"/>
            <a:ext cx="1809750" cy="266700"/>
          </a:xfrm>
          <a:prstGeom prst="rect">
            <a:avLst/>
          </a:prstGeom>
          <a:noFill/>
          <a:ln w="0">
            <a:noFill/>
            <a:prstDash val="solid"/>
          </a:ln>
        </p:spPr>
        <p:txBody>
          <a:bodyPr anchor="t"/>
          <a:lstStyle/>
          <a:p>
            <a:pPr algn="ctr">
              <a:buNone/>
              <a:defRPr sz="1350" b="0" i="0">
                <a:solidFill>
                  <a:srgbClr val="52636D"/>
                </a:solidFill>
              </a:defRPr>
            </a:pPr>
            <a:r>
              <a:rPr sz="1350" b="0" i="0">
                <a:solidFill>
                  <a:srgbClr val="52636D"/>
                </a:solidFill>
              </a:rPr>
              <a:t>train / test</a:t>
            </a:r>
          </a:p>
        </p:txBody>
      </p:sp>
      <p:sp>
        <p:nvSpPr>
          <p:cNvPr id="11" name="Rettangolo 10">
            <a:extLst>
              <a:ext uri="{FF2B5EF4-FFF2-40B4-BE49-F238E27FC236}">
                <a16:creationId xmlns:a16="http://schemas.microsoft.com/office/drawing/2014/main" id="{F8E47B96-F163-458A-938E-47AEB65F9301}"/>
              </a:ext>
            </a:extLst>
          </p:cNvPr>
          <p:cNvSpPr>
            <a:spLocks noGrp="1"/>
          </p:cNvSpPr>
          <p:nvPr/>
        </p:nvSpPr>
        <p:spPr>
          <a:xfrm>
            <a:off x="6467475" y="3476625"/>
            <a:ext cx="1809750" cy="590550"/>
          </a:xfrm>
          <a:prstGeom prst="rect">
            <a:avLst/>
          </a:prstGeom>
          <a:noFill/>
          <a:ln w="0">
            <a:noFill/>
            <a:prstDash val="solid"/>
          </a:ln>
        </p:spPr>
        <p:txBody>
          <a:bodyPr anchor="t"/>
          <a:lstStyle/>
          <a:p>
            <a:pPr algn="ctr">
              <a:buNone/>
              <a:defRPr sz="3600" b="1" i="0">
                <a:solidFill>
                  <a:srgbClr val="13212A"/>
                </a:solidFill>
              </a:defRPr>
            </a:pPr>
            <a:r>
              <a:rPr sz="3600" b="1" i="0">
                <a:solidFill>
                  <a:srgbClr val="13212A"/>
                </a:solidFill>
              </a:rPr>
              <a:t>49</a:t>
            </a:r>
          </a:p>
        </p:txBody>
      </p:sp>
      <p:sp>
        <p:nvSpPr>
          <p:cNvPr id="12" name="Rettangolo 11">
            <a:extLst>
              <a:ext uri="{FF2B5EF4-FFF2-40B4-BE49-F238E27FC236}">
                <a16:creationId xmlns:a16="http://schemas.microsoft.com/office/drawing/2014/main" id="{6C17361E-37B4-437E-BC5C-1F29348CADAB}"/>
              </a:ext>
            </a:extLst>
          </p:cNvPr>
          <p:cNvSpPr>
            <a:spLocks noGrp="1"/>
          </p:cNvSpPr>
          <p:nvPr/>
        </p:nvSpPr>
        <p:spPr>
          <a:xfrm>
            <a:off x="6467475" y="4114800"/>
            <a:ext cx="1809750" cy="266700"/>
          </a:xfrm>
          <a:prstGeom prst="rect">
            <a:avLst/>
          </a:prstGeom>
          <a:noFill/>
          <a:ln w="0">
            <a:noFill/>
            <a:prstDash val="solid"/>
          </a:ln>
        </p:spPr>
        <p:txBody>
          <a:bodyPr anchor="t"/>
          <a:lstStyle/>
          <a:p>
            <a:pPr algn="ctr">
              <a:buNone/>
              <a:defRPr sz="1350" b="0" i="0">
                <a:solidFill>
                  <a:srgbClr val="52636D"/>
                </a:solidFill>
              </a:defRPr>
            </a:pPr>
            <a:r>
              <a:rPr sz="1350" b="0" i="0">
                <a:solidFill>
                  <a:srgbClr val="52636D"/>
                </a:solidFill>
              </a:rPr>
              <a:t>monthly windows</a:t>
            </a:r>
          </a:p>
        </p:txBody>
      </p:sp>
      <p:sp>
        <p:nvSpPr>
          <p:cNvPr id="13" name="Rettangolo 12">
            <a:extLst>
              <a:ext uri="{FF2B5EF4-FFF2-40B4-BE49-F238E27FC236}">
                <a16:creationId xmlns:a16="http://schemas.microsoft.com/office/drawing/2014/main" id="{624AD639-3555-49EE-92E9-B3972DF4FAB3}"/>
              </a:ext>
            </a:extLst>
          </p:cNvPr>
          <p:cNvSpPr>
            <a:spLocks noGrp="1"/>
          </p:cNvSpPr>
          <p:nvPr/>
        </p:nvSpPr>
        <p:spPr>
          <a:xfrm>
            <a:off x="9058275" y="3476625"/>
            <a:ext cx="1809750" cy="590550"/>
          </a:xfrm>
          <a:prstGeom prst="rect">
            <a:avLst/>
          </a:prstGeom>
          <a:noFill/>
          <a:ln w="0">
            <a:noFill/>
            <a:prstDash val="solid"/>
          </a:ln>
        </p:spPr>
        <p:txBody>
          <a:bodyPr anchor="t"/>
          <a:lstStyle/>
          <a:p>
            <a:pPr algn="ctr">
              <a:buNone/>
              <a:defRPr sz="3600" b="1" i="0">
                <a:solidFill>
                  <a:srgbClr val="13212A"/>
                </a:solidFill>
              </a:defRPr>
            </a:pPr>
            <a:r>
              <a:rPr sz="3600" b="1" i="0">
                <a:solidFill>
                  <a:srgbClr val="13212A"/>
                </a:solidFill>
              </a:rPr>
              <a:t>200</a:t>
            </a:r>
          </a:p>
        </p:txBody>
      </p:sp>
      <p:sp>
        <p:nvSpPr>
          <p:cNvPr id="14" name="Rettangolo 13">
            <a:extLst>
              <a:ext uri="{FF2B5EF4-FFF2-40B4-BE49-F238E27FC236}">
                <a16:creationId xmlns:a16="http://schemas.microsoft.com/office/drawing/2014/main" id="{66952E37-55BA-42D0-81CA-7EB0048FCF6E}"/>
              </a:ext>
            </a:extLst>
          </p:cNvPr>
          <p:cNvSpPr>
            <a:spLocks noGrp="1"/>
          </p:cNvSpPr>
          <p:nvPr/>
        </p:nvSpPr>
        <p:spPr>
          <a:xfrm>
            <a:off x="9058275" y="4114800"/>
            <a:ext cx="1809750" cy="266700"/>
          </a:xfrm>
          <a:prstGeom prst="rect">
            <a:avLst/>
          </a:prstGeom>
          <a:noFill/>
          <a:ln w="0">
            <a:noFill/>
            <a:prstDash val="solid"/>
          </a:ln>
        </p:spPr>
        <p:txBody>
          <a:bodyPr anchor="t"/>
          <a:lstStyle/>
          <a:p>
            <a:pPr algn="ctr">
              <a:buNone/>
              <a:defRPr sz="1350" b="0" i="0">
                <a:solidFill>
                  <a:srgbClr val="52636D"/>
                </a:solidFill>
              </a:defRPr>
            </a:pPr>
            <a:r>
              <a:rPr sz="1350" b="0" i="0">
                <a:solidFill>
                  <a:srgbClr val="52636D"/>
                </a:solidFill>
              </a:rPr>
              <a:t>pairs / rule</a:t>
            </a:r>
          </a:p>
        </p:txBody>
      </p:sp>
      <p:sp>
        <p:nvSpPr>
          <p:cNvPr id="15" name="Rettangolo 14">
            <a:extLst>
              <a:ext uri="{FF2B5EF4-FFF2-40B4-BE49-F238E27FC236}">
                <a16:creationId xmlns:a16="http://schemas.microsoft.com/office/drawing/2014/main" id="{615664D6-866B-4EF7-A209-0D9A015ABCCC}"/>
              </a:ext>
            </a:extLst>
          </p:cNvPr>
          <p:cNvSpPr>
            <a:spLocks noGrp="1"/>
          </p:cNvSpPr>
          <p:nvPr/>
        </p:nvSpPr>
        <p:spPr>
          <a:xfrm>
            <a:off x="1809750" y="4762500"/>
            <a:ext cx="8572500" cy="323850"/>
          </a:xfrm>
          <a:prstGeom prst="rect">
            <a:avLst/>
          </a:prstGeom>
          <a:noFill/>
          <a:ln w="0">
            <a:noFill/>
            <a:prstDash val="solid"/>
          </a:ln>
        </p:spPr>
        <p:txBody>
          <a:bodyPr anchor="t"/>
          <a:lstStyle/>
          <a:p>
            <a:pPr algn="ctr">
              <a:buNone/>
              <a:defRPr sz="1650" b="0" i="0">
                <a:solidFill>
                  <a:srgbClr val="13212A"/>
                </a:solidFill>
              </a:defRPr>
            </a:pPr>
            <a:r>
              <a:rPr sz="1650" b="0" i="0">
                <a:solidFill>
                  <a:srgbClr val="13212A"/>
                </a:solidFill>
              </a:rPr>
              <a:t>Bootstrap resampling quantifies variability in support, confidence and lift.</a:t>
            </a:r>
          </a:p>
        </p:txBody>
      </p:sp>
      <p:sp>
        <p:nvSpPr>
          <p:cNvPr id="16" name="Rettangolo 15">
            <a:extLst>
              <a:ext uri="{FF2B5EF4-FFF2-40B4-BE49-F238E27FC236}">
                <a16:creationId xmlns:a16="http://schemas.microsoft.com/office/drawing/2014/main" id="{D7780C72-474D-48D2-BBE4-643C5FDB5260}"/>
              </a:ext>
            </a:extLst>
          </p:cNvPr>
          <p:cNvSpPr>
            <a:spLocks noGrp="1"/>
          </p:cNvSpPr>
          <p:nvPr/>
        </p:nvSpPr>
        <p:spPr>
          <a:xfrm>
            <a:off x="1809750" y="5162550"/>
            <a:ext cx="8572500" cy="323850"/>
          </a:xfrm>
          <a:prstGeom prst="rect">
            <a:avLst/>
          </a:prstGeom>
          <a:noFill/>
          <a:ln w="0">
            <a:noFill/>
            <a:prstDash val="solid"/>
          </a:ln>
        </p:spPr>
        <p:txBody>
          <a:bodyPr anchor="t"/>
          <a:lstStyle/>
          <a:p>
            <a:pPr algn="ctr">
              <a:buNone/>
              <a:defRPr sz="1575" b="1" i="0">
                <a:solidFill>
                  <a:srgbClr val="2D6278"/>
                </a:solidFill>
              </a:defRPr>
            </a:pPr>
            <a:r>
              <a:rPr sz="1575" b="1" i="0">
                <a:solidFill>
                  <a:srgbClr val="2D6278"/>
                </a:solidFill>
              </a:rPr>
              <a:t>Chronological validation separates the 2013–2016 training period from the 2016–2017 test year.</a:t>
            </a:r>
          </a:p>
        </p:txBody>
      </p:sp>
      <p:sp>
        <p:nvSpPr>
          <p:cNvPr id="17" name="Rettangolo 16">
            <a:extLst>
              <a:ext uri="{FF2B5EF4-FFF2-40B4-BE49-F238E27FC236}">
                <a16:creationId xmlns:a16="http://schemas.microsoft.com/office/drawing/2014/main" id="{C614B4B2-DC5F-46EA-8C69-0AA5B2301A64}"/>
              </a:ext>
            </a:extLst>
          </p:cNvPr>
          <p:cNvSpPr>
            <a:spLocks noGrp="1"/>
          </p:cNvSpPr>
          <p:nvPr/>
        </p:nvSpPr>
        <p:spPr>
          <a:xfrm>
            <a:off x="609600" y="5953125"/>
            <a:ext cx="57150" cy="400050"/>
          </a:xfrm>
          <a:prstGeom prst="rect">
            <a:avLst/>
          </a:prstGeom>
          <a:solidFill>
            <a:srgbClr val="167D73"/>
          </a:solidFill>
          <a:ln w="0">
            <a:solidFill>
              <a:srgbClr val="167D73"/>
            </a:solidFill>
            <a:prstDash val="solid"/>
          </a:ln>
        </p:spPr>
        <p:txBody>
          <a:bodyPr/>
          <a:lstStyle/>
          <a:p>
            <a:endParaRPr/>
          </a:p>
        </p:txBody>
      </p:sp>
      <p:sp>
        <p:nvSpPr>
          <p:cNvPr id="18" name="Rettangolo 17">
            <a:extLst>
              <a:ext uri="{FF2B5EF4-FFF2-40B4-BE49-F238E27FC236}">
                <a16:creationId xmlns:a16="http://schemas.microsoft.com/office/drawing/2014/main" id="{1DCD14E0-8A8C-4AA5-911D-961E90DC5762}"/>
              </a:ext>
            </a:extLst>
          </p:cNvPr>
          <p:cNvSpPr>
            <a:spLocks noGrp="1"/>
          </p:cNvSpPr>
          <p:nvPr/>
        </p:nvSpPr>
        <p:spPr>
          <a:xfrm>
            <a:off x="800100" y="5943600"/>
            <a:ext cx="10287000" cy="457200"/>
          </a:xfrm>
          <a:prstGeom prst="rect">
            <a:avLst/>
          </a:prstGeom>
          <a:noFill/>
          <a:ln w="0">
            <a:noFill/>
            <a:prstDash val="solid"/>
          </a:ln>
        </p:spPr>
        <p:txBody>
          <a:bodyPr anchor="t"/>
          <a:lstStyle/>
          <a:p>
            <a:pPr algn="l">
              <a:buNone/>
              <a:defRPr sz="1650" b="1" i="0">
                <a:solidFill>
                  <a:srgbClr val="13212A"/>
                </a:solidFill>
              </a:defRPr>
            </a:pPr>
            <a:r>
              <a:rPr sz="1650" b="1" i="0">
                <a:solidFill>
                  <a:srgbClr val="13212A"/>
                </a:solidFill>
              </a:rPr>
              <a:t>Monthly profiling and violation-pair exports support monitoring and targeted follow-up.</a:t>
            </a:r>
          </a:p>
        </p:txBody>
      </p:sp>
    </p:spTree>
    <p:extLst>
      <p:ext uri="{BB962C8B-B14F-4D97-AF65-F5344CB8AC3E}">
        <p14:creationId xmlns:p14="http://schemas.microsoft.com/office/powerpoint/2010/main" val="87296439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5" name="Rettangolo 24">
            <a:extLst>
              <a:ext uri="{FF2B5EF4-FFF2-40B4-BE49-F238E27FC236}">
                <a16:creationId xmlns:a16="http://schemas.microsoft.com/office/drawing/2014/main" id="{9CFA85A3-7CAE-4472-AC03-6E916CF47980}"/>
              </a:ext>
            </a:extLst>
          </p:cNvPr>
          <p:cNvSpPr>
            <a:spLocks noGrp="1"/>
          </p:cNvSpPr>
          <p:nvPr/>
        </p:nvSpPr>
        <p:spPr>
          <a:xfrm>
            <a:off x="609600" y="323850"/>
            <a:ext cx="5905500" cy="228600"/>
          </a:xfrm>
          <a:prstGeom prst="rect">
            <a:avLst/>
          </a:prstGeom>
          <a:noFill/>
          <a:ln w="0">
            <a:noFill/>
            <a:prstDash val="solid"/>
          </a:ln>
        </p:spPr>
        <p:txBody>
          <a:bodyPr anchor="t"/>
          <a:lstStyle/>
          <a:p>
            <a:pPr algn="l">
              <a:buNone/>
              <a:defRPr sz="1125" b="1" i="0">
                <a:solidFill>
                  <a:srgbClr val="167D73"/>
                </a:solidFill>
              </a:defRPr>
            </a:pPr>
            <a:r>
              <a:rPr sz="1125" b="1" i="0">
                <a:solidFill>
                  <a:srgbClr val="167D73"/>
                </a:solidFill>
              </a:rPr>
              <a:t>KDIID · RFD CONSISTENCY PROFILING</a:t>
            </a:r>
          </a:p>
        </p:txBody>
      </p:sp>
      <p:sp>
        <p:nvSpPr>
          <p:cNvPr id="2" name="Rettangolo 1">
            <a:extLst>
              <a:ext uri="{FF2B5EF4-FFF2-40B4-BE49-F238E27FC236}">
                <a16:creationId xmlns:a16="http://schemas.microsoft.com/office/drawing/2014/main" id="{A7CBFF53-F042-467D-BADD-2AAAC974D74D}"/>
              </a:ext>
            </a:extLst>
          </p:cNvPr>
          <p:cNvSpPr>
            <a:spLocks noGrp="1"/>
          </p:cNvSpPr>
          <p:nvPr/>
        </p:nvSpPr>
        <p:spPr>
          <a:xfrm>
            <a:off x="609600" y="647700"/>
            <a:ext cx="10668000" cy="666750"/>
          </a:xfrm>
          <a:prstGeom prst="rect">
            <a:avLst/>
          </a:prstGeom>
          <a:noFill/>
          <a:ln w="0">
            <a:noFill/>
            <a:prstDash val="solid"/>
          </a:ln>
        </p:spPr>
        <p:txBody>
          <a:bodyPr anchor="t"/>
          <a:lstStyle/>
          <a:p>
            <a:pPr algn="l">
              <a:buNone/>
              <a:defRPr sz="3600" b="1" i="0">
                <a:solidFill>
                  <a:srgbClr val="13212A"/>
                </a:solidFill>
              </a:defRPr>
            </a:pPr>
            <a:r>
              <a:rPr sz="3600" b="1" i="0">
                <a:solidFill>
                  <a:srgbClr val="13212A"/>
                </a:solidFill>
              </a:rPr>
              <a:t>The top DiMε rule remains relatively stable</a:t>
            </a:r>
          </a:p>
        </p:txBody>
      </p:sp>
      <p:sp>
        <p:nvSpPr>
          <p:cNvPr id="3" name="Connettore dritto 2">
            <a:extLst>
              <a:ext uri="{FF2B5EF4-FFF2-40B4-BE49-F238E27FC236}">
                <a16:creationId xmlns:a16="http://schemas.microsoft.com/office/drawing/2014/main" id="{2186C702-F64B-4DCA-97E1-4B896BFA0E2C}"/>
              </a:ext>
            </a:extLst>
          </p:cNvPr>
          <p:cNvSpPr>
            <a:spLocks noGrp="1"/>
          </p:cNvSpPr>
          <p:nvPr/>
        </p:nvSpPr>
        <p:spPr>
          <a:xfrm>
            <a:off x="609600" y="1381125"/>
            <a:ext cx="10972800" cy="0"/>
          </a:xfrm>
          <a:prstGeom prst="line">
            <a:avLst/>
          </a:prstGeom>
          <a:noFill/>
          <a:ln w="9525">
            <a:solidFill>
              <a:srgbClr val="CBD7D6"/>
            </a:solidFill>
            <a:prstDash val="solid"/>
          </a:ln>
        </p:spPr>
        <p:txBody>
          <a:bodyPr/>
          <a:lstStyle/>
          <a:p>
            <a:endParaRPr/>
          </a:p>
        </p:txBody>
      </p:sp>
      <p:sp>
        <p:nvSpPr>
          <p:cNvPr id="4" name="Rettangolo 3">
            <a:extLst>
              <a:ext uri="{FF2B5EF4-FFF2-40B4-BE49-F238E27FC236}">
                <a16:creationId xmlns:a16="http://schemas.microsoft.com/office/drawing/2014/main" id="{B550ABAC-6662-4BC0-8FEF-F1AE468AA608}"/>
              </a:ext>
            </a:extLst>
          </p:cNvPr>
          <p:cNvSpPr>
            <a:spLocks noGrp="1"/>
          </p:cNvSpPr>
          <p:nvPr/>
        </p:nvSpPr>
        <p:spPr>
          <a:xfrm>
            <a:off x="11144250" y="6419850"/>
            <a:ext cx="438150" cy="209550"/>
          </a:xfrm>
          <a:prstGeom prst="rect">
            <a:avLst/>
          </a:prstGeom>
          <a:noFill/>
          <a:ln w="0">
            <a:noFill/>
            <a:prstDash val="solid"/>
          </a:ln>
        </p:spPr>
        <p:txBody>
          <a:bodyPr anchor="t"/>
          <a:lstStyle/>
          <a:p>
            <a:pPr algn="r">
              <a:buNone/>
              <a:defRPr sz="1125" b="1" i="0">
                <a:solidFill>
                  <a:srgbClr val="52636D"/>
                </a:solidFill>
              </a:defRPr>
            </a:pPr>
            <a:r>
              <a:rPr sz="1125" b="1" i="0">
                <a:solidFill>
                  <a:srgbClr val="52636D"/>
                </a:solidFill>
              </a:rPr>
              <a:t>16</a:t>
            </a:r>
          </a:p>
        </p:txBody>
      </p:sp>
      <p:sp>
        <p:nvSpPr>
          <p:cNvPr id="5" name="Rettangolo 4">
            <a:extLst>
              <a:ext uri="{FF2B5EF4-FFF2-40B4-BE49-F238E27FC236}">
                <a16:creationId xmlns:a16="http://schemas.microsoft.com/office/drawing/2014/main" id="{B4EAE25C-D8B3-496E-B565-BC4FA9664673}"/>
              </a:ext>
            </a:extLst>
          </p:cNvPr>
          <p:cNvSpPr>
            <a:spLocks noGrp="1"/>
          </p:cNvSpPr>
          <p:nvPr/>
        </p:nvSpPr>
        <p:spPr>
          <a:xfrm>
            <a:off x="742950" y="1781175"/>
            <a:ext cx="4857750" cy="323850"/>
          </a:xfrm>
          <a:prstGeom prst="rect">
            <a:avLst/>
          </a:prstGeom>
          <a:noFill/>
          <a:ln w="0">
            <a:noFill/>
            <a:prstDash val="solid"/>
          </a:ln>
        </p:spPr>
        <p:txBody>
          <a:bodyPr anchor="t"/>
          <a:lstStyle/>
          <a:p>
            <a:pPr algn="l">
              <a:buNone/>
              <a:defRPr sz="1575" b="1" i="0">
                <a:solidFill>
                  <a:srgbClr val="167D73"/>
                </a:solidFill>
              </a:defRPr>
            </a:pPr>
            <a:r>
              <a:rPr sz="1575" b="1" i="0">
                <a:solidFill>
                  <a:srgbClr val="167D73"/>
                </a:solidFill>
              </a:rPr>
              <a:t>BOOTSTRAP · 30 BALANCED RESAMPLES</a:t>
            </a:r>
          </a:p>
        </p:txBody>
      </p:sp>
      <p:sp>
        <p:nvSpPr>
          <p:cNvPr id="6" name="Rettangolo 5">
            <a:extLst>
              <a:ext uri="{FF2B5EF4-FFF2-40B4-BE49-F238E27FC236}">
                <a16:creationId xmlns:a16="http://schemas.microsoft.com/office/drawing/2014/main" id="{16296442-70AC-4C17-9623-57858D8FB761}"/>
              </a:ext>
            </a:extLst>
          </p:cNvPr>
          <p:cNvSpPr>
            <a:spLocks noGrp="1"/>
          </p:cNvSpPr>
          <p:nvPr/>
        </p:nvSpPr>
        <p:spPr>
          <a:xfrm>
            <a:off x="876300" y="2362200"/>
            <a:ext cx="1905000" cy="666750"/>
          </a:xfrm>
          <a:prstGeom prst="rect">
            <a:avLst/>
          </a:prstGeom>
          <a:noFill/>
          <a:ln w="0">
            <a:noFill/>
            <a:prstDash val="solid"/>
          </a:ln>
        </p:spPr>
        <p:txBody>
          <a:bodyPr anchor="t"/>
          <a:lstStyle/>
          <a:p>
            <a:pPr algn="l">
              <a:buNone/>
              <a:defRPr sz="4125" b="1" i="0">
                <a:solidFill>
                  <a:srgbClr val="13212A"/>
                </a:solidFill>
              </a:defRPr>
            </a:pPr>
            <a:r>
              <a:rPr sz="4125" b="1" i="0">
                <a:solidFill>
                  <a:srgbClr val="13212A"/>
                </a:solidFill>
              </a:rPr>
              <a:t>0.930</a:t>
            </a:r>
          </a:p>
        </p:txBody>
      </p:sp>
      <p:sp>
        <p:nvSpPr>
          <p:cNvPr id="7" name="Rettangolo 6">
            <a:extLst>
              <a:ext uri="{FF2B5EF4-FFF2-40B4-BE49-F238E27FC236}">
                <a16:creationId xmlns:a16="http://schemas.microsoft.com/office/drawing/2014/main" id="{3E250435-AF34-489E-BFFD-254BDC0F5B53}"/>
              </a:ext>
            </a:extLst>
          </p:cNvPr>
          <p:cNvSpPr>
            <a:spLocks noGrp="1"/>
          </p:cNvSpPr>
          <p:nvPr/>
        </p:nvSpPr>
        <p:spPr>
          <a:xfrm>
            <a:off x="914400" y="3057525"/>
            <a:ext cx="2095500" cy="285750"/>
          </a:xfrm>
          <a:prstGeom prst="rect">
            <a:avLst/>
          </a:prstGeom>
          <a:noFill/>
          <a:ln w="0">
            <a:noFill/>
            <a:prstDash val="solid"/>
          </a:ln>
        </p:spPr>
        <p:txBody>
          <a:bodyPr anchor="t"/>
          <a:lstStyle/>
          <a:p>
            <a:pPr algn="l">
              <a:buNone/>
              <a:defRPr sz="1350" b="0" i="0">
                <a:solidFill>
                  <a:srgbClr val="52636D"/>
                </a:solidFill>
              </a:defRPr>
            </a:pPr>
            <a:r>
              <a:rPr sz="1350" b="0" i="0">
                <a:solidFill>
                  <a:srgbClr val="52636D"/>
                </a:solidFill>
              </a:rPr>
              <a:t>mean confidence</a:t>
            </a:r>
          </a:p>
        </p:txBody>
      </p:sp>
      <p:sp>
        <p:nvSpPr>
          <p:cNvPr id="8" name="Rettangolo 7">
            <a:extLst>
              <a:ext uri="{FF2B5EF4-FFF2-40B4-BE49-F238E27FC236}">
                <a16:creationId xmlns:a16="http://schemas.microsoft.com/office/drawing/2014/main" id="{42C4334E-1AFE-46E1-A321-54CFA5E3EFE8}"/>
              </a:ext>
            </a:extLst>
          </p:cNvPr>
          <p:cNvSpPr>
            <a:spLocks noGrp="1"/>
          </p:cNvSpPr>
          <p:nvPr/>
        </p:nvSpPr>
        <p:spPr>
          <a:xfrm>
            <a:off x="3219450" y="2362200"/>
            <a:ext cx="1905000" cy="666750"/>
          </a:xfrm>
          <a:prstGeom prst="rect">
            <a:avLst/>
          </a:prstGeom>
          <a:noFill/>
          <a:ln w="0">
            <a:noFill/>
            <a:prstDash val="solid"/>
          </a:ln>
        </p:spPr>
        <p:txBody>
          <a:bodyPr anchor="t"/>
          <a:lstStyle/>
          <a:p>
            <a:pPr algn="l">
              <a:buNone/>
              <a:defRPr sz="4125" b="1" i="0">
                <a:solidFill>
                  <a:srgbClr val="167D73"/>
                </a:solidFill>
              </a:defRPr>
            </a:pPr>
            <a:r>
              <a:rPr sz="4125" b="1" i="0">
                <a:solidFill>
                  <a:srgbClr val="167D73"/>
                </a:solidFill>
              </a:rPr>
              <a:t>1.207</a:t>
            </a:r>
          </a:p>
        </p:txBody>
      </p:sp>
      <p:sp>
        <p:nvSpPr>
          <p:cNvPr id="9" name="Rettangolo 8">
            <a:extLst>
              <a:ext uri="{FF2B5EF4-FFF2-40B4-BE49-F238E27FC236}">
                <a16:creationId xmlns:a16="http://schemas.microsoft.com/office/drawing/2014/main" id="{68D698A8-DB8C-42D8-8655-A38CF4A7DB25}"/>
              </a:ext>
            </a:extLst>
          </p:cNvPr>
          <p:cNvSpPr>
            <a:spLocks noGrp="1"/>
          </p:cNvSpPr>
          <p:nvPr/>
        </p:nvSpPr>
        <p:spPr>
          <a:xfrm>
            <a:off x="3276600" y="3057525"/>
            <a:ext cx="1714500" cy="285750"/>
          </a:xfrm>
          <a:prstGeom prst="rect">
            <a:avLst/>
          </a:prstGeom>
          <a:noFill/>
          <a:ln w="0">
            <a:noFill/>
            <a:prstDash val="solid"/>
          </a:ln>
        </p:spPr>
        <p:txBody>
          <a:bodyPr anchor="t"/>
          <a:lstStyle/>
          <a:p>
            <a:pPr algn="l">
              <a:buNone/>
              <a:defRPr sz="1350" b="0" i="0">
                <a:solidFill>
                  <a:srgbClr val="52636D"/>
                </a:solidFill>
              </a:defRPr>
            </a:pPr>
            <a:r>
              <a:rPr sz="1350" b="0" i="0">
                <a:solidFill>
                  <a:srgbClr val="52636D"/>
                </a:solidFill>
              </a:rPr>
              <a:t>mean lift</a:t>
            </a:r>
          </a:p>
        </p:txBody>
      </p:sp>
      <p:sp>
        <p:nvSpPr>
          <p:cNvPr id="10" name="Rettangolo con angoli arrotondati 9">
            <a:extLst>
              <a:ext uri="{FF2B5EF4-FFF2-40B4-BE49-F238E27FC236}">
                <a16:creationId xmlns:a16="http://schemas.microsoft.com/office/drawing/2014/main" id="{D4E75BAD-83E1-4D39-8282-E65A23DA5827}"/>
              </a:ext>
            </a:extLst>
          </p:cNvPr>
          <p:cNvSpPr>
            <a:spLocks noGrp="1"/>
          </p:cNvSpPr>
          <p:nvPr/>
        </p:nvSpPr>
        <p:spPr>
          <a:xfrm>
            <a:off x="857250" y="3667125"/>
            <a:ext cx="4267200" cy="857250"/>
          </a:xfrm>
          <a:prstGeom prst="roundRect">
            <a:avLst>
              <a:gd name="adj" fmla="val 13333"/>
            </a:avLst>
          </a:prstGeom>
          <a:solidFill>
            <a:srgbClr val="EEF4F3"/>
          </a:solidFill>
          <a:ln w="9525">
            <a:solidFill>
              <a:srgbClr val="CBD7D6"/>
            </a:solidFill>
            <a:prstDash val="solid"/>
          </a:ln>
        </p:spPr>
        <p:txBody>
          <a:bodyPr/>
          <a:lstStyle/>
          <a:p>
            <a:endParaRPr/>
          </a:p>
        </p:txBody>
      </p:sp>
      <p:sp>
        <p:nvSpPr>
          <p:cNvPr id="11" name="Rettangolo 10">
            <a:extLst>
              <a:ext uri="{FF2B5EF4-FFF2-40B4-BE49-F238E27FC236}">
                <a16:creationId xmlns:a16="http://schemas.microsoft.com/office/drawing/2014/main" id="{B4672958-54EB-44A7-A79F-F43D6639B899}"/>
              </a:ext>
            </a:extLst>
          </p:cNvPr>
          <p:cNvSpPr>
            <a:spLocks noGrp="1"/>
          </p:cNvSpPr>
          <p:nvPr/>
        </p:nvSpPr>
        <p:spPr>
          <a:xfrm>
            <a:off x="1066800" y="3829050"/>
            <a:ext cx="3810000" cy="238125"/>
          </a:xfrm>
          <a:prstGeom prst="rect">
            <a:avLst/>
          </a:prstGeom>
          <a:noFill/>
          <a:ln w="0">
            <a:noFill/>
            <a:prstDash val="solid"/>
          </a:ln>
        </p:spPr>
        <p:txBody>
          <a:bodyPr anchor="t"/>
          <a:lstStyle/>
          <a:p>
            <a:pPr algn="ctr">
              <a:buNone/>
              <a:defRPr sz="1350" b="0" i="0">
                <a:solidFill>
                  <a:srgbClr val="52636D"/>
                </a:solidFill>
              </a:defRPr>
            </a:pPr>
            <a:r>
              <a:rPr sz="1350" b="0" i="0">
                <a:solidFill>
                  <a:srgbClr val="52636D"/>
                </a:solidFill>
              </a:rPr>
              <a:t>95% empirical lift interval</a:t>
            </a:r>
          </a:p>
        </p:txBody>
      </p:sp>
      <p:sp>
        <p:nvSpPr>
          <p:cNvPr id="12" name="Rettangolo 11">
            <a:extLst>
              <a:ext uri="{FF2B5EF4-FFF2-40B4-BE49-F238E27FC236}">
                <a16:creationId xmlns:a16="http://schemas.microsoft.com/office/drawing/2014/main" id="{40E8BC67-18D9-4904-A574-39237E344C45}"/>
              </a:ext>
            </a:extLst>
          </p:cNvPr>
          <p:cNvSpPr>
            <a:spLocks noGrp="1"/>
          </p:cNvSpPr>
          <p:nvPr/>
        </p:nvSpPr>
        <p:spPr>
          <a:xfrm>
            <a:off x="1066800" y="4114800"/>
            <a:ext cx="3810000" cy="323850"/>
          </a:xfrm>
          <a:prstGeom prst="rect">
            <a:avLst/>
          </a:prstGeom>
          <a:noFill/>
          <a:ln w="0">
            <a:noFill/>
            <a:prstDash val="solid"/>
          </a:ln>
        </p:spPr>
        <p:txBody>
          <a:bodyPr anchor="t"/>
          <a:lstStyle/>
          <a:p>
            <a:pPr algn="ctr">
              <a:buNone/>
              <a:defRPr sz="2100" b="1" i="0">
                <a:solidFill>
                  <a:srgbClr val="13212A"/>
                </a:solidFill>
              </a:defRPr>
            </a:pPr>
            <a:r>
              <a:rPr sz="2100" b="1" i="0">
                <a:solidFill>
                  <a:srgbClr val="13212A"/>
                </a:solidFill>
              </a:rPr>
              <a:t>[1.171, 1.244]</a:t>
            </a:r>
          </a:p>
        </p:txBody>
      </p:sp>
      <p:sp>
        <p:nvSpPr>
          <p:cNvPr id="13" name="Connettore dritto 12">
            <a:extLst>
              <a:ext uri="{FF2B5EF4-FFF2-40B4-BE49-F238E27FC236}">
                <a16:creationId xmlns:a16="http://schemas.microsoft.com/office/drawing/2014/main" id="{DB995394-0A81-4DD2-87E6-601BBDBCD1FA}"/>
              </a:ext>
            </a:extLst>
          </p:cNvPr>
          <p:cNvSpPr>
            <a:spLocks noGrp="1"/>
          </p:cNvSpPr>
          <p:nvPr/>
        </p:nvSpPr>
        <p:spPr>
          <a:xfrm>
            <a:off x="6048375" y="1752600"/>
            <a:ext cx="0" cy="3333750"/>
          </a:xfrm>
          <a:prstGeom prst="line">
            <a:avLst/>
          </a:prstGeom>
          <a:noFill/>
          <a:ln w="19050">
            <a:solidFill>
              <a:srgbClr val="CBD7D6"/>
            </a:solidFill>
            <a:prstDash val="solid"/>
          </a:ln>
        </p:spPr>
        <p:txBody>
          <a:bodyPr/>
          <a:lstStyle/>
          <a:p>
            <a:endParaRPr/>
          </a:p>
        </p:txBody>
      </p:sp>
      <p:sp>
        <p:nvSpPr>
          <p:cNvPr id="14" name="Rettangolo 13">
            <a:extLst>
              <a:ext uri="{FF2B5EF4-FFF2-40B4-BE49-F238E27FC236}">
                <a16:creationId xmlns:a16="http://schemas.microsoft.com/office/drawing/2014/main" id="{67BFA461-5546-44E5-86F1-40415C0193CA}"/>
              </a:ext>
            </a:extLst>
          </p:cNvPr>
          <p:cNvSpPr>
            <a:spLocks noGrp="1"/>
          </p:cNvSpPr>
          <p:nvPr/>
        </p:nvSpPr>
        <p:spPr>
          <a:xfrm>
            <a:off x="6667500" y="1781175"/>
            <a:ext cx="4762500" cy="323850"/>
          </a:xfrm>
          <a:prstGeom prst="rect">
            <a:avLst/>
          </a:prstGeom>
          <a:noFill/>
          <a:ln w="0">
            <a:noFill/>
            <a:prstDash val="solid"/>
          </a:ln>
        </p:spPr>
        <p:txBody>
          <a:bodyPr anchor="t"/>
          <a:lstStyle/>
          <a:p>
            <a:pPr algn="l">
              <a:buNone/>
              <a:defRPr sz="1575" b="1" i="0">
                <a:solidFill>
                  <a:srgbClr val="167D73"/>
                </a:solidFill>
              </a:defRPr>
            </a:pPr>
            <a:r>
              <a:rPr sz="1575" b="1" i="0">
                <a:solidFill>
                  <a:srgbClr val="167D73"/>
                </a:solidFill>
              </a:rPr>
              <a:t>CHRONOLOGICAL VALIDATION · 75 / 25</a:t>
            </a:r>
          </a:p>
        </p:txBody>
      </p:sp>
      <p:sp>
        <p:nvSpPr>
          <p:cNvPr id="15" name="Rettangolo 14">
            <a:extLst>
              <a:ext uri="{FF2B5EF4-FFF2-40B4-BE49-F238E27FC236}">
                <a16:creationId xmlns:a16="http://schemas.microsoft.com/office/drawing/2014/main" id="{6887EF5A-980E-42EE-A09D-021A5F910745}"/>
              </a:ext>
            </a:extLst>
          </p:cNvPr>
          <p:cNvSpPr>
            <a:spLocks noGrp="1"/>
          </p:cNvSpPr>
          <p:nvPr/>
        </p:nvSpPr>
        <p:spPr>
          <a:xfrm>
            <a:off x="6781800" y="2533650"/>
            <a:ext cx="1428750" cy="285750"/>
          </a:xfrm>
          <a:prstGeom prst="rect">
            <a:avLst/>
          </a:prstGeom>
          <a:noFill/>
          <a:ln w="0">
            <a:noFill/>
            <a:prstDash val="solid"/>
          </a:ln>
        </p:spPr>
        <p:txBody>
          <a:bodyPr anchor="t"/>
          <a:lstStyle/>
          <a:p>
            <a:pPr algn="l">
              <a:buNone/>
              <a:defRPr sz="1350" b="1" i="0">
                <a:solidFill>
                  <a:srgbClr val="52636D"/>
                </a:solidFill>
              </a:defRPr>
            </a:pPr>
            <a:r>
              <a:rPr sz="1350" b="1" i="0">
                <a:solidFill>
                  <a:srgbClr val="52636D"/>
                </a:solidFill>
              </a:rPr>
              <a:t>TRAIN</a:t>
            </a:r>
          </a:p>
        </p:txBody>
      </p:sp>
      <p:sp>
        <p:nvSpPr>
          <p:cNvPr id="16" name="Rettangolo 15">
            <a:extLst>
              <a:ext uri="{FF2B5EF4-FFF2-40B4-BE49-F238E27FC236}">
                <a16:creationId xmlns:a16="http://schemas.microsoft.com/office/drawing/2014/main" id="{903DF3E7-C56A-48E8-96B8-4B3258DF71A0}"/>
              </a:ext>
            </a:extLst>
          </p:cNvPr>
          <p:cNvSpPr>
            <a:spLocks noGrp="1"/>
          </p:cNvSpPr>
          <p:nvPr/>
        </p:nvSpPr>
        <p:spPr>
          <a:xfrm>
            <a:off x="6781800" y="2952750"/>
            <a:ext cx="2286000" cy="285750"/>
          </a:xfrm>
          <a:prstGeom prst="rect">
            <a:avLst/>
          </a:prstGeom>
          <a:noFill/>
          <a:ln w="0">
            <a:noFill/>
            <a:prstDash val="solid"/>
          </a:ln>
        </p:spPr>
        <p:txBody>
          <a:bodyPr anchor="t"/>
          <a:lstStyle/>
          <a:p>
            <a:pPr algn="l">
              <a:buNone/>
              <a:defRPr sz="1500" b="0" i="0">
                <a:solidFill>
                  <a:srgbClr val="13212A"/>
                </a:solidFill>
              </a:defRPr>
            </a:pPr>
            <a:r>
              <a:rPr sz="1500" b="0" i="0">
                <a:solidFill>
                  <a:srgbClr val="13212A"/>
                </a:solidFill>
              </a:rPr>
              <a:t>Mar 2013–Feb 2016</a:t>
            </a:r>
          </a:p>
        </p:txBody>
      </p:sp>
      <p:sp>
        <p:nvSpPr>
          <p:cNvPr id="17" name="Rettangolo 16">
            <a:extLst>
              <a:ext uri="{FF2B5EF4-FFF2-40B4-BE49-F238E27FC236}">
                <a16:creationId xmlns:a16="http://schemas.microsoft.com/office/drawing/2014/main" id="{220091EA-C4BD-45BA-9738-E022A1965BF4}"/>
              </a:ext>
            </a:extLst>
          </p:cNvPr>
          <p:cNvSpPr>
            <a:spLocks noGrp="1"/>
          </p:cNvSpPr>
          <p:nvPr/>
        </p:nvSpPr>
        <p:spPr>
          <a:xfrm>
            <a:off x="6781800" y="3352800"/>
            <a:ext cx="2095500" cy="419100"/>
          </a:xfrm>
          <a:prstGeom prst="rect">
            <a:avLst/>
          </a:prstGeom>
          <a:noFill/>
          <a:ln w="0">
            <a:noFill/>
            <a:prstDash val="solid"/>
          </a:ln>
        </p:spPr>
        <p:txBody>
          <a:bodyPr anchor="t"/>
          <a:lstStyle/>
          <a:p>
            <a:pPr algn="l">
              <a:buNone/>
              <a:defRPr sz="2400" b="1" i="0">
                <a:solidFill>
                  <a:srgbClr val="13212A"/>
                </a:solidFill>
              </a:defRPr>
            </a:pPr>
            <a:r>
              <a:rPr sz="2400" b="1" i="0">
                <a:solidFill>
                  <a:srgbClr val="13212A"/>
                </a:solidFill>
              </a:rPr>
              <a:t>lift 1.161</a:t>
            </a:r>
          </a:p>
        </p:txBody>
      </p:sp>
      <p:sp>
        <p:nvSpPr>
          <p:cNvPr id="18" name="Freccia destra 17">
            <a:extLst>
              <a:ext uri="{FF2B5EF4-FFF2-40B4-BE49-F238E27FC236}">
                <a16:creationId xmlns:a16="http://schemas.microsoft.com/office/drawing/2014/main" id="{D21161CF-8A7A-4327-AFC4-E8EE798951C7}"/>
              </a:ext>
            </a:extLst>
          </p:cNvPr>
          <p:cNvSpPr>
            <a:spLocks noGrp="1"/>
          </p:cNvSpPr>
          <p:nvPr/>
        </p:nvSpPr>
        <p:spPr>
          <a:xfrm>
            <a:off x="8715375" y="3343275"/>
            <a:ext cx="762000" cy="323850"/>
          </a:xfrm>
          <a:prstGeom prst="rightArrow">
            <a:avLst/>
          </a:prstGeom>
          <a:solidFill>
            <a:srgbClr val="D9EFEC"/>
          </a:solidFill>
          <a:ln w="0">
            <a:solidFill>
              <a:srgbClr val="D9EFEC"/>
            </a:solidFill>
            <a:prstDash val="solid"/>
          </a:ln>
        </p:spPr>
        <p:txBody>
          <a:bodyPr/>
          <a:lstStyle/>
          <a:p>
            <a:endParaRPr/>
          </a:p>
        </p:txBody>
      </p:sp>
      <p:sp>
        <p:nvSpPr>
          <p:cNvPr id="19" name="Rettangolo 18">
            <a:extLst>
              <a:ext uri="{FF2B5EF4-FFF2-40B4-BE49-F238E27FC236}">
                <a16:creationId xmlns:a16="http://schemas.microsoft.com/office/drawing/2014/main" id="{85968292-69B5-4800-B0BA-1243FECEE4B3}"/>
              </a:ext>
            </a:extLst>
          </p:cNvPr>
          <p:cNvSpPr>
            <a:spLocks noGrp="1"/>
          </p:cNvSpPr>
          <p:nvPr/>
        </p:nvSpPr>
        <p:spPr>
          <a:xfrm>
            <a:off x="9658350" y="2533650"/>
            <a:ext cx="1428750" cy="285750"/>
          </a:xfrm>
          <a:prstGeom prst="rect">
            <a:avLst/>
          </a:prstGeom>
          <a:noFill/>
          <a:ln w="0">
            <a:noFill/>
            <a:prstDash val="solid"/>
          </a:ln>
        </p:spPr>
        <p:txBody>
          <a:bodyPr anchor="t"/>
          <a:lstStyle/>
          <a:p>
            <a:pPr algn="l">
              <a:buNone/>
              <a:defRPr sz="1350" b="1" i="0">
                <a:solidFill>
                  <a:srgbClr val="52636D"/>
                </a:solidFill>
              </a:defRPr>
            </a:pPr>
            <a:r>
              <a:rPr sz="1350" b="1" i="0">
                <a:solidFill>
                  <a:srgbClr val="52636D"/>
                </a:solidFill>
              </a:rPr>
              <a:t>TEST</a:t>
            </a:r>
          </a:p>
        </p:txBody>
      </p:sp>
      <p:sp>
        <p:nvSpPr>
          <p:cNvPr id="20" name="Rettangolo 19">
            <a:extLst>
              <a:ext uri="{FF2B5EF4-FFF2-40B4-BE49-F238E27FC236}">
                <a16:creationId xmlns:a16="http://schemas.microsoft.com/office/drawing/2014/main" id="{4E8BAC9E-E1D0-4F3F-9F85-F3FEFF417C22}"/>
              </a:ext>
            </a:extLst>
          </p:cNvPr>
          <p:cNvSpPr>
            <a:spLocks noGrp="1"/>
          </p:cNvSpPr>
          <p:nvPr/>
        </p:nvSpPr>
        <p:spPr>
          <a:xfrm>
            <a:off x="9372600" y="2952750"/>
            <a:ext cx="2286000" cy="285750"/>
          </a:xfrm>
          <a:prstGeom prst="rect">
            <a:avLst/>
          </a:prstGeom>
          <a:noFill/>
          <a:ln w="0">
            <a:noFill/>
            <a:prstDash val="solid"/>
          </a:ln>
        </p:spPr>
        <p:txBody>
          <a:bodyPr anchor="t"/>
          <a:lstStyle/>
          <a:p>
            <a:pPr algn="ctr">
              <a:buNone/>
              <a:defRPr sz="1500" b="0" i="0">
                <a:solidFill>
                  <a:srgbClr val="13212A"/>
                </a:solidFill>
              </a:defRPr>
            </a:pPr>
            <a:r>
              <a:rPr sz="1500" b="0" i="0">
                <a:solidFill>
                  <a:srgbClr val="13212A"/>
                </a:solidFill>
              </a:rPr>
              <a:t>Mar 2016–Feb 2017</a:t>
            </a:r>
          </a:p>
        </p:txBody>
      </p:sp>
      <p:sp>
        <p:nvSpPr>
          <p:cNvPr id="21" name="Rettangolo 20">
            <a:extLst>
              <a:ext uri="{FF2B5EF4-FFF2-40B4-BE49-F238E27FC236}">
                <a16:creationId xmlns:a16="http://schemas.microsoft.com/office/drawing/2014/main" id="{281C4528-0ABE-4749-AEE6-0DB3F7E44974}"/>
              </a:ext>
            </a:extLst>
          </p:cNvPr>
          <p:cNvSpPr>
            <a:spLocks noGrp="1"/>
          </p:cNvSpPr>
          <p:nvPr/>
        </p:nvSpPr>
        <p:spPr>
          <a:xfrm>
            <a:off x="9563100" y="3352800"/>
            <a:ext cx="1905000" cy="419100"/>
          </a:xfrm>
          <a:prstGeom prst="rect">
            <a:avLst/>
          </a:prstGeom>
          <a:noFill/>
          <a:ln w="0">
            <a:noFill/>
            <a:prstDash val="solid"/>
          </a:ln>
        </p:spPr>
        <p:txBody>
          <a:bodyPr anchor="t"/>
          <a:lstStyle/>
          <a:p>
            <a:pPr algn="ctr">
              <a:buNone/>
              <a:defRPr sz="2400" b="1" i="0">
                <a:solidFill>
                  <a:srgbClr val="167D73"/>
                </a:solidFill>
              </a:defRPr>
            </a:pPr>
            <a:r>
              <a:rPr sz="2400" b="1" i="0">
                <a:solidFill>
                  <a:srgbClr val="167D73"/>
                </a:solidFill>
              </a:rPr>
              <a:t>lift 1.178</a:t>
            </a:r>
          </a:p>
        </p:txBody>
      </p:sp>
      <p:sp>
        <p:nvSpPr>
          <p:cNvPr id="22" name="Rettangolo 21">
            <a:extLst>
              <a:ext uri="{FF2B5EF4-FFF2-40B4-BE49-F238E27FC236}">
                <a16:creationId xmlns:a16="http://schemas.microsoft.com/office/drawing/2014/main" id="{AD2EFB50-A39A-4BBE-B64F-E65F9A8BDEC4}"/>
              </a:ext>
            </a:extLst>
          </p:cNvPr>
          <p:cNvSpPr>
            <a:spLocks noGrp="1"/>
          </p:cNvSpPr>
          <p:nvPr/>
        </p:nvSpPr>
        <p:spPr>
          <a:xfrm>
            <a:off x="7000875" y="4191000"/>
            <a:ext cx="4286250" cy="428625"/>
          </a:xfrm>
          <a:prstGeom prst="rect">
            <a:avLst/>
          </a:prstGeom>
          <a:noFill/>
          <a:ln w="0">
            <a:noFill/>
            <a:prstDash val="solid"/>
          </a:ln>
        </p:spPr>
        <p:txBody>
          <a:bodyPr anchor="t"/>
          <a:lstStyle/>
          <a:p>
            <a:pPr algn="ctr">
              <a:buNone/>
              <a:defRPr sz="1575" b="0" i="0">
                <a:solidFill>
                  <a:srgbClr val="52636D"/>
                </a:solidFill>
              </a:defRPr>
            </a:pPr>
            <a:r>
              <a:rPr sz="1575" b="0" i="0">
                <a:solidFill>
                  <a:srgbClr val="52636D"/>
                </a:solidFill>
              </a:rPr>
              <a:t>Confidence rises from 0.888 to 0.937.</a:t>
            </a:r>
          </a:p>
        </p:txBody>
      </p:sp>
      <p:sp>
        <p:nvSpPr>
          <p:cNvPr id="23" name="Rettangolo 22">
            <a:extLst>
              <a:ext uri="{FF2B5EF4-FFF2-40B4-BE49-F238E27FC236}">
                <a16:creationId xmlns:a16="http://schemas.microsoft.com/office/drawing/2014/main" id="{97F44741-6CC6-4286-846E-EB22A785ACB2}"/>
              </a:ext>
            </a:extLst>
          </p:cNvPr>
          <p:cNvSpPr>
            <a:spLocks noGrp="1"/>
          </p:cNvSpPr>
          <p:nvPr/>
        </p:nvSpPr>
        <p:spPr>
          <a:xfrm>
            <a:off x="609600" y="5953125"/>
            <a:ext cx="57150" cy="400050"/>
          </a:xfrm>
          <a:prstGeom prst="rect">
            <a:avLst/>
          </a:prstGeom>
          <a:solidFill>
            <a:srgbClr val="167D73"/>
          </a:solidFill>
          <a:ln w="0">
            <a:solidFill>
              <a:srgbClr val="167D73"/>
            </a:solidFill>
            <a:prstDash val="solid"/>
          </a:ln>
        </p:spPr>
        <p:txBody>
          <a:bodyPr/>
          <a:lstStyle/>
          <a:p>
            <a:endParaRPr/>
          </a:p>
        </p:txBody>
      </p:sp>
      <p:sp>
        <p:nvSpPr>
          <p:cNvPr id="24" name="Rettangolo 23">
            <a:extLst>
              <a:ext uri="{FF2B5EF4-FFF2-40B4-BE49-F238E27FC236}">
                <a16:creationId xmlns:a16="http://schemas.microsoft.com/office/drawing/2014/main" id="{28891C35-3B5A-41A1-ADE4-4040145DEACB}"/>
              </a:ext>
            </a:extLst>
          </p:cNvPr>
          <p:cNvSpPr>
            <a:spLocks noGrp="1"/>
          </p:cNvSpPr>
          <p:nvPr/>
        </p:nvSpPr>
        <p:spPr>
          <a:xfrm>
            <a:off x="800100" y="5943600"/>
            <a:ext cx="10287000" cy="457200"/>
          </a:xfrm>
          <a:prstGeom prst="rect">
            <a:avLst/>
          </a:prstGeom>
          <a:noFill/>
          <a:ln w="0">
            <a:noFill/>
            <a:prstDash val="solid"/>
          </a:ln>
        </p:spPr>
        <p:txBody>
          <a:bodyPr anchor="t"/>
          <a:lstStyle/>
          <a:p>
            <a:pPr algn="l">
              <a:buNone/>
              <a:defRPr sz="1650" b="1" i="0">
                <a:solidFill>
                  <a:srgbClr val="13212A"/>
                </a:solidFill>
              </a:defRPr>
            </a:pPr>
            <a:r>
              <a:rPr sz="1650" b="1" i="0">
                <a:solidFill>
                  <a:srgbClr val="13212A"/>
                </a:solidFill>
              </a:rPr>
              <a:t>Bootstrap and the held-out year keep lift above 1 for the top DiMε rule.</a:t>
            </a:r>
          </a:p>
        </p:txBody>
      </p:sp>
    </p:spTree>
    <p:extLst>
      <p:ext uri="{BB962C8B-B14F-4D97-AF65-F5344CB8AC3E}">
        <p14:creationId xmlns:p14="http://schemas.microsoft.com/office/powerpoint/2010/main" val="184397929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6" name="Rettangolo 5">
            <a:extLst>
              <a:ext uri="{FF2B5EF4-FFF2-40B4-BE49-F238E27FC236}">
                <a16:creationId xmlns:a16="http://schemas.microsoft.com/office/drawing/2014/main" id="{7812E51B-E986-4866-9459-7794B5E4C060}"/>
              </a:ext>
            </a:extLst>
          </p:cNvPr>
          <p:cNvSpPr>
            <a:spLocks noGrp="1"/>
          </p:cNvSpPr>
          <p:nvPr/>
        </p:nvSpPr>
        <p:spPr>
          <a:xfrm>
            <a:off x="609600" y="323850"/>
            <a:ext cx="5905500" cy="228600"/>
          </a:xfrm>
          <a:prstGeom prst="rect">
            <a:avLst/>
          </a:prstGeom>
          <a:noFill/>
          <a:ln w="0">
            <a:noFill/>
            <a:prstDash val="solid"/>
          </a:ln>
        </p:spPr>
        <p:txBody>
          <a:bodyPr anchor="t"/>
          <a:lstStyle/>
          <a:p>
            <a:pPr algn="l">
              <a:buNone/>
              <a:defRPr sz="1125" b="1" i="0">
                <a:solidFill>
                  <a:srgbClr val="167D73"/>
                </a:solidFill>
              </a:defRPr>
            </a:pPr>
            <a:r>
              <a:rPr sz="1125" b="1" i="0">
                <a:solidFill>
                  <a:srgbClr val="167D73"/>
                </a:solidFill>
              </a:rPr>
              <a:t>KDIID · RFD CONSISTENCY PROFILING</a:t>
            </a:r>
          </a:p>
        </p:txBody>
      </p:sp>
      <p:sp>
        <p:nvSpPr>
          <p:cNvPr id="2" name="Rettangolo 1">
            <a:extLst>
              <a:ext uri="{FF2B5EF4-FFF2-40B4-BE49-F238E27FC236}">
                <a16:creationId xmlns:a16="http://schemas.microsoft.com/office/drawing/2014/main" id="{4190446A-9FC8-4730-BF1F-7C7EBA199277}"/>
              </a:ext>
            </a:extLst>
          </p:cNvPr>
          <p:cNvSpPr>
            <a:spLocks noGrp="1"/>
          </p:cNvSpPr>
          <p:nvPr/>
        </p:nvSpPr>
        <p:spPr>
          <a:xfrm>
            <a:off x="609600" y="647700"/>
            <a:ext cx="10668000" cy="666750"/>
          </a:xfrm>
          <a:prstGeom prst="rect">
            <a:avLst/>
          </a:prstGeom>
          <a:noFill/>
          <a:ln w="0">
            <a:noFill/>
            <a:prstDash val="solid"/>
          </a:ln>
        </p:spPr>
        <p:txBody>
          <a:bodyPr anchor="t"/>
          <a:lstStyle/>
          <a:p>
            <a:pPr algn="l">
              <a:buNone/>
              <a:defRPr sz="3600" b="1" i="0">
                <a:solidFill>
                  <a:srgbClr val="13212A"/>
                </a:solidFill>
              </a:defRPr>
            </a:pPr>
            <a:r>
              <a:rPr sz="3600" b="1" i="0">
                <a:solidFill>
                  <a:srgbClr val="13212A"/>
                </a:solidFill>
              </a:rPr>
              <a:t>Continuous profiling exposes changing regimes</a:t>
            </a:r>
          </a:p>
        </p:txBody>
      </p:sp>
      <p:sp>
        <p:nvSpPr>
          <p:cNvPr id="3" name="Connettore dritto 2">
            <a:extLst>
              <a:ext uri="{FF2B5EF4-FFF2-40B4-BE49-F238E27FC236}">
                <a16:creationId xmlns:a16="http://schemas.microsoft.com/office/drawing/2014/main" id="{C15F6DEE-EDEA-4BDB-BB01-FD7AFB0C8284}"/>
              </a:ext>
            </a:extLst>
          </p:cNvPr>
          <p:cNvSpPr>
            <a:spLocks noGrp="1"/>
          </p:cNvSpPr>
          <p:nvPr/>
        </p:nvSpPr>
        <p:spPr>
          <a:xfrm>
            <a:off x="609600" y="1381125"/>
            <a:ext cx="10972800" cy="0"/>
          </a:xfrm>
          <a:prstGeom prst="line">
            <a:avLst/>
          </a:prstGeom>
          <a:noFill/>
          <a:ln w="9525">
            <a:solidFill>
              <a:srgbClr val="CBD7D6"/>
            </a:solidFill>
            <a:prstDash val="solid"/>
          </a:ln>
        </p:spPr>
        <p:txBody>
          <a:bodyPr/>
          <a:lstStyle/>
          <a:p>
            <a:endParaRPr/>
          </a:p>
        </p:txBody>
      </p:sp>
      <p:sp>
        <p:nvSpPr>
          <p:cNvPr id="4" name="Rettangolo 3">
            <a:extLst>
              <a:ext uri="{FF2B5EF4-FFF2-40B4-BE49-F238E27FC236}">
                <a16:creationId xmlns:a16="http://schemas.microsoft.com/office/drawing/2014/main" id="{B15AFCF5-0007-4B01-AD22-74D274A8E2C4}"/>
              </a:ext>
            </a:extLst>
          </p:cNvPr>
          <p:cNvSpPr>
            <a:spLocks noGrp="1"/>
          </p:cNvSpPr>
          <p:nvPr/>
        </p:nvSpPr>
        <p:spPr>
          <a:xfrm>
            <a:off x="11144250" y="6419850"/>
            <a:ext cx="438150" cy="209550"/>
          </a:xfrm>
          <a:prstGeom prst="rect">
            <a:avLst/>
          </a:prstGeom>
          <a:noFill/>
          <a:ln w="0">
            <a:noFill/>
            <a:prstDash val="solid"/>
          </a:ln>
        </p:spPr>
        <p:txBody>
          <a:bodyPr anchor="t"/>
          <a:lstStyle/>
          <a:p>
            <a:pPr algn="r">
              <a:buNone/>
              <a:defRPr sz="1125" b="1" i="0">
                <a:solidFill>
                  <a:srgbClr val="52636D"/>
                </a:solidFill>
              </a:defRPr>
            </a:pPr>
            <a:r>
              <a:rPr sz="1125" b="1" i="0">
                <a:solidFill>
                  <a:srgbClr val="52636D"/>
                </a:solidFill>
              </a:rPr>
              <a:t>17</a:t>
            </a:r>
          </a:p>
        </p:txBody>
      </p:sp>
      <p:sp>
        <p:nvSpPr>
          <p:cNvPr id="5" name="Rettangolo con angoli arrotondati 4">
            <a:extLst>
              <a:ext uri="{FF2B5EF4-FFF2-40B4-BE49-F238E27FC236}">
                <a16:creationId xmlns:a16="http://schemas.microsoft.com/office/drawing/2014/main" id="{A36DC27E-31B3-436E-88EC-052E208F89AC}"/>
              </a:ext>
            </a:extLst>
          </p:cNvPr>
          <p:cNvSpPr>
            <a:spLocks noGrp="1"/>
          </p:cNvSpPr>
          <p:nvPr/>
        </p:nvSpPr>
        <p:spPr>
          <a:xfrm>
            <a:off x="590550" y="1600200"/>
            <a:ext cx="7953375" cy="4057650"/>
          </a:xfrm>
          <a:prstGeom prst="roundRect">
            <a:avLst>
              <a:gd name="adj" fmla="val 2817"/>
            </a:avLst>
          </a:prstGeom>
          <a:solidFill>
            <a:srgbClr val="F7F9F8"/>
          </a:solidFill>
          <a:ln w="9525">
            <a:solidFill>
              <a:srgbClr val="CBD7D6"/>
            </a:solidFill>
            <a:prstDash val="solid"/>
          </a:ln>
        </p:spPr>
        <p:txBody>
          <a:bodyPr/>
          <a:lstStyle/>
          <a:p>
            <a:endParaRPr/>
          </a:p>
        </p:txBody>
      </p:sp>
      <p:pic>
        <p:nvPicPr>
          <p:cNvPr id="23" name="Immagine 22"/>
          <p:cNvPicPr>
            <a:picLocks noChangeAspect="1"/>
          </p:cNvPicPr>
          <p:nvPr/>
        </p:nvPicPr>
        <p:blipFill>
          <a:blip r:embed="rId3"/>
          <a:srcRect/>
          <a:stretch>
            <a:fillRect/>
          </a:stretch>
        </p:blipFill>
        <p:spPr>
          <a:xfrm>
            <a:off x="1293488" y="1752600"/>
            <a:ext cx="6566548" cy="3752850"/>
          </a:xfrm>
          <a:prstGeom prst="rect">
            <a:avLst/>
          </a:prstGeom>
        </p:spPr>
      </p:pic>
      <p:sp>
        <p:nvSpPr>
          <p:cNvPr id="7" name="Rettangolo 6">
            <a:extLst>
              <a:ext uri="{FF2B5EF4-FFF2-40B4-BE49-F238E27FC236}">
                <a16:creationId xmlns:a16="http://schemas.microsoft.com/office/drawing/2014/main" id="{320E6E80-A9E5-4CE3-B611-08BE148C9238}"/>
              </a:ext>
            </a:extLst>
          </p:cNvPr>
          <p:cNvSpPr>
            <a:spLocks noGrp="1"/>
          </p:cNvSpPr>
          <p:nvPr/>
        </p:nvSpPr>
        <p:spPr>
          <a:xfrm>
            <a:off x="9239250" y="2209800"/>
            <a:ext cx="1619250" cy="666750"/>
          </a:xfrm>
          <a:prstGeom prst="rect">
            <a:avLst/>
          </a:prstGeom>
          <a:noFill/>
          <a:ln w="0">
            <a:noFill/>
            <a:prstDash val="solid"/>
          </a:ln>
        </p:spPr>
        <p:txBody>
          <a:bodyPr anchor="t"/>
          <a:lstStyle/>
          <a:p>
            <a:pPr algn="ctr">
              <a:buNone/>
              <a:defRPr sz="4650" b="1" i="0">
                <a:solidFill>
                  <a:srgbClr val="167D73"/>
                </a:solidFill>
              </a:defRPr>
            </a:pPr>
            <a:r>
              <a:rPr sz="4650" b="1" i="0">
                <a:solidFill>
                  <a:srgbClr val="167D73"/>
                </a:solidFill>
              </a:rPr>
              <a:t>49</a:t>
            </a:r>
          </a:p>
        </p:txBody>
      </p:sp>
      <p:sp>
        <p:nvSpPr>
          <p:cNvPr id="8" name="Rettangolo 7">
            <a:extLst>
              <a:ext uri="{FF2B5EF4-FFF2-40B4-BE49-F238E27FC236}">
                <a16:creationId xmlns:a16="http://schemas.microsoft.com/office/drawing/2014/main" id="{41D571D6-ACD8-4F3C-9F7E-FE83AA344CF7}"/>
              </a:ext>
            </a:extLst>
          </p:cNvPr>
          <p:cNvSpPr>
            <a:spLocks noGrp="1"/>
          </p:cNvSpPr>
          <p:nvPr/>
        </p:nvSpPr>
        <p:spPr>
          <a:xfrm>
            <a:off x="9048750" y="2943225"/>
            <a:ext cx="2000250" cy="323850"/>
          </a:xfrm>
          <a:prstGeom prst="rect">
            <a:avLst/>
          </a:prstGeom>
          <a:noFill/>
          <a:ln w="0">
            <a:noFill/>
            <a:prstDash val="solid"/>
          </a:ln>
        </p:spPr>
        <p:txBody>
          <a:bodyPr anchor="t"/>
          <a:lstStyle/>
          <a:p>
            <a:pPr algn="ctr">
              <a:buNone/>
              <a:defRPr sz="1500" b="1" i="0">
                <a:solidFill>
                  <a:srgbClr val="13212A"/>
                </a:solidFill>
              </a:defRPr>
            </a:pPr>
            <a:r>
              <a:rPr sz="1500" b="1" i="0">
                <a:solidFill>
                  <a:srgbClr val="13212A"/>
                </a:solidFill>
              </a:rPr>
              <a:t>monthly windows</a:t>
            </a:r>
          </a:p>
        </p:txBody>
      </p:sp>
      <p:sp>
        <p:nvSpPr>
          <p:cNvPr id="9" name="Ovale 8">
            <a:extLst>
              <a:ext uri="{FF2B5EF4-FFF2-40B4-BE49-F238E27FC236}">
                <a16:creationId xmlns:a16="http://schemas.microsoft.com/office/drawing/2014/main" id="{79799582-F3E5-405B-9BD7-4E62745C3F88}"/>
              </a:ext>
            </a:extLst>
          </p:cNvPr>
          <p:cNvSpPr>
            <a:spLocks noGrp="1"/>
          </p:cNvSpPr>
          <p:nvPr/>
        </p:nvSpPr>
        <p:spPr>
          <a:xfrm>
            <a:off x="8858250" y="3686175"/>
            <a:ext cx="95250" cy="95250"/>
          </a:xfrm>
          <a:prstGeom prst="ellipse">
            <a:avLst/>
          </a:prstGeom>
          <a:solidFill>
            <a:srgbClr val="167D73"/>
          </a:solidFill>
          <a:ln w="0">
            <a:solidFill>
              <a:srgbClr val="167D73"/>
            </a:solidFill>
            <a:prstDash val="solid"/>
          </a:ln>
        </p:spPr>
        <p:txBody>
          <a:bodyPr/>
          <a:lstStyle/>
          <a:p>
            <a:endParaRPr/>
          </a:p>
        </p:txBody>
      </p:sp>
      <p:sp>
        <p:nvSpPr>
          <p:cNvPr id="10" name="Rettangolo 9">
            <a:extLst>
              <a:ext uri="{FF2B5EF4-FFF2-40B4-BE49-F238E27FC236}">
                <a16:creationId xmlns:a16="http://schemas.microsoft.com/office/drawing/2014/main" id="{BC3546AF-C348-4165-AA09-32946B847870}"/>
              </a:ext>
            </a:extLst>
          </p:cNvPr>
          <p:cNvSpPr>
            <a:spLocks noGrp="1"/>
          </p:cNvSpPr>
          <p:nvPr/>
        </p:nvSpPr>
        <p:spPr>
          <a:xfrm>
            <a:off x="9086850" y="3600450"/>
            <a:ext cx="2343150" cy="523875"/>
          </a:xfrm>
          <a:prstGeom prst="rect">
            <a:avLst/>
          </a:prstGeom>
          <a:noFill/>
          <a:ln w="0">
            <a:noFill/>
            <a:prstDash val="solid"/>
          </a:ln>
        </p:spPr>
        <p:txBody>
          <a:bodyPr anchor="t"/>
          <a:lstStyle/>
          <a:p>
            <a:pPr algn="l">
              <a:buNone/>
              <a:defRPr sz="1350" b="0" i="0">
                <a:solidFill>
                  <a:srgbClr val="13212A"/>
                </a:solidFill>
              </a:defRPr>
            </a:pPr>
            <a:r>
              <a:rPr sz="1350" b="0" i="0">
                <a:solidFill>
                  <a:srgbClr val="13212A"/>
                </a:solidFill>
              </a:rPr>
              <a:t>confidence varies over time</a:t>
            </a:r>
          </a:p>
        </p:txBody>
      </p:sp>
      <p:sp>
        <p:nvSpPr>
          <p:cNvPr id="11" name="Ovale 10">
            <a:extLst>
              <a:ext uri="{FF2B5EF4-FFF2-40B4-BE49-F238E27FC236}">
                <a16:creationId xmlns:a16="http://schemas.microsoft.com/office/drawing/2014/main" id="{BA95DB6A-C16D-4613-A020-0CF3CB8379BB}"/>
              </a:ext>
            </a:extLst>
          </p:cNvPr>
          <p:cNvSpPr>
            <a:spLocks noGrp="1"/>
          </p:cNvSpPr>
          <p:nvPr/>
        </p:nvSpPr>
        <p:spPr>
          <a:xfrm>
            <a:off x="8858250" y="4238625"/>
            <a:ext cx="95250" cy="95250"/>
          </a:xfrm>
          <a:prstGeom prst="ellipse">
            <a:avLst/>
          </a:prstGeom>
          <a:solidFill>
            <a:srgbClr val="167D73"/>
          </a:solidFill>
          <a:ln w="0">
            <a:solidFill>
              <a:srgbClr val="167D73"/>
            </a:solidFill>
            <a:prstDash val="solid"/>
          </a:ln>
        </p:spPr>
        <p:txBody>
          <a:bodyPr/>
          <a:lstStyle/>
          <a:p>
            <a:endParaRPr/>
          </a:p>
        </p:txBody>
      </p:sp>
      <p:sp>
        <p:nvSpPr>
          <p:cNvPr id="12" name="Rettangolo 11">
            <a:extLst>
              <a:ext uri="{FF2B5EF4-FFF2-40B4-BE49-F238E27FC236}">
                <a16:creationId xmlns:a16="http://schemas.microsoft.com/office/drawing/2014/main" id="{55688143-F5FF-4B13-9D8E-8C8F70231E58}"/>
              </a:ext>
            </a:extLst>
          </p:cNvPr>
          <p:cNvSpPr>
            <a:spLocks noGrp="1"/>
          </p:cNvSpPr>
          <p:nvPr/>
        </p:nvSpPr>
        <p:spPr>
          <a:xfrm>
            <a:off x="9086850" y="4152900"/>
            <a:ext cx="2343150" cy="523875"/>
          </a:xfrm>
          <a:prstGeom prst="rect">
            <a:avLst/>
          </a:prstGeom>
          <a:noFill/>
          <a:ln w="0">
            <a:noFill/>
            <a:prstDash val="solid"/>
          </a:ln>
        </p:spPr>
        <p:txBody>
          <a:bodyPr anchor="t"/>
          <a:lstStyle/>
          <a:p>
            <a:pPr algn="l">
              <a:buNone/>
              <a:defRPr sz="1350" b="0" i="0">
                <a:solidFill>
                  <a:srgbClr val="13212A"/>
                </a:solidFill>
              </a:defRPr>
            </a:pPr>
            <a:r>
              <a:rPr sz="1350" b="0" i="0">
                <a:solidFill>
                  <a:srgbClr val="13212A"/>
                </a:solidFill>
              </a:rPr>
              <a:t>support changes with comparability</a:t>
            </a:r>
          </a:p>
        </p:txBody>
      </p:sp>
      <p:sp>
        <p:nvSpPr>
          <p:cNvPr id="13" name="Ovale 12">
            <a:extLst>
              <a:ext uri="{FF2B5EF4-FFF2-40B4-BE49-F238E27FC236}">
                <a16:creationId xmlns:a16="http://schemas.microsoft.com/office/drawing/2014/main" id="{6E11F23B-C2D3-4B1E-9F96-D29CC0124F5E}"/>
              </a:ext>
            </a:extLst>
          </p:cNvPr>
          <p:cNvSpPr>
            <a:spLocks noGrp="1"/>
          </p:cNvSpPr>
          <p:nvPr/>
        </p:nvSpPr>
        <p:spPr>
          <a:xfrm>
            <a:off x="8858250" y="4791075"/>
            <a:ext cx="95250" cy="95250"/>
          </a:xfrm>
          <a:prstGeom prst="ellipse">
            <a:avLst/>
          </a:prstGeom>
          <a:solidFill>
            <a:srgbClr val="167D73"/>
          </a:solidFill>
          <a:ln w="0">
            <a:solidFill>
              <a:srgbClr val="167D73"/>
            </a:solidFill>
            <a:prstDash val="solid"/>
          </a:ln>
        </p:spPr>
        <p:txBody>
          <a:bodyPr/>
          <a:lstStyle/>
          <a:p>
            <a:endParaRPr/>
          </a:p>
        </p:txBody>
      </p:sp>
      <p:sp>
        <p:nvSpPr>
          <p:cNvPr id="14" name="Rettangolo 13">
            <a:extLst>
              <a:ext uri="{FF2B5EF4-FFF2-40B4-BE49-F238E27FC236}">
                <a16:creationId xmlns:a16="http://schemas.microsoft.com/office/drawing/2014/main" id="{B874DE25-E111-496E-9E58-C49ABA896834}"/>
              </a:ext>
            </a:extLst>
          </p:cNvPr>
          <p:cNvSpPr>
            <a:spLocks noGrp="1"/>
          </p:cNvSpPr>
          <p:nvPr/>
        </p:nvSpPr>
        <p:spPr>
          <a:xfrm>
            <a:off x="9086850" y="4705350"/>
            <a:ext cx="2343150" cy="523875"/>
          </a:xfrm>
          <a:prstGeom prst="rect">
            <a:avLst/>
          </a:prstGeom>
          <a:noFill/>
          <a:ln w="0">
            <a:noFill/>
            <a:prstDash val="solid"/>
          </a:ln>
        </p:spPr>
        <p:txBody>
          <a:bodyPr anchor="t"/>
          <a:lstStyle/>
          <a:p>
            <a:pPr algn="l">
              <a:buNone/>
              <a:defRPr sz="1350" b="0" i="0">
                <a:solidFill>
                  <a:srgbClr val="13212A"/>
                </a:solidFill>
              </a:defRPr>
            </a:pPr>
            <a:r>
              <a:rPr sz="1350" b="0" i="0">
                <a:solidFill>
                  <a:srgbClr val="13212A"/>
                </a:solidFill>
              </a:rPr>
              <a:t>pair counts affect reliability</a:t>
            </a:r>
          </a:p>
        </p:txBody>
      </p:sp>
      <p:sp>
        <p:nvSpPr>
          <p:cNvPr id="15" name="Rettangolo 14">
            <a:extLst>
              <a:ext uri="{FF2B5EF4-FFF2-40B4-BE49-F238E27FC236}">
                <a16:creationId xmlns:a16="http://schemas.microsoft.com/office/drawing/2014/main" id="{E7E9F8B6-5D1B-4F94-96D7-F6209E5DD48C}"/>
              </a:ext>
            </a:extLst>
          </p:cNvPr>
          <p:cNvSpPr>
            <a:spLocks noGrp="1"/>
          </p:cNvSpPr>
          <p:nvPr/>
        </p:nvSpPr>
        <p:spPr>
          <a:xfrm>
            <a:off x="609600" y="5953125"/>
            <a:ext cx="57150" cy="400050"/>
          </a:xfrm>
          <a:prstGeom prst="rect">
            <a:avLst/>
          </a:prstGeom>
          <a:solidFill>
            <a:srgbClr val="167D73"/>
          </a:solidFill>
          <a:ln w="0">
            <a:solidFill>
              <a:srgbClr val="167D73"/>
            </a:solidFill>
            <a:prstDash val="solid"/>
          </a:ln>
        </p:spPr>
        <p:txBody>
          <a:bodyPr/>
          <a:lstStyle/>
          <a:p>
            <a:endParaRPr/>
          </a:p>
        </p:txBody>
      </p:sp>
      <p:sp>
        <p:nvSpPr>
          <p:cNvPr id="16" name="Rettangolo 15">
            <a:extLst>
              <a:ext uri="{FF2B5EF4-FFF2-40B4-BE49-F238E27FC236}">
                <a16:creationId xmlns:a16="http://schemas.microsoft.com/office/drawing/2014/main" id="{1E800961-7BC0-417D-98C4-759C3E0C6352}"/>
              </a:ext>
            </a:extLst>
          </p:cNvPr>
          <p:cNvSpPr>
            <a:spLocks noGrp="1"/>
          </p:cNvSpPr>
          <p:nvPr/>
        </p:nvSpPr>
        <p:spPr>
          <a:xfrm>
            <a:off x="800100" y="5943600"/>
            <a:ext cx="10287000" cy="457200"/>
          </a:xfrm>
          <a:prstGeom prst="rect">
            <a:avLst/>
          </a:prstGeom>
          <a:noFill/>
          <a:ln w="0">
            <a:noFill/>
            <a:prstDash val="solid"/>
          </a:ln>
        </p:spPr>
        <p:txBody>
          <a:bodyPr anchor="t"/>
          <a:lstStyle/>
          <a:p>
            <a:pPr algn="l">
              <a:buNone/>
              <a:defRPr sz="1650" b="1" i="0">
                <a:solidFill>
                  <a:srgbClr val="13212A"/>
                </a:solidFill>
              </a:defRPr>
            </a:pPr>
            <a:r>
              <a:rPr sz="1650" b="1" i="0">
                <a:solidFill>
                  <a:srgbClr val="13212A"/>
                </a:solidFill>
              </a:rPr>
              <a:t>Monthly metrics are recalculated only for RFDs discovered by DiMε.</a:t>
            </a:r>
          </a:p>
        </p:txBody>
      </p:sp>
    </p:spTree>
    <p:extLst>
      <p:ext uri="{BB962C8B-B14F-4D97-AF65-F5344CB8AC3E}">
        <p14:creationId xmlns:p14="http://schemas.microsoft.com/office/powerpoint/2010/main" val="56768331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7" name="Rettangolo 6">
            <a:extLst>
              <a:ext uri="{FF2B5EF4-FFF2-40B4-BE49-F238E27FC236}">
                <a16:creationId xmlns:a16="http://schemas.microsoft.com/office/drawing/2014/main" id="{4F5371C2-EA07-4525-A325-143FFB334C43}"/>
              </a:ext>
            </a:extLst>
          </p:cNvPr>
          <p:cNvSpPr>
            <a:spLocks noGrp="1"/>
          </p:cNvSpPr>
          <p:nvPr/>
        </p:nvSpPr>
        <p:spPr>
          <a:xfrm>
            <a:off x="609600" y="323850"/>
            <a:ext cx="5905500" cy="228600"/>
          </a:xfrm>
          <a:prstGeom prst="rect">
            <a:avLst/>
          </a:prstGeom>
          <a:noFill/>
          <a:ln w="0">
            <a:noFill/>
            <a:prstDash val="solid"/>
          </a:ln>
        </p:spPr>
        <p:txBody>
          <a:bodyPr anchor="t"/>
          <a:lstStyle/>
          <a:p>
            <a:pPr algn="l">
              <a:buNone/>
              <a:defRPr sz="1125" b="1" i="0">
                <a:solidFill>
                  <a:srgbClr val="167D73"/>
                </a:solidFill>
              </a:defRPr>
            </a:pPr>
            <a:r>
              <a:rPr sz="1125" b="1" i="0">
                <a:solidFill>
                  <a:srgbClr val="167D73"/>
                </a:solidFill>
              </a:rPr>
              <a:t>KDIID · RFD CONSISTENCY PROFILING</a:t>
            </a:r>
          </a:p>
        </p:txBody>
      </p:sp>
      <p:sp>
        <p:nvSpPr>
          <p:cNvPr id="2" name="Rettangolo 1">
            <a:extLst>
              <a:ext uri="{FF2B5EF4-FFF2-40B4-BE49-F238E27FC236}">
                <a16:creationId xmlns:a16="http://schemas.microsoft.com/office/drawing/2014/main" id="{FAA1265A-52A8-44EA-959A-DD27E5896D46}"/>
              </a:ext>
            </a:extLst>
          </p:cNvPr>
          <p:cNvSpPr>
            <a:spLocks noGrp="1"/>
          </p:cNvSpPr>
          <p:nvPr/>
        </p:nvSpPr>
        <p:spPr>
          <a:xfrm>
            <a:off x="609600" y="647700"/>
            <a:ext cx="10668000" cy="666750"/>
          </a:xfrm>
          <a:prstGeom prst="rect">
            <a:avLst/>
          </a:prstGeom>
          <a:noFill/>
          <a:ln w="0">
            <a:noFill/>
            <a:prstDash val="solid"/>
          </a:ln>
        </p:spPr>
        <p:txBody>
          <a:bodyPr anchor="t"/>
          <a:lstStyle/>
          <a:p>
            <a:pPr algn="l">
              <a:buNone/>
              <a:defRPr sz="3600" b="1" i="0">
                <a:solidFill>
                  <a:srgbClr val="13212A"/>
                </a:solidFill>
              </a:defRPr>
            </a:pPr>
            <a:r>
              <a:rPr sz="3600" b="1" i="0">
                <a:solidFill>
                  <a:srgbClr val="13212A"/>
                </a:solidFill>
              </a:rPr>
              <a:t>Violations as investigation targets</a:t>
            </a:r>
          </a:p>
        </p:txBody>
      </p:sp>
      <p:sp>
        <p:nvSpPr>
          <p:cNvPr id="3" name="Connettore dritto 2">
            <a:extLst>
              <a:ext uri="{FF2B5EF4-FFF2-40B4-BE49-F238E27FC236}">
                <a16:creationId xmlns:a16="http://schemas.microsoft.com/office/drawing/2014/main" id="{E307CE8D-CF94-428B-BA69-CD5E65910B40}"/>
              </a:ext>
            </a:extLst>
          </p:cNvPr>
          <p:cNvSpPr>
            <a:spLocks noGrp="1"/>
          </p:cNvSpPr>
          <p:nvPr/>
        </p:nvSpPr>
        <p:spPr>
          <a:xfrm>
            <a:off x="609600" y="1381125"/>
            <a:ext cx="10972800" cy="0"/>
          </a:xfrm>
          <a:prstGeom prst="line">
            <a:avLst/>
          </a:prstGeom>
          <a:noFill/>
          <a:ln w="9525">
            <a:solidFill>
              <a:srgbClr val="CBD7D6"/>
            </a:solidFill>
            <a:prstDash val="solid"/>
          </a:ln>
        </p:spPr>
        <p:txBody>
          <a:bodyPr/>
          <a:lstStyle/>
          <a:p>
            <a:endParaRPr/>
          </a:p>
        </p:txBody>
      </p:sp>
      <p:sp>
        <p:nvSpPr>
          <p:cNvPr id="4" name="Rettangolo 3">
            <a:extLst>
              <a:ext uri="{FF2B5EF4-FFF2-40B4-BE49-F238E27FC236}">
                <a16:creationId xmlns:a16="http://schemas.microsoft.com/office/drawing/2014/main" id="{50972BA8-F841-4FB5-8E02-CA418DE1D552}"/>
              </a:ext>
            </a:extLst>
          </p:cNvPr>
          <p:cNvSpPr>
            <a:spLocks noGrp="1"/>
          </p:cNvSpPr>
          <p:nvPr/>
        </p:nvSpPr>
        <p:spPr>
          <a:xfrm>
            <a:off x="11144250" y="6419850"/>
            <a:ext cx="438150" cy="209550"/>
          </a:xfrm>
          <a:prstGeom prst="rect">
            <a:avLst/>
          </a:prstGeom>
          <a:noFill/>
          <a:ln w="0">
            <a:noFill/>
            <a:prstDash val="solid"/>
          </a:ln>
        </p:spPr>
        <p:txBody>
          <a:bodyPr anchor="t"/>
          <a:lstStyle/>
          <a:p>
            <a:pPr algn="r">
              <a:buNone/>
              <a:defRPr sz="1125" b="1" i="0">
                <a:solidFill>
                  <a:srgbClr val="52636D"/>
                </a:solidFill>
              </a:defRPr>
            </a:pPr>
            <a:r>
              <a:rPr sz="1125" b="1" i="0">
                <a:solidFill>
                  <a:srgbClr val="52636D"/>
                </a:solidFill>
              </a:rPr>
              <a:t>18</a:t>
            </a:r>
          </a:p>
        </p:txBody>
      </p:sp>
      <p:sp>
        <p:nvSpPr>
          <p:cNvPr id="5" name="Rettangolo con angoli arrotondati 4">
            <a:extLst>
              <a:ext uri="{FF2B5EF4-FFF2-40B4-BE49-F238E27FC236}">
                <a16:creationId xmlns:a16="http://schemas.microsoft.com/office/drawing/2014/main" id="{81C17523-D089-4B81-AB9B-AC1A7C33CC51}"/>
              </a:ext>
            </a:extLst>
          </p:cNvPr>
          <p:cNvSpPr>
            <a:spLocks noGrp="1"/>
          </p:cNvSpPr>
          <p:nvPr/>
        </p:nvSpPr>
        <p:spPr>
          <a:xfrm>
            <a:off x="590550" y="1619250"/>
            <a:ext cx="6762750" cy="4000500"/>
          </a:xfrm>
          <a:prstGeom prst="roundRect">
            <a:avLst>
              <a:gd name="adj" fmla="val 2857"/>
            </a:avLst>
          </a:prstGeom>
          <a:solidFill>
            <a:srgbClr val="F7F9F8"/>
          </a:solidFill>
          <a:ln w="9525">
            <a:solidFill>
              <a:srgbClr val="CBD7D6"/>
            </a:solidFill>
            <a:prstDash val="solid"/>
          </a:ln>
        </p:spPr>
        <p:txBody>
          <a:bodyPr/>
          <a:lstStyle/>
          <a:p>
            <a:endParaRPr/>
          </a:p>
        </p:txBody>
      </p:sp>
      <p:sp>
        <p:nvSpPr>
          <p:cNvPr id="6" name="Rettangolo 5">
            <a:extLst>
              <a:ext uri="{FF2B5EF4-FFF2-40B4-BE49-F238E27FC236}">
                <a16:creationId xmlns:a16="http://schemas.microsoft.com/office/drawing/2014/main" id="{11941FE0-C059-4110-92E5-CC769696D6D5}"/>
              </a:ext>
            </a:extLst>
          </p:cNvPr>
          <p:cNvSpPr>
            <a:spLocks noGrp="1"/>
          </p:cNvSpPr>
          <p:nvPr/>
        </p:nvSpPr>
        <p:spPr>
          <a:xfrm>
            <a:off x="838200" y="1752600"/>
            <a:ext cx="6191250" cy="266700"/>
          </a:xfrm>
          <a:prstGeom prst="rect">
            <a:avLst/>
          </a:prstGeom>
          <a:noFill/>
          <a:ln w="0">
            <a:noFill/>
            <a:prstDash val="solid"/>
          </a:ln>
        </p:spPr>
        <p:txBody>
          <a:bodyPr anchor="t"/>
          <a:lstStyle/>
          <a:p>
            <a:pPr algn="ctr">
              <a:buNone/>
              <a:defRPr sz="1350" b="1" i="0">
                <a:solidFill>
                  <a:srgbClr val="52636D"/>
                </a:solidFill>
              </a:defRPr>
            </a:pPr>
            <a:r>
              <a:rPr sz="1350" b="1" i="0">
                <a:solidFill>
                  <a:srgbClr val="52636D"/>
                </a:solidFill>
              </a:rPr>
              <a:t>Top 2 DiMε RFDs · 200 strongest pairs each</a:t>
            </a:r>
          </a:p>
        </p:txBody>
      </p:sp>
      <p:graphicFrame>
        <p:nvGraphicFramePr>
          <p:cNvPr id="29" name="Chart"/>
          <p:cNvGraphicFramePr/>
          <p:nvPr/>
        </p:nvGraphicFramePr>
        <p:xfrm>
          <a:off x="781050" y="2076450"/>
          <a:ext cx="6381750" cy="3276600"/>
        </p:xfrm>
        <a:graphic>
          <a:graphicData uri="http://schemas.openxmlformats.org/drawingml/2006/chart">
            <c:chart xmlns:c="http://schemas.openxmlformats.org/drawingml/2006/chart" xmlns:r="http://schemas.openxmlformats.org/officeDocument/2006/relationships" r:id="rId3"/>
          </a:graphicData>
        </a:graphic>
      </p:graphicFrame>
      <p:sp>
        <p:nvSpPr>
          <p:cNvPr id="8" name="Rettangolo 7">
            <a:extLst>
              <a:ext uri="{FF2B5EF4-FFF2-40B4-BE49-F238E27FC236}">
                <a16:creationId xmlns:a16="http://schemas.microsoft.com/office/drawing/2014/main" id="{96958EE5-89A3-47B2-AD3D-0E40EACA399F}"/>
              </a:ext>
            </a:extLst>
          </p:cNvPr>
          <p:cNvSpPr>
            <a:spLocks noGrp="1"/>
          </p:cNvSpPr>
          <p:nvPr/>
        </p:nvSpPr>
        <p:spPr>
          <a:xfrm>
            <a:off x="7953375" y="1828800"/>
            <a:ext cx="3238500" cy="361950"/>
          </a:xfrm>
          <a:prstGeom prst="rect">
            <a:avLst/>
          </a:prstGeom>
          <a:noFill/>
          <a:ln w="0">
            <a:noFill/>
            <a:prstDash val="solid"/>
          </a:ln>
        </p:spPr>
        <p:txBody>
          <a:bodyPr anchor="t"/>
          <a:lstStyle/>
          <a:p>
            <a:pPr algn="l">
              <a:buNone/>
              <a:defRPr sz="1950" b="1" i="0">
                <a:solidFill>
                  <a:srgbClr val="167D73"/>
                </a:solidFill>
              </a:defRPr>
            </a:pPr>
            <a:r>
              <a:rPr sz="1950" b="1" i="0">
                <a:solidFill>
                  <a:srgbClr val="167D73"/>
                </a:solidFill>
              </a:rPr>
              <a:t>A violation may reflect:</a:t>
            </a:r>
          </a:p>
        </p:txBody>
      </p:sp>
      <p:sp>
        <p:nvSpPr>
          <p:cNvPr id="9" name="Ovale 8">
            <a:extLst>
              <a:ext uri="{FF2B5EF4-FFF2-40B4-BE49-F238E27FC236}">
                <a16:creationId xmlns:a16="http://schemas.microsoft.com/office/drawing/2014/main" id="{12707D99-E200-461F-B92A-36234478DB70}"/>
              </a:ext>
            </a:extLst>
          </p:cNvPr>
          <p:cNvSpPr>
            <a:spLocks noGrp="1"/>
          </p:cNvSpPr>
          <p:nvPr/>
        </p:nvSpPr>
        <p:spPr>
          <a:xfrm>
            <a:off x="8001000" y="2543175"/>
            <a:ext cx="95250" cy="95250"/>
          </a:xfrm>
          <a:prstGeom prst="ellipse">
            <a:avLst/>
          </a:prstGeom>
          <a:solidFill>
            <a:srgbClr val="167D73"/>
          </a:solidFill>
          <a:ln w="0">
            <a:solidFill>
              <a:srgbClr val="167D73"/>
            </a:solidFill>
            <a:prstDash val="solid"/>
          </a:ln>
        </p:spPr>
        <p:txBody>
          <a:bodyPr/>
          <a:lstStyle/>
          <a:p>
            <a:endParaRPr/>
          </a:p>
        </p:txBody>
      </p:sp>
      <p:sp>
        <p:nvSpPr>
          <p:cNvPr id="10" name="Rettangolo 9">
            <a:extLst>
              <a:ext uri="{FF2B5EF4-FFF2-40B4-BE49-F238E27FC236}">
                <a16:creationId xmlns:a16="http://schemas.microsoft.com/office/drawing/2014/main" id="{488A761B-5D3C-4B19-99D3-855F96D9258D}"/>
              </a:ext>
            </a:extLst>
          </p:cNvPr>
          <p:cNvSpPr>
            <a:spLocks noGrp="1"/>
          </p:cNvSpPr>
          <p:nvPr/>
        </p:nvSpPr>
        <p:spPr>
          <a:xfrm>
            <a:off x="8229600" y="2457450"/>
            <a:ext cx="3057525" cy="485775"/>
          </a:xfrm>
          <a:prstGeom prst="rect">
            <a:avLst/>
          </a:prstGeom>
          <a:noFill/>
          <a:ln w="0">
            <a:noFill/>
            <a:prstDash val="solid"/>
          </a:ln>
        </p:spPr>
        <p:txBody>
          <a:bodyPr anchor="t"/>
          <a:lstStyle/>
          <a:p>
            <a:pPr algn="l">
              <a:buNone/>
              <a:defRPr sz="1500" b="0" i="0">
                <a:solidFill>
                  <a:srgbClr val="13212A"/>
                </a:solidFill>
              </a:defRPr>
            </a:pPr>
            <a:r>
              <a:rPr sz="1500" b="0" i="0">
                <a:solidFill>
                  <a:srgbClr val="13212A"/>
                </a:solidFill>
              </a:rPr>
              <a:t>local site heterogeneity</a:t>
            </a:r>
          </a:p>
        </p:txBody>
      </p:sp>
      <p:sp>
        <p:nvSpPr>
          <p:cNvPr id="11" name="Ovale 10">
            <a:extLst>
              <a:ext uri="{FF2B5EF4-FFF2-40B4-BE49-F238E27FC236}">
                <a16:creationId xmlns:a16="http://schemas.microsoft.com/office/drawing/2014/main" id="{0EC74554-E635-4FC0-B25B-1CA0D34B560F}"/>
              </a:ext>
            </a:extLst>
          </p:cNvPr>
          <p:cNvSpPr>
            <a:spLocks noGrp="1"/>
          </p:cNvSpPr>
          <p:nvPr/>
        </p:nvSpPr>
        <p:spPr>
          <a:xfrm>
            <a:off x="8001000" y="3057525"/>
            <a:ext cx="95250" cy="95250"/>
          </a:xfrm>
          <a:prstGeom prst="ellipse">
            <a:avLst/>
          </a:prstGeom>
          <a:solidFill>
            <a:srgbClr val="167D73"/>
          </a:solidFill>
          <a:ln w="0">
            <a:solidFill>
              <a:srgbClr val="167D73"/>
            </a:solidFill>
            <a:prstDash val="solid"/>
          </a:ln>
        </p:spPr>
        <p:txBody>
          <a:bodyPr/>
          <a:lstStyle/>
          <a:p>
            <a:endParaRPr/>
          </a:p>
        </p:txBody>
      </p:sp>
      <p:sp>
        <p:nvSpPr>
          <p:cNvPr id="12" name="Rettangolo 11">
            <a:extLst>
              <a:ext uri="{FF2B5EF4-FFF2-40B4-BE49-F238E27FC236}">
                <a16:creationId xmlns:a16="http://schemas.microsoft.com/office/drawing/2014/main" id="{9FAA1246-F1C6-4F6B-BA27-30755CF1204C}"/>
              </a:ext>
            </a:extLst>
          </p:cNvPr>
          <p:cNvSpPr>
            <a:spLocks noGrp="1"/>
          </p:cNvSpPr>
          <p:nvPr/>
        </p:nvSpPr>
        <p:spPr>
          <a:xfrm>
            <a:off x="8229600" y="2971800"/>
            <a:ext cx="3057525" cy="485775"/>
          </a:xfrm>
          <a:prstGeom prst="rect">
            <a:avLst/>
          </a:prstGeom>
          <a:noFill/>
          <a:ln w="0">
            <a:noFill/>
            <a:prstDash val="solid"/>
          </a:ln>
        </p:spPr>
        <p:txBody>
          <a:bodyPr anchor="t"/>
          <a:lstStyle/>
          <a:p>
            <a:pPr algn="l">
              <a:buNone/>
              <a:defRPr sz="1500" b="0" i="0">
                <a:solidFill>
                  <a:srgbClr val="13212A"/>
                </a:solidFill>
              </a:defRPr>
            </a:pPr>
            <a:r>
              <a:rPr sz="1500" b="0" i="0">
                <a:solidFill>
                  <a:srgbClr val="13212A"/>
                </a:solidFill>
              </a:rPr>
              <a:t>unobserved local conditions</a:t>
            </a:r>
          </a:p>
        </p:txBody>
      </p:sp>
      <p:sp>
        <p:nvSpPr>
          <p:cNvPr id="13" name="Ovale 12">
            <a:extLst>
              <a:ext uri="{FF2B5EF4-FFF2-40B4-BE49-F238E27FC236}">
                <a16:creationId xmlns:a16="http://schemas.microsoft.com/office/drawing/2014/main" id="{C9BC99DA-C8D7-4173-B5E3-24F0B055EA2C}"/>
              </a:ext>
            </a:extLst>
          </p:cNvPr>
          <p:cNvSpPr>
            <a:spLocks noGrp="1"/>
          </p:cNvSpPr>
          <p:nvPr/>
        </p:nvSpPr>
        <p:spPr>
          <a:xfrm>
            <a:off x="8001000" y="3571875"/>
            <a:ext cx="95250" cy="95250"/>
          </a:xfrm>
          <a:prstGeom prst="ellipse">
            <a:avLst/>
          </a:prstGeom>
          <a:solidFill>
            <a:srgbClr val="167D73"/>
          </a:solidFill>
          <a:ln w="0">
            <a:solidFill>
              <a:srgbClr val="167D73"/>
            </a:solidFill>
            <a:prstDash val="solid"/>
          </a:ln>
        </p:spPr>
        <p:txBody>
          <a:bodyPr/>
          <a:lstStyle/>
          <a:p>
            <a:endParaRPr/>
          </a:p>
        </p:txBody>
      </p:sp>
      <p:sp>
        <p:nvSpPr>
          <p:cNvPr id="14" name="Rettangolo 13">
            <a:extLst>
              <a:ext uri="{FF2B5EF4-FFF2-40B4-BE49-F238E27FC236}">
                <a16:creationId xmlns:a16="http://schemas.microsoft.com/office/drawing/2014/main" id="{38E144E2-CF6E-4BD5-A442-D87F2CFEDD17}"/>
              </a:ext>
            </a:extLst>
          </p:cNvPr>
          <p:cNvSpPr>
            <a:spLocks noGrp="1"/>
          </p:cNvSpPr>
          <p:nvPr/>
        </p:nvSpPr>
        <p:spPr>
          <a:xfrm>
            <a:off x="8229600" y="3486150"/>
            <a:ext cx="3057525" cy="485775"/>
          </a:xfrm>
          <a:prstGeom prst="rect">
            <a:avLst/>
          </a:prstGeom>
          <a:noFill/>
          <a:ln w="0">
            <a:noFill/>
            <a:prstDash val="solid"/>
          </a:ln>
        </p:spPr>
        <p:txBody>
          <a:bodyPr anchor="t"/>
          <a:lstStyle/>
          <a:p>
            <a:pPr algn="l">
              <a:buNone/>
              <a:defRPr sz="1500" b="0" i="0">
                <a:solidFill>
                  <a:srgbClr val="13212A"/>
                </a:solidFill>
              </a:defRPr>
            </a:pPr>
            <a:r>
              <a:rPr sz="1500" b="0" i="0">
                <a:solidFill>
                  <a:srgbClr val="13212A"/>
                </a:solidFill>
              </a:rPr>
              <a:t>meteorology outside the rule</a:t>
            </a:r>
          </a:p>
        </p:txBody>
      </p:sp>
      <p:sp>
        <p:nvSpPr>
          <p:cNvPr id="15" name="Ovale 14">
            <a:extLst>
              <a:ext uri="{FF2B5EF4-FFF2-40B4-BE49-F238E27FC236}">
                <a16:creationId xmlns:a16="http://schemas.microsoft.com/office/drawing/2014/main" id="{5257F689-13F8-4324-9104-034C19A43BED}"/>
              </a:ext>
            </a:extLst>
          </p:cNvPr>
          <p:cNvSpPr>
            <a:spLocks noGrp="1"/>
          </p:cNvSpPr>
          <p:nvPr/>
        </p:nvSpPr>
        <p:spPr>
          <a:xfrm>
            <a:off x="8001000" y="4086225"/>
            <a:ext cx="95250" cy="95250"/>
          </a:xfrm>
          <a:prstGeom prst="ellipse">
            <a:avLst/>
          </a:prstGeom>
          <a:solidFill>
            <a:srgbClr val="167D73"/>
          </a:solidFill>
          <a:ln w="0">
            <a:solidFill>
              <a:srgbClr val="167D73"/>
            </a:solidFill>
            <a:prstDash val="solid"/>
          </a:ln>
        </p:spPr>
        <p:txBody>
          <a:bodyPr/>
          <a:lstStyle/>
          <a:p>
            <a:endParaRPr/>
          </a:p>
        </p:txBody>
      </p:sp>
      <p:sp>
        <p:nvSpPr>
          <p:cNvPr id="16" name="Rettangolo 15">
            <a:extLst>
              <a:ext uri="{FF2B5EF4-FFF2-40B4-BE49-F238E27FC236}">
                <a16:creationId xmlns:a16="http://schemas.microsoft.com/office/drawing/2014/main" id="{AE4B306D-E93C-4100-A29D-DCABD8FF30A5}"/>
              </a:ext>
            </a:extLst>
          </p:cNvPr>
          <p:cNvSpPr>
            <a:spLocks noGrp="1"/>
          </p:cNvSpPr>
          <p:nvPr/>
        </p:nvSpPr>
        <p:spPr>
          <a:xfrm>
            <a:off x="8229600" y="4000500"/>
            <a:ext cx="3057525" cy="485775"/>
          </a:xfrm>
          <a:prstGeom prst="rect">
            <a:avLst/>
          </a:prstGeom>
          <a:noFill/>
          <a:ln w="0">
            <a:noFill/>
            <a:prstDash val="solid"/>
          </a:ln>
        </p:spPr>
        <p:txBody>
          <a:bodyPr anchor="t"/>
          <a:lstStyle/>
          <a:p>
            <a:pPr algn="l">
              <a:buNone/>
              <a:defRPr sz="1500" b="0" i="0">
                <a:solidFill>
                  <a:srgbClr val="13212A"/>
                </a:solidFill>
              </a:defRPr>
            </a:pPr>
            <a:r>
              <a:rPr sz="1500" b="0" i="0">
                <a:solidFill>
                  <a:srgbClr val="13212A"/>
                </a:solidFill>
              </a:rPr>
              <a:t>weekly aggregation effects</a:t>
            </a:r>
          </a:p>
        </p:txBody>
      </p:sp>
      <p:sp>
        <p:nvSpPr>
          <p:cNvPr id="17" name="Ovale 16">
            <a:extLst>
              <a:ext uri="{FF2B5EF4-FFF2-40B4-BE49-F238E27FC236}">
                <a16:creationId xmlns:a16="http://schemas.microsoft.com/office/drawing/2014/main" id="{CC878664-5351-44DD-940C-BA9C1B71C54A}"/>
              </a:ext>
            </a:extLst>
          </p:cNvPr>
          <p:cNvSpPr>
            <a:spLocks noGrp="1"/>
          </p:cNvSpPr>
          <p:nvPr/>
        </p:nvSpPr>
        <p:spPr>
          <a:xfrm>
            <a:off x="8001000" y="4600575"/>
            <a:ext cx="95250" cy="95250"/>
          </a:xfrm>
          <a:prstGeom prst="ellipse">
            <a:avLst/>
          </a:prstGeom>
          <a:solidFill>
            <a:srgbClr val="167D73"/>
          </a:solidFill>
          <a:ln w="0">
            <a:solidFill>
              <a:srgbClr val="167D73"/>
            </a:solidFill>
            <a:prstDash val="solid"/>
          </a:ln>
        </p:spPr>
        <p:txBody>
          <a:bodyPr/>
          <a:lstStyle/>
          <a:p>
            <a:endParaRPr/>
          </a:p>
        </p:txBody>
      </p:sp>
      <p:sp>
        <p:nvSpPr>
          <p:cNvPr id="18" name="Rettangolo 17">
            <a:extLst>
              <a:ext uri="{FF2B5EF4-FFF2-40B4-BE49-F238E27FC236}">
                <a16:creationId xmlns:a16="http://schemas.microsoft.com/office/drawing/2014/main" id="{44076FE9-47D3-4E78-9505-592F7956FDAA}"/>
              </a:ext>
            </a:extLst>
          </p:cNvPr>
          <p:cNvSpPr>
            <a:spLocks noGrp="1"/>
          </p:cNvSpPr>
          <p:nvPr/>
        </p:nvSpPr>
        <p:spPr>
          <a:xfrm>
            <a:off x="8229600" y="4514850"/>
            <a:ext cx="3057525" cy="485775"/>
          </a:xfrm>
          <a:prstGeom prst="rect">
            <a:avLst/>
          </a:prstGeom>
          <a:noFill/>
          <a:ln w="0">
            <a:noFill/>
            <a:prstDash val="solid"/>
          </a:ln>
        </p:spPr>
        <p:txBody>
          <a:bodyPr anchor="t"/>
          <a:lstStyle/>
          <a:p>
            <a:pPr algn="l">
              <a:buNone/>
              <a:defRPr sz="1500" b="0" i="0">
                <a:solidFill>
                  <a:srgbClr val="13212A"/>
                </a:solidFill>
              </a:defRPr>
            </a:pPr>
            <a:r>
              <a:rPr sz="1500" b="0" i="0">
                <a:solidFill>
                  <a:srgbClr val="13212A"/>
                </a:solidFill>
              </a:rPr>
              <a:t>measurement or data-quality issues</a:t>
            </a:r>
          </a:p>
        </p:txBody>
      </p:sp>
      <p:sp>
        <p:nvSpPr>
          <p:cNvPr id="19" name="Rettangolo 18">
            <a:extLst>
              <a:ext uri="{FF2B5EF4-FFF2-40B4-BE49-F238E27FC236}">
                <a16:creationId xmlns:a16="http://schemas.microsoft.com/office/drawing/2014/main" id="{FCA89C6F-82D1-4C10-B7F7-B5C39CD8512F}"/>
              </a:ext>
            </a:extLst>
          </p:cNvPr>
          <p:cNvSpPr>
            <a:spLocks noGrp="1"/>
          </p:cNvSpPr>
          <p:nvPr/>
        </p:nvSpPr>
        <p:spPr>
          <a:xfrm>
            <a:off x="8001000" y="5048250"/>
            <a:ext cx="3238500" cy="514350"/>
          </a:xfrm>
          <a:prstGeom prst="rect">
            <a:avLst/>
          </a:prstGeom>
          <a:noFill/>
          <a:ln w="0">
            <a:noFill/>
            <a:prstDash val="solid"/>
          </a:ln>
        </p:spPr>
        <p:txBody>
          <a:bodyPr anchor="t"/>
          <a:lstStyle/>
          <a:p>
            <a:pPr algn="l">
              <a:buNone/>
              <a:defRPr sz="1425" b="0" i="0">
                <a:solidFill>
                  <a:srgbClr val="52636D"/>
                </a:solidFill>
              </a:defRPr>
            </a:pPr>
            <a:r>
              <a:rPr sz="1425" b="0" i="0">
                <a:solidFill>
                  <a:srgbClr val="52636D"/>
                </a:solidFill>
              </a:rPr>
              <a:t>Top group: Changping · Jan 2016 · afternoon · 9 pairs.</a:t>
            </a:r>
          </a:p>
        </p:txBody>
      </p:sp>
      <p:sp>
        <p:nvSpPr>
          <p:cNvPr id="20" name="Rettangolo 19">
            <a:extLst>
              <a:ext uri="{FF2B5EF4-FFF2-40B4-BE49-F238E27FC236}">
                <a16:creationId xmlns:a16="http://schemas.microsoft.com/office/drawing/2014/main" id="{62C04798-4FB0-445E-B3FA-2ABECABAA3EB}"/>
              </a:ext>
            </a:extLst>
          </p:cNvPr>
          <p:cNvSpPr>
            <a:spLocks noGrp="1"/>
          </p:cNvSpPr>
          <p:nvPr/>
        </p:nvSpPr>
        <p:spPr>
          <a:xfrm>
            <a:off x="609600" y="5953125"/>
            <a:ext cx="57150" cy="400050"/>
          </a:xfrm>
          <a:prstGeom prst="rect">
            <a:avLst/>
          </a:prstGeom>
          <a:solidFill>
            <a:srgbClr val="167D73"/>
          </a:solidFill>
          <a:ln w="0">
            <a:solidFill>
              <a:srgbClr val="167D73"/>
            </a:solidFill>
            <a:prstDash val="solid"/>
          </a:ln>
        </p:spPr>
        <p:txBody>
          <a:bodyPr/>
          <a:lstStyle/>
          <a:p>
            <a:endParaRPr/>
          </a:p>
        </p:txBody>
      </p:sp>
      <p:sp>
        <p:nvSpPr>
          <p:cNvPr id="21" name="Rettangolo 20">
            <a:extLst>
              <a:ext uri="{FF2B5EF4-FFF2-40B4-BE49-F238E27FC236}">
                <a16:creationId xmlns:a16="http://schemas.microsoft.com/office/drawing/2014/main" id="{1097B58E-C89D-4EFE-AF8B-48EB09834DCF}"/>
              </a:ext>
            </a:extLst>
          </p:cNvPr>
          <p:cNvSpPr>
            <a:spLocks noGrp="1"/>
          </p:cNvSpPr>
          <p:nvPr/>
        </p:nvSpPr>
        <p:spPr>
          <a:xfrm>
            <a:off x="800100" y="5943600"/>
            <a:ext cx="10287000" cy="457200"/>
          </a:xfrm>
          <a:prstGeom prst="rect">
            <a:avLst/>
          </a:prstGeom>
          <a:noFill/>
          <a:ln w="0">
            <a:noFill/>
            <a:prstDash val="solid"/>
          </a:ln>
        </p:spPr>
        <p:txBody>
          <a:bodyPr anchor="t"/>
          <a:lstStyle/>
          <a:p>
            <a:pPr algn="l">
              <a:buNone/>
              <a:defRPr sz="1650" b="1" i="0">
                <a:solidFill>
                  <a:srgbClr val="13212A"/>
                </a:solidFill>
              </a:defRPr>
            </a:pPr>
            <a:r>
              <a:rPr sz="1650" b="1" i="0">
                <a:solidFill>
                  <a:srgbClr val="13212A"/>
                </a:solidFill>
              </a:rPr>
              <a:t>The value of violations lies in targeted follow-up, not automatic labeling.</a:t>
            </a:r>
          </a:p>
        </p:txBody>
      </p:sp>
    </p:spTree>
    <p:extLst>
      <p:ext uri="{BB962C8B-B14F-4D97-AF65-F5344CB8AC3E}">
        <p14:creationId xmlns:p14="http://schemas.microsoft.com/office/powerpoint/2010/main" val="6548438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8" name="Rettangolo 17">
            <a:extLst>
              <a:ext uri="{FF2B5EF4-FFF2-40B4-BE49-F238E27FC236}">
                <a16:creationId xmlns:a16="http://schemas.microsoft.com/office/drawing/2014/main" id="{04C42152-0628-4861-88BD-4BB3E2B478D4}"/>
              </a:ext>
            </a:extLst>
          </p:cNvPr>
          <p:cNvSpPr>
            <a:spLocks noGrp="1"/>
          </p:cNvSpPr>
          <p:nvPr/>
        </p:nvSpPr>
        <p:spPr>
          <a:xfrm>
            <a:off x="609600" y="323850"/>
            <a:ext cx="5905500" cy="228600"/>
          </a:xfrm>
          <a:prstGeom prst="rect">
            <a:avLst/>
          </a:prstGeom>
          <a:noFill/>
          <a:ln w="0">
            <a:noFill/>
            <a:prstDash val="solid"/>
          </a:ln>
        </p:spPr>
        <p:txBody>
          <a:bodyPr anchor="t"/>
          <a:lstStyle/>
          <a:p>
            <a:pPr algn="l">
              <a:buNone/>
              <a:defRPr sz="1125" b="1" i="0">
                <a:solidFill>
                  <a:srgbClr val="167D73"/>
                </a:solidFill>
              </a:defRPr>
            </a:pPr>
            <a:r>
              <a:rPr sz="1125" b="1" i="0">
                <a:solidFill>
                  <a:srgbClr val="167D73"/>
                </a:solidFill>
              </a:rPr>
              <a:t>KDIID · RFD CONSISTENCY PROFILING</a:t>
            </a:r>
          </a:p>
        </p:txBody>
      </p:sp>
      <p:sp>
        <p:nvSpPr>
          <p:cNvPr id="2" name="Rettangolo 1">
            <a:extLst>
              <a:ext uri="{FF2B5EF4-FFF2-40B4-BE49-F238E27FC236}">
                <a16:creationId xmlns:a16="http://schemas.microsoft.com/office/drawing/2014/main" id="{555EC5DC-299F-436C-AE83-F62B0347D846}"/>
              </a:ext>
            </a:extLst>
          </p:cNvPr>
          <p:cNvSpPr>
            <a:spLocks noGrp="1"/>
          </p:cNvSpPr>
          <p:nvPr/>
        </p:nvSpPr>
        <p:spPr>
          <a:xfrm>
            <a:off x="609600" y="647700"/>
            <a:ext cx="10668000" cy="666750"/>
          </a:xfrm>
          <a:prstGeom prst="rect">
            <a:avLst/>
          </a:prstGeom>
          <a:noFill/>
          <a:ln w="0">
            <a:noFill/>
            <a:prstDash val="solid"/>
          </a:ln>
        </p:spPr>
        <p:txBody>
          <a:bodyPr anchor="t"/>
          <a:lstStyle/>
          <a:p>
            <a:pPr algn="l">
              <a:buNone/>
              <a:defRPr sz="3600" b="1" i="0">
                <a:solidFill>
                  <a:srgbClr val="13212A"/>
                </a:solidFill>
              </a:defRPr>
            </a:pPr>
            <a:r>
              <a:rPr sz="3600" b="1" i="0">
                <a:solidFill>
                  <a:srgbClr val="13212A"/>
                </a:solidFill>
              </a:rPr>
              <a:t>What the workflow contributes</a:t>
            </a:r>
          </a:p>
        </p:txBody>
      </p:sp>
      <p:sp>
        <p:nvSpPr>
          <p:cNvPr id="3" name="Connettore dritto 2">
            <a:extLst>
              <a:ext uri="{FF2B5EF4-FFF2-40B4-BE49-F238E27FC236}">
                <a16:creationId xmlns:a16="http://schemas.microsoft.com/office/drawing/2014/main" id="{E2537004-F59B-4BA8-BCD8-20EAD169A552}"/>
              </a:ext>
            </a:extLst>
          </p:cNvPr>
          <p:cNvSpPr>
            <a:spLocks noGrp="1"/>
          </p:cNvSpPr>
          <p:nvPr/>
        </p:nvSpPr>
        <p:spPr>
          <a:xfrm>
            <a:off x="609600" y="1381125"/>
            <a:ext cx="10972800" cy="0"/>
          </a:xfrm>
          <a:prstGeom prst="line">
            <a:avLst/>
          </a:prstGeom>
          <a:noFill/>
          <a:ln w="9525">
            <a:solidFill>
              <a:srgbClr val="CBD7D6"/>
            </a:solidFill>
            <a:prstDash val="solid"/>
          </a:ln>
        </p:spPr>
        <p:txBody>
          <a:bodyPr/>
          <a:lstStyle/>
          <a:p>
            <a:endParaRPr/>
          </a:p>
        </p:txBody>
      </p:sp>
      <p:sp>
        <p:nvSpPr>
          <p:cNvPr id="4" name="Rettangolo 3">
            <a:extLst>
              <a:ext uri="{FF2B5EF4-FFF2-40B4-BE49-F238E27FC236}">
                <a16:creationId xmlns:a16="http://schemas.microsoft.com/office/drawing/2014/main" id="{88867A15-5D01-4559-88BD-64158D8BFF01}"/>
              </a:ext>
            </a:extLst>
          </p:cNvPr>
          <p:cNvSpPr>
            <a:spLocks noGrp="1"/>
          </p:cNvSpPr>
          <p:nvPr/>
        </p:nvSpPr>
        <p:spPr>
          <a:xfrm>
            <a:off x="11144250" y="6419850"/>
            <a:ext cx="438150" cy="209550"/>
          </a:xfrm>
          <a:prstGeom prst="rect">
            <a:avLst/>
          </a:prstGeom>
          <a:noFill/>
          <a:ln w="0">
            <a:noFill/>
            <a:prstDash val="solid"/>
          </a:ln>
        </p:spPr>
        <p:txBody>
          <a:bodyPr anchor="t"/>
          <a:lstStyle/>
          <a:p>
            <a:pPr algn="r">
              <a:buNone/>
              <a:defRPr sz="1125" b="1" i="0">
                <a:solidFill>
                  <a:srgbClr val="52636D"/>
                </a:solidFill>
              </a:defRPr>
            </a:pPr>
            <a:r>
              <a:rPr sz="1125" b="1" i="0">
                <a:solidFill>
                  <a:srgbClr val="52636D"/>
                </a:solidFill>
              </a:rPr>
              <a:t>19</a:t>
            </a:r>
          </a:p>
        </p:txBody>
      </p:sp>
      <p:sp>
        <p:nvSpPr>
          <p:cNvPr id="5" name="Ovale 4">
            <a:extLst>
              <a:ext uri="{FF2B5EF4-FFF2-40B4-BE49-F238E27FC236}">
                <a16:creationId xmlns:a16="http://schemas.microsoft.com/office/drawing/2014/main" id="{31FB4042-BC3C-4620-80C5-1934838D8D50}"/>
              </a:ext>
            </a:extLst>
          </p:cNvPr>
          <p:cNvSpPr>
            <a:spLocks noGrp="1"/>
          </p:cNvSpPr>
          <p:nvPr/>
        </p:nvSpPr>
        <p:spPr>
          <a:xfrm>
            <a:off x="742950" y="1762125"/>
            <a:ext cx="95250" cy="95250"/>
          </a:xfrm>
          <a:prstGeom prst="ellipse">
            <a:avLst/>
          </a:prstGeom>
          <a:solidFill>
            <a:srgbClr val="167D73"/>
          </a:solidFill>
          <a:ln w="0">
            <a:solidFill>
              <a:srgbClr val="167D73"/>
            </a:solidFill>
            <a:prstDash val="solid"/>
          </a:ln>
        </p:spPr>
        <p:txBody>
          <a:bodyPr/>
          <a:lstStyle/>
          <a:p>
            <a:endParaRPr/>
          </a:p>
        </p:txBody>
      </p:sp>
      <p:sp>
        <p:nvSpPr>
          <p:cNvPr id="6" name="Rettangolo 5">
            <a:extLst>
              <a:ext uri="{FF2B5EF4-FFF2-40B4-BE49-F238E27FC236}">
                <a16:creationId xmlns:a16="http://schemas.microsoft.com/office/drawing/2014/main" id="{597ABCD8-4DD9-420F-9EB2-FCCAD0453358}"/>
              </a:ext>
            </a:extLst>
          </p:cNvPr>
          <p:cNvSpPr>
            <a:spLocks noGrp="1"/>
          </p:cNvSpPr>
          <p:nvPr/>
        </p:nvSpPr>
        <p:spPr>
          <a:xfrm>
            <a:off x="1066800" y="1676400"/>
            <a:ext cx="10048875" cy="495300"/>
          </a:xfrm>
          <a:prstGeom prst="rect">
            <a:avLst/>
          </a:prstGeom>
          <a:noFill/>
          <a:ln w="0">
            <a:noFill/>
            <a:prstDash val="solid"/>
          </a:ln>
        </p:spPr>
        <p:txBody>
          <a:bodyPr anchor="t"/>
          <a:lstStyle/>
          <a:p>
            <a:pPr algn="l">
              <a:buNone/>
              <a:defRPr sz="1575" b="0" i="0">
                <a:solidFill>
                  <a:srgbClr val="13212A"/>
                </a:solidFill>
              </a:defRPr>
            </a:pPr>
            <a:r>
              <a:rPr sz="1575" b="0" i="0">
                <a:solidFill>
                  <a:srgbClr val="13212A"/>
                </a:solidFill>
              </a:rPr>
              <a:t>RFD discovery with DiMε: difference matrices, lattice, C+, g3 and pruning.</a:t>
            </a:r>
          </a:p>
        </p:txBody>
      </p:sp>
      <p:sp>
        <p:nvSpPr>
          <p:cNvPr id="7" name="Ovale 6">
            <a:extLst>
              <a:ext uri="{FF2B5EF4-FFF2-40B4-BE49-F238E27FC236}">
                <a16:creationId xmlns:a16="http://schemas.microsoft.com/office/drawing/2014/main" id="{E8458A62-598B-4242-BE9C-E11CBE868E7D}"/>
              </a:ext>
            </a:extLst>
          </p:cNvPr>
          <p:cNvSpPr>
            <a:spLocks noGrp="1"/>
          </p:cNvSpPr>
          <p:nvPr/>
        </p:nvSpPr>
        <p:spPr>
          <a:xfrm>
            <a:off x="742950" y="2362200"/>
            <a:ext cx="95250" cy="95250"/>
          </a:xfrm>
          <a:prstGeom prst="ellipse">
            <a:avLst/>
          </a:prstGeom>
          <a:solidFill>
            <a:srgbClr val="167D73"/>
          </a:solidFill>
          <a:ln w="0">
            <a:solidFill>
              <a:srgbClr val="167D73"/>
            </a:solidFill>
            <a:prstDash val="solid"/>
          </a:ln>
        </p:spPr>
        <p:txBody>
          <a:bodyPr/>
          <a:lstStyle/>
          <a:p>
            <a:endParaRPr/>
          </a:p>
        </p:txBody>
      </p:sp>
      <p:sp>
        <p:nvSpPr>
          <p:cNvPr id="8" name="Rettangolo 7">
            <a:extLst>
              <a:ext uri="{FF2B5EF4-FFF2-40B4-BE49-F238E27FC236}">
                <a16:creationId xmlns:a16="http://schemas.microsoft.com/office/drawing/2014/main" id="{900B67B7-CCF9-419C-A9FC-29ACFD9C06CA}"/>
              </a:ext>
            </a:extLst>
          </p:cNvPr>
          <p:cNvSpPr>
            <a:spLocks noGrp="1"/>
          </p:cNvSpPr>
          <p:nvPr/>
        </p:nvSpPr>
        <p:spPr>
          <a:xfrm>
            <a:off x="1066800" y="2276475"/>
            <a:ext cx="10048875" cy="495300"/>
          </a:xfrm>
          <a:prstGeom prst="rect">
            <a:avLst/>
          </a:prstGeom>
          <a:noFill/>
          <a:ln w="0">
            <a:noFill/>
            <a:prstDash val="solid"/>
          </a:ln>
        </p:spPr>
        <p:txBody>
          <a:bodyPr anchor="t"/>
          <a:lstStyle/>
          <a:p>
            <a:pPr algn="l">
              <a:buNone/>
              <a:defRPr sz="1575" b="1" i="0">
                <a:solidFill>
                  <a:srgbClr val="B5534A"/>
                </a:solidFill>
              </a:defRPr>
            </a:pPr>
            <a:r>
              <a:rPr sz="1575" b="1" i="0">
                <a:solidFill>
                  <a:srgbClr val="B5534A"/>
                </a:solidFill>
              </a:rPr>
              <a:t>5 minimal RFDs from 960 candidates across all 8 lattice levels.</a:t>
            </a:r>
          </a:p>
        </p:txBody>
      </p:sp>
      <p:sp>
        <p:nvSpPr>
          <p:cNvPr id="9" name="Ovale 8">
            <a:extLst>
              <a:ext uri="{FF2B5EF4-FFF2-40B4-BE49-F238E27FC236}">
                <a16:creationId xmlns:a16="http://schemas.microsoft.com/office/drawing/2014/main" id="{38930956-4DB1-4117-B1E4-C28D4E4D22C0}"/>
              </a:ext>
            </a:extLst>
          </p:cNvPr>
          <p:cNvSpPr>
            <a:spLocks noGrp="1"/>
          </p:cNvSpPr>
          <p:nvPr/>
        </p:nvSpPr>
        <p:spPr>
          <a:xfrm>
            <a:off x="742950" y="2962275"/>
            <a:ext cx="95250" cy="95250"/>
          </a:xfrm>
          <a:prstGeom prst="ellipse">
            <a:avLst/>
          </a:prstGeom>
          <a:solidFill>
            <a:srgbClr val="167D73"/>
          </a:solidFill>
          <a:ln w="0">
            <a:solidFill>
              <a:srgbClr val="167D73"/>
            </a:solidFill>
            <a:prstDash val="solid"/>
          </a:ln>
        </p:spPr>
        <p:txBody>
          <a:bodyPr/>
          <a:lstStyle/>
          <a:p>
            <a:endParaRPr/>
          </a:p>
        </p:txBody>
      </p:sp>
      <p:sp>
        <p:nvSpPr>
          <p:cNvPr id="10" name="Rettangolo 9">
            <a:extLst>
              <a:ext uri="{FF2B5EF4-FFF2-40B4-BE49-F238E27FC236}">
                <a16:creationId xmlns:a16="http://schemas.microsoft.com/office/drawing/2014/main" id="{B0CEB46A-0915-4737-BDDA-90A278ED2253}"/>
              </a:ext>
            </a:extLst>
          </p:cNvPr>
          <p:cNvSpPr>
            <a:spLocks noGrp="1"/>
          </p:cNvSpPr>
          <p:nvPr/>
        </p:nvSpPr>
        <p:spPr>
          <a:xfrm>
            <a:off x="1066800" y="2876550"/>
            <a:ext cx="10048875" cy="495300"/>
          </a:xfrm>
          <a:prstGeom prst="rect">
            <a:avLst/>
          </a:prstGeom>
          <a:noFill/>
          <a:ln w="0">
            <a:noFill/>
            <a:prstDash val="solid"/>
          </a:ln>
        </p:spPr>
        <p:txBody>
          <a:bodyPr anchor="t"/>
          <a:lstStyle/>
          <a:p>
            <a:pPr algn="l">
              <a:buNone/>
              <a:defRPr sz="1575" b="0" i="0">
                <a:solidFill>
                  <a:srgbClr val="13212A"/>
                </a:solidFill>
              </a:defRPr>
            </a:pPr>
            <a:r>
              <a:rPr sz="1575" b="0" i="0">
                <a:solidFill>
                  <a:srgbClr val="13212A"/>
                </a:solidFill>
              </a:rPr>
              <a:t>Baseline, lift, bootstrap and temporal checks are post-discovery.</a:t>
            </a:r>
          </a:p>
        </p:txBody>
      </p:sp>
      <p:sp>
        <p:nvSpPr>
          <p:cNvPr id="11" name="Ovale 10">
            <a:extLst>
              <a:ext uri="{FF2B5EF4-FFF2-40B4-BE49-F238E27FC236}">
                <a16:creationId xmlns:a16="http://schemas.microsoft.com/office/drawing/2014/main" id="{FCFCA793-E51F-4BD9-8072-8153C4FD19B1}"/>
              </a:ext>
            </a:extLst>
          </p:cNvPr>
          <p:cNvSpPr>
            <a:spLocks noGrp="1"/>
          </p:cNvSpPr>
          <p:nvPr/>
        </p:nvSpPr>
        <p:spPr>
          <a:xfrm>
            <a:off x="742950" y="3562350"/>
            <a:ext cx="95250" cy="95250"/>
          </a:xfrm>
          <a:prstGeom prst="ellipse">
            <a:avLst/>
          </a:prstGeom>
          <a:solidFill>
            <a:srgbClr val="167D73"/>
          </a:solidFill>
          <a:ln w="0">
            <a:solidFill>
              <a:srgbClr val="167D73"/>
            </a:solidFill>
            <a:prstDash val="solid"/>
          </a:ln>
        </p:spPr>
        <p:txBody>
          <a:bodyPr/>
          <a:lstStyle/>
          <a:p>
            <a:endParaRPr/>
          </a:p>
        </p:txBody>
      </p:sp>
      <p:sp>
        <p:nvSpPr>
          <p:cNvPr id="12" name="Rettangolo 11">
            <a:extLst>
              <a:ext uri="{FF2B5EF4-FFF2-40B4-BE49-F238E27FC236}">
                <a16:creationId xmlns:a16="http://schemas.microsoft.com/office/drawing/2014/main" id="{33390817-B0CD-46D2-9ED2-08F6403AD846}"/>
              </a:ext>
            </a:extLst>
          </p:cNvPr>
          <p:cNvSpPr>
            <a:spLocks noGrp="1"/>
          </p:cNvSpPr>
          <p:nvPr/>
        </p:nvSpPr>
        <p:spPr>
          <a:xfrm>
            <a:off x="1066800" y="3476625"/>
            <a:ext cx="10048875" cy="495300"/>
          </a:xfrm>
          <a:prstGeom prst="rect">
            <a:avLst/>
          </a:prstGeom>
          <a:noFill/>
          <a:ln w="0">
            <a:noFill/>
            <a:prstDash val="solid"/>
          </a:ln>
        </p:spPr>
        <p:txBody>
          <a:bodyPr anchor="t"/>
          <a:lstStyle/>
          <a:p>
            <a:pPr algn="l">
              <a:buNone/>
              <a:defRPr sz="1575" b="0" i="0">
                <a:solidFill>
                  <a:srgbClr val="13212A"/>
                </a:solidFill>
              </a:defRPr>
            </a:pPr>
            <a:r>
              <a:rPr sz="1575" b="0" i="0">
                <a:solidFill>
                  <a:srgbClr val="13212A"/>
                </a:solidFill>
              </a:rPr>
              <a:t>The weekly projection uses every one of the 66,619 cleaned rows.</a:t>
            </a:r>
          </a:p>
        </p:txBody>
      </p:sp>
      <p:sp>
        <p:nvSpPr>
          <p:cNvPr id="13" name="Ovale 12">
            <a:extLst>
              <a:ext uri="{FF2B5EF4-FFF2-40B4-BE49-F238E27FC236}">
                <a16:creationId xmlns:a16="http://schemas.microsoft.com/office/drawing/2014/main" id="{96C22A4D-3EA3-453E-8524-B0A380BE7E76}"/>
              </a:ext>
            </a:extLst>
          </p:cNvPr>
          <p:cNvSpPr>
            <a:spLocks noGrp="1"/>
          </p:cNvSpPr>
          <p:nvPr/>
        </p:nvSpPr>
        <p:spPr>
          <a:xfrm>
            <a:off x="742950" y="4162425"/>
            <a:ext cx="95250" cy="95250"/>
          </a:xfrm>
          <a:prstGeom prst="ellipse">
            <a:avLst/>
          </a:prstGeom>
          <a:solidFill>
            <a:srgbClr val="167D73"/>
          </a:solidFill>
          <a:ln w="0">
            <a:solidFill>
              <a:srgbClr val="167D73"/>
            </a:solidFill>
            <a:prstDash val="solid"/>
          </a:ln>
        </p:spPr>
        <p:txBody>
          <a:bodyPr/>
          <a:lstStyle/>
          <a:p>
            <a:endParaRPr/>
          </a:p>
        </p:txBody>
      </p:sp>
      <p:sp>
        <p:nvSpPr>
          <p:cNvPr id="14" name="Rettangolo 13">
            <a:extLst>
              <a:ext uri="{FF2B5EF4-FFF2-40B4-BE49-F238E27FC236}">
                <a16:creationId xmlns:a16="http://schemas.microsoft.com/office/drawing/2014/main" id="{06875B51-A0CC-4C10-A9AE-0F308F6BB649}"/>
              </a:ext>
            </a:extLst>
          </p:cNvPr>
          <p:cNvSpPr>
            <a:spLocks noGrp="1"/>
          </p:cNvSpPr>
          <p:nvPr/>
        </p:nvSpPr>
        <p:spPr>
          <a:xfrm>
            <a:off x="1066800" y="4076700"/>
            <a:ext cx="10048875" cy="495300"/>
          </a:xfrm>
          <a:prstGeom prst="rect">
            <a:avLst/>
          </a:prstGeom>
          <a:noFill/>
          <a:ln w="0">
            <a:noFill/>
            <a:prstDash val="solid"/>
          </a:ln>
        </p:spPr>
        <p:txBody>
          <a:bodyPr anchor="t"/>
          <a:lstStyle/>
          <a:p>
            <a:pPr algn="l">
              <a:buNone/>
              <a:defRPr sz="1575" b="1" i="0">
                <a:solidFill>
                  <a:srgbClr val="167D73"/>
                </a:solidFill>
              </a:defRPr>
            </a:pPr>
            <a:r>
              <a:rPr sz="1575" b="1" i="0">
                <a:solidFill>
                  <a:srgbClr val="167D73"/>
                </a:solidFill>
              </a:rPr>
              <a:t>Four of five RFDs have low support and describe specific regularities.</a:t>
            </a:r>
          </a:p>
        </p:txBody>
      </p:sp>
      <p:sp>
        <p:nvSpPr>
          <p:cNvPr id="15" name="Rettangolo con angoli arrotondati 14">
            <a:extLst>
              <a:ext uri="{FF2B5EF4-FFF2-40B4-BE49-F238E27FC236}">
                <a16:creationId xmlns:a16="http://schemas.microsoft.com/office/drawing/2014/main" id="{AB9506AD-AADF-40C2-AC7F-112B70B37360}"/>
              </a:ext>
            </a:extLst>
          </p:cNvPr>
          <p:cNvSpPr>
            <a:spLocks noGrp="1"/>
          </p:cNvSpPr>
          <p:nvPr/>
        </p:nvSpPr>
        <p:spPr>
          <a:xfrm>
            <a:off x="1047750" y="4886325"/>
            <a:ext cx="10096500" cy="1028700"/>
          </a:xfrm>
          <a:prstGeom prst="roundRect">
            <a:avLst>
              <a:gd name="adj" fmla="val 11111"/>
            </a:avLst>
          </a:prstGeom>
          <a:solidFill>
            <a:srgbClr val="EEF4F3"/>
          </a:solidFill>
          <a:ln w="9525">
            <a:solidFill>
              <a:srgbClr val="CBD7D6"/>
            </a:solidFill>
            <a:prstDash val="solid"/>
          </a:ln>
        </p:spPr>
        <p:txBody>
          <a:bodyPr/>
          <a:lstStyle/>
          <a:p>
            <a:endParaRPr/>
          </a:p>
        </p:txBody>
      </p:sp>
      <p:sp>
        <p:nvSpPr>
          <p:cNvPr id="16" name="Rettangolo 15">
            <a:extLst>
              <a:ext uri="{FF2B5EF4-FFF2-40B4-BE49-F238E27FC236}">
                <a16:creationId xmlns:a16="http://schemas.microsoft.com/office/drawing/2014/main" id="{692ACB3F-8AC4-4383-9DF3-A608DAC256D7}"/>
              </a:ext>
            </a:extLst>
          </p:cNvPr>
          <p:cNvSpPr>
            <a:spLocks noGrp="1"/>
          </p:cNvSpPr>
          <p:nvPr/>
        </p:nvSpPr>
        <p:spPr>
          <a:xfrm>
            <a:off x="1381125" y="5124450"/>
            <a:ext cx="9429750" cy="666750"/>
          </a:xfrm>
          <a:prstGeom prst="rect">
            <a:avLst/>
          </a:prstGeom>
          <a:noFill/>
          <a:ln w="0">
            <a:noFill/>
            <a:prstDash val="solid"/>
          </a:ln>
        </p:spPr>
        <p:txBody>
          <a:bodyPr anchor="t"/>
          <a:lstStyle/>
          <a:p>
            <a:pPr algn="ctr">
              <a:buNone/>
              <a:defRPr sz="1725" b="1" i="0">
                <a:solidFill>
                  <a:srgbClr val="2D6278"/>
                </a:solidFill>
              </a:defRPr>
            </a:pPr>
            <a:r>
              <a:rPr sz="1725" b="1" i="0">
                <a:solidFill>
                  <a:srgbClr val="2D6278"/>
                </a:solidFill>
              </a:rPr>
              <a:t>“The contribution is a reproducible RFD discovery and profiling workflow: DiMε discovers the rules, while post-discovery metrics explain their scope and stability.”</a:t>
            </a:r>
          </a:p>
        </p:txBody>
      </p:sp>
      <p:sp>
        <p:nvSpPr>
          <p:cNvPr id="17" name="Rettangolo 16">
            <a:extLst>
              <a:ext uri="{FF2B5EF4-FFF2-40B4-BE49-F238E27FC236}">
                <a16:creationId xmlns:a16="http://schemas.microsoft.com/office/drawing/2014/main" id="{BC5332FD-3ADB-4290-B7EE-2F305B7A9167}"/>
              </a:ext>
            </a:extLst>
          </p:cNvPr>
          <p:cNvSpPr>
            <a:spLocks noGrp="1"/>
          </p:cNvSpPr>
          <p:nvPr/>
        </p:nvSpPr>
        <p:spPr>
          <a:xfrm>
            <a:off x="9810750" y="6305550"/>
            <a:ext cx="1285875" cy="238125"/>
          </a:xfrm>
          <a:prstGeom prst="rect">
            <a:avLst/>
          </a:prstGeom>
          <a:noFill/>
          <a:ln w="0">
            <a:noFill/>
            <a:prstDash val="solid"/>
          </a:ln>
        </p:spPr>
        <p:txBody>
          <a:bodyPr anchor="t"/>
          <a:lstStyle/>
          <a:p>
            <a:pPr algn="r">
              <a:buNone/>
              <a:defRPr sz="1275" b="1" i="0">
                <a:solidFill>
                  <a:srgbClr val="167D73"/>
                </a:solidFill>
              </a:defRPr>
            </a:pPr>
            <a:r>
              <a:rPr sz="1275" b="1" i="0">
                <a:solidFill>
                  <a:srgbClr val="167D73"/>
                </a:solidFill>
              </a:rPr>
              <a:t>Thank you</a:t>
            </a:r>
          </a:p>
        </p:txBody>
      </p:sp>
    </p:spTree>
    <p:extLst>
      <p:ext uri="{BB962C8B-B14F-4D97-AF65-F5344CB8AC3E}">
        <p14:creationId xmlns:p14="http://schemas.microsoft.com/office/powerpoint/2010/main" val="181983406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3" name="Rettangolo 12">
            <a:extLst>
              <a:ext uri="{FF2B5EF4-FFF2-40B4-BE49-F238E27FC236}">
                <a16:creationId xmlns:a16="http://schemas.microsoft.com/office/drawing/2014/main" id="{CA7003C5-B25D-4001-8E9D-7C49FD43D472}"/>
              </a:ext>
            </a:extLst>
          </p:cNvPr>
          <p:cNvSpPr>
            <a:spLocks noGrp="1"/>
          </p:cNvSpPr>
          <p:nvPr/>
        </p:nvSpPr>
        <p:spPr>
          <a:xfrm>
            <a:off x="609600" y="323850"/>
            <a:ext cx="5905500" cy="228600"/>
          </a:xfrm>
          <a:prstGeom prst="rect">
            <a:avLst/>
          </a:prstGeom>
          <a:noFill/>
          <a:ln w="0">
            <a:noFill/>
            <a:prstDash val="solid"/>
          </a:ln>
        </p:spPr>
        <p:txBody>
          <a:bodyPr anchor="t"/>
          <a:lstStyle/>
          <a:p>
            <a:pPr algn="l">
              <a:buNone/>
              <a:defRPr sz="1125" b="1" i="0">
                <a:solidFill>
                  <a:srgbClr val="167D73"/>
                </a:solidFill>
              </a:defRPr>
            </a:pPr>
            <a:r>
              <a:rPr sz="1125" b="1" i="0">
                <a:solidFill>
                  <a:srgbClr val="167D73"/>
                </a:solidFill>
              </a:rPr>
              <a:t>KDIID · BACKUP</a:t>
            </a:r>
          </a:p>
        </p:txBody>
      </p:sp>
      <p:sp>
        <p:nvSpPr>
          <p:cNvPr id="2" name="Rettangolo 1">
            <a:extLst>
              <a:ext uri="{FF2B5EF4-FFF2-40B4-BE49-F238E27FC236}">
                <a16:creationId xmlns:a16="http://schemas.microsoft.com/office/drawing/2014/main" id="{20A8733A-EB79-4A5B-8D39-9A31012645AB}"/>
              </a:ext>
            </a:extLst>
          </p:cNvPr>
          <p:cNvSpPr>
            <a:spLocks noGrp="1"/>
          </p:cNvSpPr>
          <p:nvPr/>
        </p:nvSpPr>
        <p:spPr>
          <a:xfrm>
            <a:off x="609600" y="647700"/>
            <a:ext cx="10668000" cy="666750"/>
          </a:xfrm>
          <a:prstGeom prst="rect">
            <a:avLst/>
          </a:prstGeom>
          <a:noFill/>
          <a:ln w="0">
            <a:noFill/>
            <a:prstDash val="solid"/>
          </a:ln>
        </p:spPr>
        <p:txBody>
          <a:bodyPr anchor="t"/>
          <a:lstStyle/>
          <a:p>
            <a:pPr algn="l">
              <a:buNone/>
              <a:defRPr sz="3600" b="1" i="0">
                <a:solidFill>
                  <a:srgbClr val="13212A"/>
                </a:solidFill>
              </a:defRPr>
            </a:pPr>
            <a:r>
              <a:rPr sz="3600" b="1" i="0">
                <a:solidFill>
                  <a:srgbClr val="13212A"/>
                </a:solidFill>
              </a:rPr>
              <a:t>Backup · Sources</a:t>
            </a:r>
          </a:p>
        </p:txBody>
      </p:sp>
      <p:sp>
        <p:nvSpPr>
          <p:cNvPr id="3" name="Connettore dritto 2">
            <a:extLst>
              <a:ext uri="{FF2B5EF4-FFF2-40B4-BE49-F238E27FC236}">
                <a16:creationId xmlns:a16="http://schemas.microsoft.com/office/drawing/2014/main" id="{15844583-6D96-4ADF-8F93-A15E5D70D53E}"/>
              </a:ext>
            </a:extLst>
          </p:cNvPr>
          <p:cNvSpPr>
            <a:spLocks noGrp="1"/>
          </p:cNvSpPr>
          <p:nvPr/>
        </p:nvSpPr>
        <p:spPr>
          <a:xfrm>
            <a:off x="609600" y="1381125"/>
            <a:ext cx="10972800" cy="0"/>
          </a:xfrm>
          <a:prstGeom prst="line">
            <a:avLst/>
          </a:prstGeom>
          <a:noFill/>
          <a:ln w="9525">
            <a:solidFill>
              <a:srgbClr val="CBD7D6"/>
            </a:solidFill>
            <a:prstDash val="solid"/>
          </a:ln>
        </p:spPr>
        <p:txBody>
          <a:bodyPr/>
          <a:lstStyle/>
          <a:p>
            <a:endParaRPr/>
          </a:p>
        </p:txBody>
      </p:sp>
      <p:sp>
        <p:nvSpPr>
          <p:cNvPr id="4" name="Rettangolo 3">
            <a:extLst>
              <a:ext uri="{FF2B5EF4-FFF2-40B4-BE49-F238E27FC236}">
                <a16:creationId xmlns:a16="http://schemas.microsoft.com/office/drawing/2014/main" id="{03047BDA-F809-4AA9-9015-EDC0D5AA72E9}"/>
              </a:ext>
            </a:extLst>
          </p:cNvPr>
          <p:cNvSpPr>
            <a:spLocks noGrp="1"/>
          </p:cNvSpPr>
          <p:nvPr/>
        </p:nvSpPr>
        <p:spPr>
          <a:xfrm>
            <a:off x="11144250" y="6419850"/>
            <a:ext cx="438150" cy="209550"/>
          </a:xfrm>
          <a:prstGeom prst="rect">
            <a:avLst/>
          </a:prstGeom>
          <a:noFill/>
          <a:ln w="0">
            <a:noFill/>
            <a:prstDash val="solid"/>
          </a:ln>
        </p:spPr>
        <p:txBody>
          <a:bodyPr anchor="t"/>
          <a:lstStyle/>
          <a:p>
            <a:pPr algn="r">
              <a:buNone/>
              <a:defRPr sz="1125" b="1" i="0">
                <a:solidFill>
                  <a:srgbClr val="52636D"/>
                </a:solidFill>
              </a:defRPr>
            </a:pPr>
            <a:r>
              <a:rPr sz="1125" b="1" i="0">
                <a:solidFill>
                  <a:srgbClr val="52636D"/>
                </a:solidFill>
              </a:rPr>
              <a:t>20</a:t>
            </a:r>
          </a:p>
        </p:txBody>
      </p:sp>
      <p:sp>
        <p:nvSpPr>
          <p:cNvPr id="5" name="Rettangolo 4">
            <a:extLst>
              <a:ext uri="{FF2B5EF4-FFF2-40B4-BE49-F238E27FC236}">
                <a16:creationId xmlns:a16="http://schemas.microsoft.com/office/drawing/2014/main" id="{0345EF3B-FAB7-460F-8B27-E8D514BB36EB}"/>
              </a:ext>
            </a:extLst>
          </p:cNvPr>
          <p:cNvSpPr>
            <a:spLocks noGrp="1"/>
          </p:cNvSpPr>
          <p:nvPr/>
        </p:nvSpPr>
        <p:spPr>
          <a:xfrm>
            <a:off x="781050" y="1952625"/>
            <a:ext cx="552450" cy="361950"/>
          </a:xfrm>
          <a:prstGeom prst="rect">
            <a:avLst/>
          </a:prstGeom>
          <a:noFill/>
          <a:ln w="0">
            <a:noFill/>
            <a:prstDash val="solid"/>
          </a:ln>
        </p:spPr>
        <p:txBody>
          <a:bodyPr anchor="t"/>
          <a:lstStyle/>
          <a:p>
            <a:pPr algn="l">
              <a:buNone/>
              <a:defRPr sz="1650" b="1" i="0">
                <a:solidFill>
                  <a:srgbClr val="167D73"/>
                </a:solidFill>
              </a:defRPr>
            </a:pPr>
            <a:r>
              <a:rPr sz="1650" b="1" i="0">
                <a:solidFill>
                  <a:srgbClr val="167D73"/>
                </a:solidFill>
              </a:rPr>
              <a:t>01</a:t>
            </a:r>
          </a:p>
        </p:txBody>
      </p:sp>
      <p:sp>
        <p:nvSpPr>
          <p:cNvPr id="6" name="Rettangolo 5">
            <a:extLst>
              <a:ext uri="{FF2B5EF4-FFF2-40B4-BE49-F238E27FC236}">
                <a16:creationId xmlns:a16="http://schemas.microsoft.com/office/drawing/2014/main" id="{BF76F36E-6A7A-47D6-924C-5B14B354EC78}"/>
              </a:ext>
            </a:extLst>
          </p:cNvPr>
          <p:cNvSpPr>
            <a:spLocks noGrp="1"/>
          </p:cNvSpPr>
          <p:nvPr/>
        </p:nvSpPr>
        <p:spPr>
          <a:xfrm>
            <a:off x="1504950" y="1933575"/>
            <a:ext cx="9525000" cy="781050"/>
          </a:xfrm>
          <a:prstGeom prst="rect">
            <a:avLst/>
          </a:prstGeom>
          <a:noFill/>
          <a:ln w="0">
            <a:noFill/>
            <a:prstDash val="solid"/>
          </a:ln>
        </p:spPr>
        <p:txBody>
          <a:bodyPr anchor="t"/>
          <a:lstStyle/>
          <a:p>
            <a:pPr algn="l">
              <a:buNone/>
              <a:defRPr sz="1875" b="1" i="0">
                <a:solidFill>
                  <a:srgbClr val="13212A"/>
                </a:solidFill>
              </a:defRPr>
            </a:pPr>
            <a:r>
              <a:rPr sz="1875" b="1" i="0">
                <a:solidFill>
                  <a:srgbClr val="13212A"/>
                </a:solidFill>
              </a:rPr>
              <a:t>Beijing Multi-Site Air Quality Data Set, UCI Machine Learning Repository</a:t>
            </a:r>
          </a:p>
        </p:txBody>
      </p:sp>
      <p:sp>
        <p:nvSpPr>
          <p:cNvPr id="7" name="Connettore dritto 6">
            <a:extLst>
              <a:ext uri="{FF2B5EF4-FFF2-40B4-BE49-F238E27FC236}">
                <a16:creationId xmlns:a16="http://schemas.microsoft.com/office/drawing/2014/main" id="{750838E1-887A-49E5-BDCE-7AE37742514D}"/>
              </a:ext>
            </a:extLst>
          </p:cNvPr>
          <p:cNvSpPr>
            <a:spLocks noGrp="1"/>
          </p:cNvSpPr>
          <p:nvPr/>
        </p:nvSpPr>
        <p:spPr>
          <a:xfrm>
            <a:off x="1504950" y="2828925"/>
            <a:ext cx="9334500" cy="0"/>
          </a:xfrm>
          <a:prstGeom prst="line">
            <a:avLst/>
          </a:prstGeom>
          <a:noFill/>
          <a:ln w="9525">
            <a:solidFill>
              <a:srgbClr val="CBD7D6"/>
            </a:solidFill>
            <a:prstDash val="solid"/>
          </a:ln>
        </p:spPr>
        <p:txBody>
          <a:bodyPr/>
          <a:lstStyle/>
          <a:p>
            <a:endParaRPr/>
          </a:p>
        </p:txBody>
      </p:sp>
      <p:sp>
        <p:nvSpPr>
          <p:cNvPr id="8" name="Rettangolo 7">
            <a:extLst>
              <a:ext uri="{FF2B5EF4-FFF2-40B4-BE49-F238E27FC236}">
                <a16:creationId xmlns:a16="http://schemas.microsoft.com/office/drawing/2014/main" id="{CF784065-4B5F-4207-8F84-28F5188A7ED7}"/>
              </a:ext>
            </a:extLst>
          </p:cNvPr>
          <p:cNvSpPr>
            <a:spLocks noGrp="1"/>
          </p:cNvSpPr>
          <p:nvPr/>
        </p:nvSpPr>
        <p:spPr>
          <a:xfrm>
            <a:off x="781050" y="3209925"/>
            <a:ext cx="552450" cy="361950"/>
          </a:xfrm>
          <a:prstGeom prst="rect">
            <a:avLst/>
          </a:prstGeom>
          <a:noFill/>
          <a:ln w="0">
            <a:noFill/>
            <a:prstDash val="solid"/>
          </a:ln>
        </p:spPr>
        <p:txBody>
          <a:bodyPr anchor="t"/>
          <a:lstStyle/>
          <a:p>
            <a:pPr algn="l">
              <a:buNone/>
              <a:defRPr sz="1650" b="1" i="0">
                <a:solidFill>
                  <a:srgbClr val="167D73"/>
                </a:solidFill>
              </a:defRPr>
            </a:pPr>
            <a:r>
              <a:rPr sz="1650" b="1" i="0">
                <a:solidFill>
                  <a:srgbClr val="167D73"/>
                </a:solidFill>
              </a:rPr>
              <a:t>02</a:t>
            </a:r>
          </a:p>
        </p:txBody>
      </p:sp>
      <p:sp>
        <p:nvSpPr>
          <p:cNvPr id="9" name="Rettangolo 8">
            <a:extLst>
              <a:ext uri="{FF2B5EF4-FFF2-40B4-BE49-F238E27FC236}">
                <a16:creationId xmlns:a16="http://schemas.microsoft.com/office/drawing/2014/main" id="{D3A90E28-BCB3-44E1-A08D-E5C11D44924F}"/>
              </a:ext>
            </a:extLst>
          </p:cNvPr>
          <p:cNvSpPr>
            <a:spLocks noGrp="1"/>
          </p:cNvSpPr>
          <p:nvPr/>
        </p:nvSpPr>
        <p:spPr>
          <a:xfrm>
            <a:off x="1504950" y="3190875"/>
            <a:ext cx="9525000" cy="781050"/>
          </a:xfrm>
          <a:prstGeom prst="rect">
            <a:avLst/>
          </a:prstGeom>
          <a:noFill/>
          <a:ln w="0">
            <a:noFill/>
            <a:prstDash val="solid"/>
          </a:ln>
        </p:spPr>
        <p:txBody>
          <a:bodyPr anchor="t"/>
          <a:lstStyle/>
          <a:p>
            <a:pPr algn="l">
              <a:buNone/>
              <a:defRPr sz="1875" b="0" i="0">
                <a:solidFill>
                  <a:srgbClr val="13212A"/>
                </a:solidFill>
              </a:defRPr>
            </a:pPr>
            <a:r>
              <a:rPr sz="1875" b="0" i="0">
                <a:solidFill>
                  <a:srgbClr val="13212A"/>
                </a:solidFill>
              </a:rPr>
              <a:t>KDIID Lecture 3, Relaxed Functional Dependencies · DiMε slides 29–41</a:t>
            </a:r>
          </a:p>
        </p:txBody>
      </p:sp>
      <p:sp>
        <p:nvSpPr>
          <p:cNvPr id="10" name="Connettore dritto 9">
            <a:extLst>
              <a:ext uri="{FF2B5EF4-FFF2-40B4-BE49-F238E27FC236}">
                <a16:creationId xmlns:a16="http://schemas.microsoft.com/office/drawing/2014/main" id="{9039FE35-2C41-4AE2-B3CD-06CA1AAC521C}"/>
              </a:ext>
            </a:extLst>
          </p:cNvPr>
          <p:cNvSpPr>
            <a:spLocks noGrp="1"/>
          </p:cNvSpPr>
          <p:nvPr/>
        </p:nvSpPr>
        <p:spPr>
          <a:xfrm>
            <a:off x="1504950" y="4086225"/>
            <a:ext cx="9334500" cy="0"/>
          </a:xfrm>
          <a:prstGeom prst="line">
            <a:avLst/>
          </a:prstGeom>
          <a:noFill/>
          <a:ln w="9525">
            <a:solidFill>
              <a:srgbClr val="CBD7D6"/>
            </a:solidFill>
            <a:prstDash val="solid"/>
          </a:ln>
        </p:spPr>
        <p:txBody>
          <a:bodyPr/>
          <a:lstStyle/>
          <a:p>
            <a:endParaRPr/>
          </a:p>
        </p:txBody>
      </p:sp>
      <p:sp>
        <p:nvSpPr>
          <p:cNvPr id="11" name="Rettangolo 10">
            <a:extLst>
              <a:ext uri="{FF2B5EF4-FFF2-40B4-BE49-F238E27FC236}">
                <a16:creationId xmlns:a16="http://schemas.microsoft.com/office/drawing/2014/main" id="{833BA40F-3C3A-416C-B281-E2B9C57D734A}"/>
              </a:ext>
            </a:extLst>
          </p:cNvPr>
          <p:cNvSpPr>
            <a:spLocks noGrp="1"/>
          </p:cNvSpPr>
          <p:nvPr/>
        </p:nvSpPr>
        <p:spPr>
          <a:xfrm>
            <a:off x="781050" y="4467225"/>
            <a:ext cx="552450" cy="361950"/>
          </a:xfrm>
          <a:prstGeom prst="rect">
            <a:avLst/>
          </a:prstGeom>
          <a:noFill/>
          <a:ln w="0">
            <a:noFill/>
            <a:prstDash val="solid"/>
          </a:ln>
        </p:spPr>
        <p:txBody>
          <a:bodyPr anchor="t"/>
          <a:lstStyle/>
          <a:p>
            <a:pPr algn="l">
              <a:buNone/>
              <a:defRPr sz="1650" b="1" i="0">
                <a:solidFill>
                  <a:srgbClr val="167D73"/>
                </a:solidFill>
              </a:defRPr>
            </a:pPr>
            <a:r>
              <a:rPr sz="1650" b="1" i="0">
                <a:solidFill>
                  <a:srgbClr val="167D73"/>
                </a:solidFill>
              </a:rPr>
              <a:t>03</a:t>
            </a:r>
          </a:p>
        </p:txBody>
      </p:sp>
      <p:sp>
        <p:nvSpPr>
          <p:cNvPr id="12" name="Rettangolo 11">
            <a:extLst>
              <a:ext uri="{FF2B5EF4-FFF2-40B4-BE49-F238E27FC236}">
                <a16:creationId xmlns:a16="http://schemas.microsoft.com/office/drawing/2014/main" id="{AD70B704-6E01-4277-B0B2-3AA51B96FD1D}"/>
              </a:ext>
            </a:extLst>
          </p:cNvPr>
          <p:cNvSpPr>
            <a:spLocks noGrp="1"/>
          </p:cNvSpPr>
          <p:nvPr/>
        </p:nvSpPr>
        <p:spPr>
          <a:xfrm>
            <a:off x="1504950" y="4448175"/>
            <a:ext cx="9525000" cy="781050"/>
          </a:xfrm>
          <a:prstGeom prst="rect">
            <a:avLst/>
          </a:prstGeom>
          <a:noFill/>
          <a:ln w="0">
            <a:noFill/>
            <a:prstDash val="solid"/>
          </a:ln>
        </p:spPr>
        <p:txBody>
          <a:bodyPr anchor="t"/>
          <a:lstStyle/>
          <a:p>
            <a:pPr algn="l">
              <a:buNone/>
              <a:defRPr sz="1875" b="0" i="0">
                <a:solidFill>
                  <a:srgbClr val="13212A"/>
                </a:solidFill>
              </a:defRPr>
            </a:pPr>
            <a:r>
              <a:rPr sz="1875" b="0" i="0">
                <a:solidFill>
                  <a:srgbClr val="13212A"/>
                </a:solidFill>
              </a:rPr>
              <a:t>Caruccio, Deufemia, Polese, “Mining relaxed functional dependencies from data”, Data Mining and Knowledge Discovery, 2020</a:t>
            </a:r>
          </a:p>
        </p:txBody>
      </p:sp>
    </p:spTree>
    <p:extLst>
      <p:ext uri="{BB962C8B-B14F-4D97-AF65-F5344CB8AC3E}">
        <p14:creationId xmlns:p14="http://schemas.microsoft.com/office/powerpoint/2010/main" val="1852895235"/>
      </p:ext>
    </p:extLst>
  </p:cSld>
  <p:clrMapOvr>
    <a:masterClrMapping/>
  </p:clrMapOvr>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2317</Words>
  <Application>Microsoft Macintosh PowerPoint</Application>
  <DocSecurity>0</DocSecurity>
  <PresentationFormat>Widescreen</PresentationFormat>
  <Paragraphs>370</Paragraphs>
  <Slides>20</Slides>
  <Notes>20</Notes>
  <HiddenSlides>0</HiddenSlides>
  <MMClips>0</MMClips>
  <ScaleCrop>false</ScaleCrop>
  <HeadingPairs>
    <vt:vector size="6" baseType="variant">
      <vt:variant>
        <vt:lpstr>Caratteri utilizzati</vt:lpstr>
      </vt:variant>
      <vt:variant>
        <vt:i4>1</vt:i4>
      </vt:variant>
      <vt:variant>
        <vt:lpstr>Tema</vt:lpstr>
      </vt:variant>
      <vt:variant>
        <vt:i4>1</vt:i4>
      </vt:variant>
      <vt:variant>
        <vt:lpstr>Titoli diapositive</vt:lpstr>
      </vt:variant>
      <vt:variant>
        <vt:i4>20</vt:i4>
      </vt:variant>
    </vt:vector>
  </HeadingPairs>
  <TitlesOfParts>
    <vt:vector size="22" baseType="lpstr">
      <vt:lpstr>Calibri</vt:lpstr>
      <vt:lpstr>ChatGPT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MATTEO ERCOLINO</cp:lastModifiedBy>
  <cp:revision>1</cp:revision>
  <dcterms:created xsi:type="dcterms:W3CDTF">2026-06-29T12:51:49Z</dcterms:created>
  <dcterms:modified xsi:type="dcterms:W3CDTF">2026-06-29T14:09:03Z</dcterms:modified>
</cp:coreProperties>
</file>