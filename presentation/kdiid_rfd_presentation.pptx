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1835"/>
  </p:normalViewPr>
  <p:slideViewPr>
    <p:cSldViewPr snapToGrid="0">
      <p:cViewPr varScale="1">
        <p:scale>
          <a:sx n="102" d="100"/>
          <a:sy n="102" d="100"/>
        </p:scale>
        <p:origin x="216" y="2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Aotizhongxin</c:v>
          </c:tx>
          <c:spPr>
            <a:solidFill>
              <a:srgbClr val="5573A3"/>
            </a:solidFill>
          </c:spPr>
          <c:invertIfNegative val="1"/>
          <c:cat>
            <c:strLit>
              <c:ptCount val="7"/>
              <c:pt idx="0">
                <c:v>2014-12</c:v>
              </c:pt>
              <c:pt idx="1">
                <c:v>2013-12</c:v>
              </c:pt>
              <c:pt idx="2">
                <c:v>2016-02</c:v>
              </c:pt>
              <c:pt idx="3">
                <c:v>2016-01</c:v>
              </c:pt>
              <c:pt idx="4">
                <c:v>2013-11</c:v>
              </c:pt>
              <c:pt idx="5">
                <c:v>2013-04</c:v>
              </c:pt>
              <c:pt idx="6">
                <c:v>2015-09</c:v>
              </c:pt>
            </c:strLit>
          </c:cat>
          <c:val>
            <c:numLit>
              <c:formatCode>General</c:formatCode>
              <c:ptCount val="7"/>
              <c:pt idx="0">
                <c:v>8</c:v>
              </c:pt>
              <c:pt idx="1">
                <c:v>5</c:v>
              </c:pt>
              <c:pt idx="2">
                <c:v>17</c:v>
              </c:pt>
              <c:pt idx="3">
                <c:v>3</c:v>
              </c:pt>
              <c:pt idx="4">
                <c:v>9</c:v>
              </c:pt>
              <c:pt idx="5">
                <c:v>6</c:v>
              </c:pt>
              <c:pt idx="6">
                <c:v>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6C-0C4C-94A3-7332CE22013D}"/>
            </c:ext>
          </c:extLst>
        </c:ser>
        <c:ser>
          <c:idx val="1"/>
          <c:order val="1"/>
          <c:tx>
            <c:v>Changping</c:v>
          </c:tx>
          <c:spPr>
            <a:solidFill>
              <a:srgbClr val="CC8963"/>
            </a:solidFill>
          </c:spPr>
          <c:invertIfNegative val="1"/>
          <c:cat>
            <c:strLit>
              <c:ptCount val="7"/>
              <c:pt idx="0">
                <c:v>2014-12</c:v>
              </c:pt>
              <c:pt idx="1">
                <c:v>2013-12</c:v>
              </c:pt>
              <c:pt idx="2">
                <c:v>2016-02</c:v>
              </c:pt>
              <c:pt idx="3">
                <c:v>2016-01</c:v>
              </c:pt>
              <c:pt idx="4">
                <c:v>2013-11</c:v>
              </c:pt>
              <c:pt idx="5">
                <c:v>2013-04</c:v>
              </c:pt>
              <c:pt idx="6">
                <c:v>2015-09</c:v>
              </c:pt>
            </c:strLit>
          </c:cat>
          <c:val>
            <c:numLit>
              <c:formatCode>General</c:formatCode>
              <c:ptCount val="7"/>
              <c:pt idx="0">
                <c:v>28</c:v>
              </c:pt>
              <c:pt idx="1">
                <c:v>31</c:v>
              </c:pt>
              <c:pt idx="2">
                <c:v>16</c:v>
              </c:pt>
              <c:pt idx="3">
                <c:v>24</c:v>
              </c:pt>
              <c:pt idx="4">
                <c:v>15</c:v>
              </c:pt>
              <c:pt idx="5">
                <c:v>15</c:v>
              </c:pt>
              <c:pt idx="6">
                <c:v>13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46C-0C4C-94A3-7332CE2201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BD7D6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52636D"/>
                </a:solidFill>
              </a:defRPr>
            </a:pPr>
            <a:endParaRPr lang="it-IT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35"/>
        </c:scaling>
        <c:delete val="0"/>
        <c:axPos val="l"/>
        <c:majorGridlines>
          <c:spPr>
            <a:ln w="9525">
              <a:solidFill>
                <a:srgbClr val="E3E9E8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lang="it-IT" sz="900">
                    <a:solidFill>
                      <a:srgbClr val="52636D"/>
                    </a:solidFill>
                  </a:rPr>
                  <a:t>Violation pairs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D7D6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52636D"/>
                </a:solidFill>
              </a:defRPr>
            </a:pPr>
            <a:endParaRPr lang="it-IT"/>
          </a:p>
        </c:txPr>
        <c:crossAx val="48650112"/>
        <c:crosses val="autoZero"/>
        <c:crossBetween val="between"/>
      </c:valAx>
    </c:plotArea>
    <c:legend>
      <c:legendPos val="t"/>
      <c:overlay val="0"/>
      <c:txPr>
        <a:bodyPr anchorCtr="1"/>
        <a:lstStyle/>
        <a:p>
          <a:pPr>
            <a:defRPr sz="900">
              <a:solidFill>
                <a:srgbClr val="52636D"/>
              </a:solidFill>
            </a:defRPr>
          </a:pPr>
          <a:endParaRPr lang="it-IT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project as an analysis of approximate consistency in urban air-quality observations.</a:t>
            </a:r>
          </a:p>
          <a:p>
            <a:r>
              <a:t>The central method is Relaxed Functional Dependencies, or RFDs.</a:t>
            </a:r>
          </a:p>
          <a:p>
            <a:r>
              <a:t>Clarify the scope immediately: the work does not predict pollution and does not make causal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why classical deterministic constraints are too rigid for this domain.</a:t>
            </a:r>
          </a:p>
          <a:p>
            <a:r>
              <a:t>The objective is descriptive and diagnostic: quantify how often a proposed consistency relation holds.</a:t>
            </a:r>
          </a:p>
          <a:p>
            <a:r>
              <a:t>This framing makes moderate confidence meaningful when it is clearly above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Define Urban Digital Twin narrowly and explicitly.</a:t>
            </a:r>
          </a:p>
          <a:p>
            <a:r>
              <a:t>The twin is conceptual: it organizes historical data, approximate rules, violations, and monitoring.</a:t>
            </a:r>
          </a:p>
          <a:p>
            <a:r>
              <a:t>The implemented contribution is the reproducible workflow shown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the selected dataset, stations, and common four-year period.</a:t>
            </a:r>
          </a:p>
          <a:p>
            <a:r>
              <a:t>The full cleaned dataset is retained for descriptive profiling.</a:t>
            </a:r>
          </a:p>
          <a:p>
            <a:r>
              <a:t>Pairwise RFD validation is quadratic, so a deterministic balanced sample of 750 rows per station is used.</a:t>
            </a:r>
          </a:p>
          <a:p>
            <a:r>
              <a:t>The missing-value policy is transparent and does not impute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exact functional dependencies with threshold-based similarity.</a:t>
            </a:r>
          </a:p>
          <a:p>
            <a:r>
              <a:t>For categorical attributes, similarity can still mean exact equality.</a:t>
            </a:r>
          </a:p>
          <a:p>
            <a:r>
              <a:t>For numeric attributes, similarity is defined by absolute thresholds; hour uses circular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thresholds are heuristic and interpretable; they are not claimed to be statistically optimal.</a:t>
            </a:r>
          </a:p>
          <a:p>
            <a:r>
              <a:t>The medium setup is the main configuration used for the candidate-rule results.</a:t>
            </a:r>
          </a:p>
          <a:p>
            <a:r>
              <a:t>Strict and relaxed settings provide sensitivity analysis, checking that the interpretation does not depend on one threshold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Define Urban Digital Twin narrowly and explicitly.</a:t>
            </a:r>
          </a:p>
          <a:p>
            <a:r>
              <a:t>The twin is conceptual: it organizes historical data, approximate rules, violations, and monitoring.</a:t>
            </a:r>
          </a:p>
          <a:p>
            <a:r>
              <a:t>The implemented contribution is the reproducible workflow shown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Define support and confidence using pair counts.</a:t>
            </a:r>
          </a:p>
          <a:p>
            <a:r>
              <a:t>Explain that the RHS is permuted 30 times while antecedent structure remains fixed.</a:t>
            </a:r>
          </a:p>
          <a:p>
            <a:r>
              <a:t>Lift compares observed confidence with this permutation baseline.</a:t>
            </a:r>
          </a:p>
          <a:p>
            <a:r>
              <a:t>Support must still be considered: a high confidence rule with very few antecedent pairs can be unstable.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pipeline from data cleaning to violation analysis.</a:t>
            </a:r>
          </a:p>
          <a:p>
            <a:r>
              <a:t>Candidate validation is followed by a chance baseline, resampling, chronological validation, and monthly monitoring.</a:t>
            </a:r>
          </a:p>
          <a:p>
            <a:r>
              <a:t>This sequence is the methodological contribution of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correlation matrix only as descriptive context.</a:t>
            </a:r>
          </a:p>
          <a:p>
            <a:r>
              <a:t>Highlight the PM2.5–PM10 correlation of 0.874, the strongest pollutant relationship.</a:t>
            </a:r>
          </a:p>
          <a:p>
            <a:r>
              <a:t>Stress that correlation, RFD consistency, and causality are three different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plot shows daily mean PM2.5 by station for readability.</a:t>
            </a:r>
          </a:p>
          <a:p>
            <a:r>
              <a:t>Point out that peaks and quieter periods do not align perfectly across the two sites.</a:t>
            </a:r>
          </a:p>
          <a:p>
            <a:r>
              <a:t>This motivates monthly monitoring of RFD metrics rather than relying only on a global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 the three strongest raw candidate rules under the medium threshold configuration.</a:t>
            </a:r>
          </a:p>
          <a:p>
            <a:r>
              <a:t>The top rule has confidence 0.483, which is moderate and must not be described as a strong dependency.</a:t>
            </a:r>
          </a:p>
          <a:p>
            <a:r>
              <a:t>Its lift of 3.24 is the key result: the observed consistency is much higher than the permuted RHS baseline.</a:t>
            </a:r>
          </a:p>
          <a:p>
            <a:r>
              <a:t>Support is low as a fraction, but it still corresponds to many pairwise comparisons and is interpreted together with confidence, baseline, and 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PM2.5 is the fine fraction included in the PM10 size class, so coherence is environmentally plausible.</a:t>
            </a:r>
          </a:p>
          <a:p>
            <a:r>
              <a:t>Adding NO2 may represent shared emission conditions, but this is an interpretation—not causal proof.</a:t>
            </a:r>
          </a:p>
          <a:p>
            <a:r>
              <a:t>Unobserved weather, source mixtures, and particulate composition can explain violations.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pollutants and meteorological variables are grouped into low, medium, and high quantile bins.</a:t>
            </a:r>
          </a:p>
          <a:p>
            <a:r>
              <a:t>The top binned rule reaches confidence 0.689 and lift 2.07.</a:t>
            </a:r>
          </a:p>
          <a:p>
            <a:r>
              <a:t>This is not directly comparable to the raw rule because discretization makes similarity less demanding.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Bootstrap results summarize 30 balanced resamples.</a:t>
            </a:r>
          </a:p>
          <a:p>
            <a:r>
              <a:t>The mean lift is 3.35, with empirical 95% interval from 3.15 to 3.57.</a:t>
            </a:r>
          </a:p>
          <a:p>
            <a:r>
              <a:t>The chronological split trains on the first three years and tests on the final year.</a:t>
            </a:r>
          </a:p>
          <a:p>
            <a:r>
              <a:t>The top rule's lift is 3.15 in train and 3.35 in test, supporting relative stability.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continuous profile covers 48 monthly windows.</a:t>
            </a:r>
          </a:p>
          <a:p>
            <a:r>
              <a:t>Monthly confidence varies substantially, which is expected in a seasonal environmental system.</a:t>
            </a:r>
          </a:p>
          <a:p>
            <a:r>
              <a:t>Do not interpret confidence alone: support and antecedent-pair counts show how much evidence is available in each month.</a:t>
            </a:r>
          </a:p>
          <a:p>
            <a:r>
              <a:t>Abrupt changes are monitoring signals, not automatic anomalies.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chart aggregates the same exported violation-pair counts by station into eight six-month periods so the time labels remain readable.</a:t>
            </a:r>
          </a:p>
          <a:p>
            <a:r>
              <a:t>It still represents the two strongest raw RFDs and preserves the original interpretation.</a:t>
            </a:r>
          </a:p>
          <a:p>
            <a:r>
              <a:t>Violations can indicate heterogeneous local conditions, missing explanatory variables, unusual events, or data-quality problems.</a:t>
            </a:r>
          </a:p>
          <a:p>
            <a:r>
              <a:t>They should be investigated with contextual data rather than labeled as errors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by returning to the methodological contribution: a reproducible consistency-profiling workflow.</a:t>
            </a:r>
          </a:p>
          <a:p>
            <a:r>
              <a:t>The strongest results are approximate and clearly above chance, not deterministic.</a:t>
            </a:r>
          </a:p>
          <a:p>
            <a:r>
              <a:t>Continuous profiling shows how RFDs can support monitoring over time.</a:t>
            </a:r>
          </a:p>
          <a:p>
            <a:r>
              <a:t>The empty discovery result is intentional evidence of conservative thresholds rather than a failed experiment.</a:t>
            </a:r>
          </a:p>
          <a:p>
            <a:r>
              <a:t>End with the quoted sentence as the main answer to what the project contributes.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slide; do not include it in the timed oral presentation unless the committee asks about data or methodological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2717142A-37E9-4F78-BD1B-0DE27973BF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84772573-BCB5-482B-A78A-3E0E84C66A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8763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4650" b="1" i="0">
                <a:solidFill>
                  <a:srgbClr val="13212A"/>
                </a:solidFill>
              </a:defRPr>
            </a:pPr>
            <a:r>
              <a:rPr sz="4650" b="1" i="0">
                <a:solidFill>
                  <a:srgbClr val="13212A"/>
                </a:solidFill>
              </a:rPr>
              <a:t>URBAN AIR-QUALITY</a:t>
            </a:r>
          </a:p>
          <a:p>
            <a:pPr algn="l">
              <a:buNone/>
              <a:defRPr sz="4650" b="1" i="0">
                <a:solidFill>
                  <a:srgbClr val="13212A"/>
                </a:solidFill>
              </a:defRPr>
            </a:pPr>
            <a:r>
              <a:rPr sz="4650" b="1" i="0">
                <a:solidFill>
                  <a:srgbClr val="13212A"/>
                </a:solidFill>
              </a:rPr>
              <a:t>CONSISTENCY PROFILING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90044AE1-16CD-4912-B063-05ACFD9EB0C5}"/>
              </a:ext>
            </a:extLst>
          </p:cNvPr>
          <p:cNvSpPr>
            <a:spLocks noGrp="1"/>
          </p:cNvSpPr>
          <p:nvPr/>
        </p:nvSpPr>
        <p:spPr>
          <a:xfrm>
            <a:off x="723900" y="2400300"/>
            <a:ext cx="809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550" b="1" i="0">
                <a:solidFill>
                  <a:srgbClr val="167D73"/>
                </a:solidFill>
              </a:defRPr>
            </a:pPr>
            <a:r>
              <a:rPr sz="2550" b="1" i="0">
                <a:solidFill>
                  <a:srgbClr val="167D73"/>
                </a:solidFill>
              </a:rPr>
              <a:t>with Relaxed Functional Dependencies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BCDF6F1C-1969-4CC4-B221-4C39531C85EA}"/>
              </a:ext>
            </a:extLst>
          </p:cNvPr>
          <p:cNvSpPr>
            <a:spLocks noGrp="1"/>
          </p:cNvSpPr>
          <p:nvPr/>
        </p:nvSpPr>
        <p:spPr>
          <a:xfrm>
            <a:off x="723900" y="3181350"/>
            <a:ext cx="7239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0" i="0">
                <a:solidFill>
                  <a:srgbClr val="52636D"/>
                </a:solidFill>
              </a:defRPr>
            </a:pPr>
            <a:r>
              <a:rPr sz="1800" b="0" i="0">
                <a:solidFill>
                  <a:srgbClr val="52636D"/>
                </a:solidFill>
              </a:rPr>
              <a:t>A reproducible analytical workflow for approximate environmental rules</a:t>
            </a:r>
          </a:p>
        </p:txBody>
      </p:sp>
      <p:sp>
        <p:nvSpPr>
          <p:cNvPr id="5" name="Connettore dritto 4">
            <a:extLst>
              <a:ext uri="{FF2B5EF4-FFF2-40B4-BE49-F238E27FC236}">
                <a16:creationId xmlns:a16="http://schemas.microsoft.com/office/drawing/2014/main" id="{0BF20BFD-200B-4283-8579-C2268E28D1AB}"/>
              </a:ext>
            </a:extLst>
          </p:cNvPr>
          <p:cNvSpPr>
            <a:spLocks noGrp="1"/>
          </p:cNvSpPr>
          <p:nvPr/>
        </p:nvSpPr>
        <p:spPr>
          <a:xfrm>
            <a:off x="723900" y="4171950"/>
            <a:ext cx="4000500" cy="0"/>
          </a:xfrm>
          <a:prstGeom prst="line">
            <a:avLst/>
          </a:prstGeom>
          <a:noFill/>
          <a:ln w="19050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5E719168-A47C-4E99-9AEE-8DE026728D4B}"/>
              </a:ext>
            </a:extLst>
          </p:cNvPr>
          <p:cNvSpPr>
            <a:spLocks noGrp="1"/>
          </p:cNvSpPr>
          <p:nvPr/>
        </p:nvSpPr>
        <p:spPr>
          <a:xfrm>
            <a:off x="723900" y="4429125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 i="0">
                <a:solidFill>
                  <a:srgbClr val="13212A"/>
                </a:solidFill>
              </a:defRPr>
            </a:pPr>
            <a:r>
              <a:rPr sz="1800" b="1" i="0">
                <a:solidFill>
                  <a:srgbClr val="13212A"/>
                </a:solidFill>
              </a:rPr>
              <a:t>Matteo Ercolino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D98B714-4BF2-4D7A-92AC-DE6EC2E89DD4}"/>
              </a:ext>
            </a:extLst>
          </p:cNvPr>
          <p:cNvSpPr>
            <a:spLocks noGrp="1"/>
          </p:cNvSpPr>
          <p:nvPr/>
        </p:nvSpPr>
        <p:spPr>
          <a:xfrm>
            <a:off x="723900" y="481965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KDIID · Final project presentation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1DD4F5E-51A4-4D82-827A-19BF376806E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7232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tangolo 17">
            <a:extLst>
              <a:ext uri="{FF2B5EF4-FFF2-40B4-BE49-F238E27FC236}">
                <a16:creationId xmlns:a16="http://schemas.microsoft.com/office/drawing/2014/main" id="{B9CE93DD-86C9-4E0C-8CFC-8B31EAFA2197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E69B0F20-D552-4447-BCE7-6A2859E34DCF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Why deterministic rules are the wrong target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6C331A79-AA85-41C7-B1C4-BCAE8F9E5AB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A7A7E57F-A3EF-434F-81C7-FBE9BD065197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02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2B8857B0-8B50-4011-A7AC-71F55CE066AA}"/>
              </a:ext>
            </a:extLst>
          </p:cNvPr>
          <p:cNvSpPr>
            <a:spLocks noGrp="1"/>
          </p:cNvSpPr>
          <p:nvPr/>
        </p:nvSpPr>
        <p:spPr>
          <a:xfrm>
            <a:off x="666750" y="1790700"/>
            <a:ext cx="3905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100" b="1" i="0">
                <a:solidFill>
                  <a:srgbClr val="13212A"/>
                </a:solidFill>
              </a:defRPr>
            </a:pPr>
            <a:r>
              <a:rPr sz="2100" b="1" i="0">
                <a:solidFill>
                  <a:srgbClr val="13212A"/>
                </a:solidFill>
              </a:rPr>
              <a:t>Urban environmental data are:</a:t>
            </a:r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D2A9DDBB-E4A0-479F-8F83-DF30C5BD20B4}"/>
              </a:ext>
            </a:extLst>
          </p:cNvPr>
          <p:cNvSpPr>
            <a:spLocks noGrp="1"/>
          </p:cNvSpPr>
          <p:nvPr/>
        </p:nvSpPr>
        <p:spPr>
          <a:xfrm>
            <a:off x="742950" y="24860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BD13ABED-63C6-4458-961D-025A7C5AB027}"/>
              </a:ext>
            </a:extLst>
          </p:cNvPr>
          <p:cNvSpPr>
            <a:spLocks noGrp="1"/>
          </p:cNvSpPr>
          <p:nvPr/>
        </p:nvSpPr>
        <p:spPr>
          <a:xfrm>
            <a:off x="971550" y="2400300"/>
            <a:ext cx="453390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noisy and affected by measurement uncertainty</a:t>
            </a:r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9C379CE1-90AC-465F-97B0-2205CECCC690}"/>
              </a:ext>
            </a:extLst>
          </p:cNvPr>
          <p:cNvSpPr>
            <a:spLocks noGrp="1"/>
          </p:cNvSpPr>
          <p:nvPr/>
        </p:nvSpPr>
        <p:spPr>
          <a:xfrm>
            <a:off x="742950" y="32099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4C0CE3B-D180-4F0C-B28D-AE8A4B2DD09B}"/>
              </a:ext>
            </a:extLst>
          </p:cNvPr>
          <p:cNvSpPr>
            <a:spLocks noGrp="1"/>
          </p:cNvSpPr>
          <p:nvPr/>
        </p:nvSpPr>
        <p:spPr>
          <a:xfrm>
            <a:off x="971550" y="3124200"/>
            <a:ext cx="453390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variable across time, sites, and weather conditions</a:t>
            </a: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70E79DB1-209D-4E1D-B7A0-59618D64E9AA}"/>
              </a:ext>
            </a:extLst>
          </p:cNvPr>
          <p:cNvSpPr>
            <a:spLocks noGrp="1"/>
          </p:cNvSpPr>
          <p:nvPr/>
        </p:nvSpPr>
        <p:spPr>
          <a:xfrm>
            <a:off x="742950" y="39338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13203159-0FED-4D11-94CE-BC6C1E0F9194}"/>
              </a:ext>
            </a:extLst>
          </p:cNvPr>
          <p:cNvSpPr>
            <a:spLocks noGrp="1"/>
          </p:cNvSpPr>
          <p:nvPr/>
        </p:nvSpPr>
        <p:spPr>
          <a:xfrm>
            <a:off x="971550" y="3848100"/>
            <a:ext cx="453390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influenced by factors that are not fully observed</a:t>
            </a:r>
          </a:p>
        </p:txBody>
      </p:sp>
      <p:sp>
        <p:nvSpPr>
          <p:cNvPr id="12" name="Connettore dritto 11">
            <a:extLst>
              <a:ext uri="{FF2B5EF4-FFF2-40B4-BE49-F238E27FC236}">
                <a16:creationId xmlns:a16="http://schemas.microsoft.com/office/drawing/2014/main" id="{139F525A-2889-4A65-BAFB-7CA4E072FA1E}"/>
              </a:ext>
            </a:extLst>
          </p:cNvPr>
          <p:cNvSpPr>
            <a:spLocks noGrp="1"/>
          </p:cNvSpPr>
          <p:nvPr/>
        </p:nvSpPr>
        <p:spPr>
          <a:xfrm>
            <a:off x="5953125" y="1857375"/>
            <a:ext cx="0" cy="3143250"/>
          </a:xfrm>
          <a:prstGeom prst="line">
            <a:avLst/>
          </a:prstGeom>
          <a:noFill/>
          <a:ln w="19050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9FBE7C88-1D4A-4798-9348-12770C10F865}"/>
              </a:ext>
            </a:extLst>
          </p:cNvPr>
          <p:cNvSpPr>
            <a:spLocks noGrp="1"/>
          </p:cNvSpPr>
          <p:nvPr/>
        </p:nvSpPr>
        <p:spPr>
          <a:xfrm>
            <a:off x="6572250" y="1809750"/>
            <a:ext cx="4095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100" b="1" i="0">
                <a:solidFill>
                  <a:srgbClr val="167D73"/>
                </a:solidFill>
              </a:defRPr>
            </a:pPr>
            <a:r>
              <a:rPr sz="2100" b="1" i="0">
                <a:solidFill>
                  <a:srgbClr val="167D73"/>
                </a:solidFill>
              </a:rPr>
              <a:t>The analytical question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2E6581D3-12E0-4748-B010-601101E165FA}"/>
              </a:ext>
            </a:extLst>
          </p:cNvPr>
          <p:cNvSpPr>
            <a:spLocks noGrp="1"/>
          </p:cNvSpPr>
          <p:nvPr/>
        </p:nvSpPr>
        <p:spPr>
          <a:xfrm>
            <a:off x="6572250" y="2400300"/>
            <a:ext cx="4381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400" b="1" i="0">
                <a:solidFill>
                  <a:srgbClr val="13212A"/>
                </a:solidFill>
              </a:defRPr>
            </a:pPr>
            <a:r>
              <a:rPr sz="2400" b="1" i="0">
                <a:solidFill>
                  <a:srgbClr val="13212A"/>
                </a:solidFill>
              </a:rPr>
              <a:t>When observations are similar in context and pollutant levels, how often do other measurements remain similar?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2CBC2F86-AD41-4CB6-B428-F36AAEFC8825}"/>
              </a:ext>
            </a:extLst>
          </p:cNvPr>
          <p:cNvSpPr>
            <a:spLocks noGrp="1"/>
          </p:cNvSpPr>
          <p:nvPr/>
        </p:nvSpPr>
        <p:spPr>
          <a:xfrm>
            <a:off x="6572250" y="4267200"/>
            <a:ext cx="4095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0" i="0">
                <a:solidFill>
                  <a:srgbClr val="52636D"/>
                </a:solidFill>
              </a:defRPr>
            </a:pPr>
            <a:r>
              <a:rPr sz="1725" b="0" i="0">
                <a:solidFill>
                  <a:srgbClr val="52636D"/>
                </a:solidFill>
              </a:rPr>
              <a:t>Measure approximate regularity—without forcing exact laws.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0B722DF9-6A94-4A01-B450-3CCB46E1B21B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58E6875D-A188-42A0-89CD-E96F25D1D881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The goal is to quantify approximate consistency, not to predict outcomes or prove causality.</a:t>
            </a:r>
          </a:p>
        </p:txBody>
      </p:sp>
    </p:spTree>
    <p:extLst>
      <p:ext uri="{BB962C8B-B14F-4D97-AF65-F5344CB8AC3E}">
        <p14:creationId xmlns:p14="http://schemas.microsoft.com/office/powerpoint/2010/main" val="550187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ttangolo 28">
            <a:extLst>
              <a:ext uri="{FF2B5EF4-FFF2-40B4-BE49-F238E27FC236}">
                <a16:creationId xmlns:a16="http://schemas.microsoft.com/office/drawing/2014/main" id="{AF256C6B-AD76-4B95-8EFB-E2C928DC03A0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1D6E3C9B-D31B-4416-8EAD-D133438D4F62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A conceptual Urban Digital Twin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E8E6D88E-1CAC-4F77-B94F-5282D99A601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7830003F-3EBA-4265-88B6-C26343FF2B8B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03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3A9A00AB-EF0E-41A2-98AB-F5A1E919BB94}"/>
              </a:ext>
            </a:extLst>
          </p:cNvPr>
          <p:cNvSpPr>
            <a:spLocks noGrp="1"/>
          </p:cNvSpPr>
          <p:nvPr/>
        </p:nvSpPr>
        <p:spPr>
          <a:xfrm>
            <a:off x="609600" y="1685925"/>
            <a:ext cx="8096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0" i="0">
                <a:solidFill>
                  <a:srgbClr val="52636D"/>
                </a:solidFill>
              </a:defRPr>
            </a:pPr>
            <a:r>
              <a:rPr sz="1875" b="0" i="0">
                <a:solidFill>
                  <a:srgbClr val="52636D"/>
                </a:solidFill>
              </a:rPr>
              <a:t>The Digital Twin is a framing device for an analytical loop:</a:t>
            </a:r>
          </a:p>
        </p:txBody>
      </p:sp>
      <p:sp>
        <p:nvSpPr>
          <p:cNvPr id="6" name="Freccia destra 5">
            <a:extLst>
              <a:ext uri="{FF2B5EF4-FFF2-40B4-BE49-F238E27FC236}">
                <a16:creationId xmlns:a16="http://schemas.microsoft.com/office/drawing/2014/main" id="{60E171D5-4FAD-4B75-9337-8C0B17E98358}"/>
              </a:ext>
            </a:extLst>
          </p:cNvPr>
          <p:cNvSpPr>
            <a:spLocks noGrp="1"/>
          </p:cNvSpPr>
          <p:nvPr/>
        </p:nvSpPr>
        <p:spPr>
          <a:xfrm>
            <a:off x="2686050" y="3028950"/>
            <a:ext cx="590550" cy="32385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Freccia destra 6">
            <a:extLst>
              <a:ext uri="{FF2B5EF4-FFF2-40B4-BE49-F238E27FC236}">
                <a16:creationId xmlns:a16="http://schemas.microsoft.com/office/drawing/2014/main" id="{1F62CBA9-D1A3-4CB7-8353-DAC4083A8467}"/>
              </a:ext>
            </a:extLst>
          </p:cNvPr>
          <p:cNvSpPr>
            <a:spLocks noGrp="1"/>
          </p:cNvSpPr>
          <p:nvPr/>
        </p:nvSpPr>
        <p:spPr>
          <a:xfrm>
            <a:off x="5391150" y="3028950"/>
            <a:ext cx="590550" cy="32385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Freccia destra 7">
            <a:extLst>
              <a:ext uri="{FF2B5EF4-FFF2-40B4-BE49-F238E27FC236}">
                <a16:creationId xmlns:a16="http://schemas.microsoft.com/office/drawing/2014/main" id="{28862123-F1A6-4E40-92F7-0E4ABFDD0DE4}"/>
              </a:ext>
            </a:extLst>
          </p:cNvPr>
          <p:cNvSpPr>
            <a:spLocks noGrp="1"/>
          </p:cNvSpPr>
          <p:nvPr/>
        </p:nvSpPr>
        <p:spPr>
          <a:xfrm>
            <a:off x="8096250" y="3028950"/>
            <a:ext cx="590550" cy="32385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F1E33EF5-F45E-4062-B7EC-41497038CFB3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2095500" cy="1619250"/>
          </a:xfrm>
          <a:prstGeom prst="roundRect">
            <a:avLst>
              <a:gd name="adj" fmla="val 7059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6D897D85-45B3-41A1-875D-DB21F48FDF2F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01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D7CA4BF-A71E-47A8-B7D1-01C28E3D7995}"/>
              </a:ext>
            </a:extLst>
          </p:cNvPr>
          <p:cNvSpPr>
            <a:spLocks noGrp="1"/>
          </p:cNvSpPr>
          <p:nvPr/>
        </p:nvSpPr>
        <p:spPr>
          <a:xfrm>
            <a:off x="857250" y="2943225"/>
            <a:ext cx="1762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HISTORICAL DATA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5E8FCAB-3D93-4FCE-A498-77F911091E4B}"/>
              </a:ext>
            </a:extLst>
          </p:cNvPr>
          <p:cNvSpPr>
            <a:spLocks noGrp="1"/>
          </p:cNvSpPr>
          <p:nvPr/>
        </p:nvSpPr>
        <p:spPr>
          <a:xfrm>
            <a:off x="857250" y="3457575"/>
            <a:ext cx="1762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Two stations, pollutants, meteorology</a:t>
            </a: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158BF771-D80B-4F31-9F89-00F2F1F4E55D}"/>
              </a:ext>
            </a:extLst>
          </p:cNvPr>
          <p:cNvSpPr>
            <a:spLocks noGrp="1"/>
          </p:cNvSpPr>
          <p:nvPr/>
        </p:nvSpPr>
        <p:spPr>
          <a:xfrm>
            <a:off x="3390900" y="2400300"/>
            <a:ext cx="2095500" cy="1619250"/>
          </a:xfrm>
          <a:prstGeom prst="roundRect">
            <a:avLst>
              <a:gd name="adj" fmla="val 7059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28D350C-DA36-444F-88CE-8797A59F7294}"/>
              </a:ext>
            </a:extLst>
          </p:cNvPr>
          <p:cNvSpPr>
            <a:spLocks noGrp="1"/>
          </p:cNvSpPr>
          <p:nvPr/>
        </p:nvSpPr>
        <p:spPr>
          <a:xfrm>
            <a:off x="3562350" y="257175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02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B4ED0673-0126-4235-BD55-0C66625CF6DB}"/>
              </a:ext>
            </a:extLst>
          </p:cNvPr>
          <p:cNvSpPr>
            <a:spLocks noGrp="1"/>
          </p:cNvSpPr>
          <p:nvPr/>
        </p:nvSpPr>
        <p:spPr>
          <a:xfrm>
            <a:off x="3562350" y="2943225"/>
            <a:ext cx="1762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APPROXIMATE RULES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FCEDC8C9-67BD-4A1F-BB42-78E66AD2310B}"/>
              </a:ext>
            </a:extLst>
          </p:cNvPr>
          <p:cNvSpPr>
            <a:spLocks noGrp="1"/>
          </p:cNvSpPr>
          <p:nvPr/>
        </p:nvSpPr>
        <p:spPr>
          <a:xfrm>
            <a:off x="3562350" y="3457575"/>
            <a:ext cx="1762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RFDs describe expected similarity</a:t>
            </a:r>
          </a:p>
        </p:txBody>
      </p: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9FC37396-DC6E-49A6-B2E7-D2023A03A627}"/>
              </a:ext>
            </a:extLst>
          </p:cNvPr>
          <p:cNvSpPr>
            <a:spLocks noGrp="1"/>
          </p:cNvSpPr>
          <p:nvPr/>
        </p:nvSpPr>
        <p:spPr>
          <a:xfrm>
            <a:off x="6096000" y="2400300"/>
            <a:ext cx="2095500" cy="1619250"/>
          </a:xfrm>
          <a:prstGeom prst="roundRect">
            <a:avLst>
              <a:gd name="adj" fmla="val 7059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A8406D7C-B986-4AF3-A54E-83AA21B6F72D}"/>
              </a:ext>
            </a:extLst>
          </p:cNvPr>
          <p:cNvSpPr>
            <a:spLocks noGrp="1"/>
          </p:cNvSpPr>
          <p:nvPr/>
        </p:nvSpPr>
        <p:spPr>
          <a:xfrm>
            <a:off x="6267450" y="257175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03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FD24FF9C-A3A7-4CEF-9DCE-D1DA9E71485E}"/>
              </a:ext>
            </a:extLst>
          </p:cNvPr>
          <p:cNvSpPr>
            <a:spLocks noGrp="1"/>
          </p:cNvSpPr>
          <p:nvPr/>
        </p:nvSpPr>
        <p:spPr>
          <a:xfrm>
            <a:off x="6267450" y="2943225"/>
            <a:ext cx="1762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VIOLATIONS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012FE7C5-521B-415B-8A8A-2B7EEC05F04C}"/>
              </a:ext>
            </a:extLst>
          </p:cNvPr>
          <p:cNvSpPr>
            <a:spLocks noGrp="1"/>
          </p:cNvSpPr>
          <p:nvPr/>
        </p:nvSpPr>
        <p:spPr>
          <a:xfrm>
            <a:off x="6267450" y="3457575"/>
            <a:ext cx="1762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Cases that break the expected pattern</a:t>
            </a:r>
          </a:p>
        </p:txBody>
      </p:sp>
      <p:sp>
        <p:nvSpPr>
          <p:cNvPr id="21" name="Rettangolo con angoli arrotondati 20">
            <a:extLst>
              <a:ext uri="{FF2B5EF4-FFF2-40B4-BE49-F238E27FC236}">
                <a16:creationId xmlns:a16="http://schemas.microsoft.com/office/drawing/2014/main" id="{312468F4-67C3-446D-8922-1B283EE1045B}"/>
              </a:ext>
            </a:extLst>
          </p:cNvPr>
          <p:cNvSpPr>
            <a:spLocks noGrp="1"/>
          </p:cNvSpPr>
          <p:nvPr/>
        </p:nvSpPr>
        <p:spPr>
          <a:xfrm>
            <a:off x="8801100" y="2400300"/>
            <a:ext cx="2095500" cy="1619250"/>
          </a:xfrm>
          <a:prstGeom prst="roundRect">
            <a:avLst>
              <a:gd name="adj" fmla="val 7059"/>
            </a:avLst>
          </a:prstGeom>
          <a:solidFill>
            <a:srgbClr val="D9EFEC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B9F606A0-76FB-4BB4-B517-18D4B20C9761}"/>
              </a:ext>
            </a:extLst>
          </p:cNvPr>
          <p:cNvSpPr>
            <a:spLocks noGrp="1"/>
          </p:cNvSpPr>
          <p:nvPr/>
        </p:nvSpPr>
        <p:spPr>
          <a:xfrm>
            <a:off x="8972550" y="257175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04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5B613A06-DCB3-45E0-84EB-0488E9741C5D}"/>
              </a:ext>
            </a:extLst>
          </p:cNvPr>
          <p:cNvSpPr>
            <a:spLocks noGrp="1"/>
          </p:cNvSpPr>
          <p:nvPr/>
        </p:nvSpPr>
        <p:spPr>
          <a:xfrm>
            <a:off x="8972550" y="2943225"/>
            <a:ext cx="1762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MONITORING</a:t>
            </a:r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33A70CD8-9182-4AF8-873B-4D0003B08369}"/>
              </a:ext>
            </a:extLst>
          </p:cNvPr>
          <p:cNvSpPr>
            <a:spLocks noGrp="1"/>
          </p:cNvSpPr>
          <p:nvPr/>
        </p:nvSpPr>
        <p:spPr>
          <a:xfrm>
            <a:off x="8972550" y="3457575"/>
            <a:ext cx="1762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Monthly metrics reveal regime changes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E4E47C6E-DC4B-4736-9748-849E63CFF8A0}"/>
              </a:ext>
            </a:extLst>
          </p:cNvPr>
          <p:cNvSpPr>
            <a:spLocks noGrp="1"/>
          </p:cNvSpPr>
          <p:nvPr/>
        </p:nvSpPr>
        <p:spPr>
          <a:xfrm>
            <a:off x="685800" y="4524375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 i="0">
                <a:solidFill>
                  <a:srgbClr val="B5534A"/>
                </a:solidFill>
              </a:defRPr>
            </a:pPr>
            <a:r>
              <a:rPr sz="1500" b="1" i="0">
                <a:solidFill>
                  <a:srgbClr val="B5534A"/>
                </a:solidFill>
              </a:rPr>
              <a:t>Not built here</a:t>
            </a:r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880E2F5A-2084-44DF-B470-B7F0710628C1}"/>
              </a:ext>
            </a:extLst>
          </p:cNvPr>
          <p:cNvSpPr>
            <a:spLocks noGrp="1"/>
          </p:cNvSpPr>
          <p:nvPr/>
        </p:nvSpPr>
        <p:spPr>
          <a:xfrm>
            <a:off x="2286000" y="4524375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3D platform · real-time infrastructure · operational control system</a:t>
            </a:r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E7629B46-B38D-4077-9100-39F900E520F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36A071C9-05D8-4AFC-BE8E-DE8F8B05BCEA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The contribution is a reproducible analytical workflow—not a 3D or real-time platform.</a:t>
            </a:r>
          </a:p>
        </p:txBody>
      </p:sp>
    </p:spTree>
    <p:extLst>
      <p:ext uri="{BB962C8B-B14F-4D97-AF65-F5344CB8AC3E}">
        <p14:creationId xmlns:p14="http://schemas.microsoft.com/office/powerpoint/2010/main" val="1463235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ttangolo 22">
            <a:extLst>
              <a:ext uri="{FF2B5EF4-FFF2-40B4-BE49-F238E27FC236}">
                <a16:creationId xmlns:a16="http://schemas.microsoft.com/office/drawing/2014/main" id="{DEEA68EE-244B-4848-B5D7-4A7E81DED60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2F1E798E-922F-4235-B147-59F862DB491E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 dirty="0">
                <a:solidFill>
                  <a:srgbClr val="13212A"/>
                </a:solidFill>
              </a:rPr>
              <a:t>Dataset design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172B951B-68CD-4530-B1F7-079D79CB065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021F9FA5-4FC5-47BE-B987-5299ED0C51C2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04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B88370D8-7376-4469-96DA-6E1EC5AA08F3}"/>
              </a:ext>
            </a:extLst>
          </p:cNvPr>
          <p:cNvSpPr>
            <a:spLocks noGrp="1"/>
          </p:cNvSpPr>
          <p:nvPr/>
        </p:nvSpPr>
        <p:spPr>
          <a:xfrm>
            <a:off x="628650" y="1657350"/>
            <a:ext cx="590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100" b="1" i="0">
                <a:solidFill>
                  <a:srgbClr val="13212A"/>
                </a:solidFill>
              </a:defRPr>
            </a:pPr>
            <a:r>
              <a:rPr sz="2100" b="1" i="0">
                <a:solidFill>
                  <a:srgbClr val="13212A"/>
                </a:solidFill>
              </a:rPr>
              <a:t>Beijing Multi-Site Air Quality Data Set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57B3A8F-121A-4E35-BBCF-D54D87FE855B}"/>
              </a:ext>
            </a:extLst>
          </p:cNvPr>
          <p:cNvSpPr>
            <a:spLocks noGrp="1"/>
          </p:cNvSpPr>
          <p:nvPr/>
        </p:nvSpPr>
        <p:spPr>
          <a:xfrm>
            <a:off x="628650" y="211455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0" i="0">
                <a:solidFill>
                  <a:srgbClr val="52636D"/>
                </a:solidFill>
              </a:defRPr>
            </a:pPr>
            <a:r>
              <a:rPr sz="1650" b="0" i="0">
                <a:solidFill>
                  <a:srgbClr val="52636D"/>
                </a:solidFill>
              </a:rPr>
              <a:t>Aotizhongxin + Changping · March 2013–February 2017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8363E62F-48B6-4F47-9DFC-332A5B697A3C}"/>
              </a:ext>
            </a:extLst>
          </p:cNvPr>
          <p:cNvSpPr>
            <a:spLocks noGrp="1"/>
          </p:cNvSpPr>
          <p:nvPr/>
        </p:nvSpPr>
        <p:spPr>
          <a:xfrm>
            <a:off x="666750" y="3009900"/>
            <a:ext cx="238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900" b="1" i="0">
                <a:solidFill>
                  <a:srgbClr val="13212A"/>
                </a:solidFill>
              </a:defRPr>
            </a:pPr>
            <a:r>
              <a:rPr sz="3900" b="1" i="0">
                <a:solidFill>
                  <a:srgbClr val="13212A"/>
                </a:solidFill>
              </a:rPr>
              <a:t>66,619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A4842A12-DE23-4CCD-93FD-DD1189EC876E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2238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clean observations</a:t>
            </a:r>
          </a:p>
        </p:txBody>
      </p:sp>
      <p:sp>
        <p:nvSpPr>
          <p:cNvPr id="9" name="Connettore dritto 8">
            <a:extLst>
              <a:ext uri="{FF2B5EF4-FFF2-40B4-BE49-F238E27FC236}">
                <a16:creationId xmlns:a16="http://schemas.microsoft.com/office/drawing/2014/main" id="{40108491-AC85-4ACE-B264-CFBF7CFB3EAD}"/>
              </a:ext>
            </a:extLst>
          </p:cNvPr>
          <p:cNvSpPr>
            <a:spLocks noGrp="1"/>
          </p:cNvSpPr>
          <p:nvPr/>
        </p:nvSpPr>
        <p:spPr>
          <a:xfrm>
            <a:off x="3124200" y="3095625"/>
            <a:ext cx="0" cy="95250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13C2F390-12E0-41CA-BDDB-D4C3F38C4E93}"/>
              </a:ext>
            </a:extLst>
          </p:cNvPr>
          <p:cNvSpPr>
            <a:spLocks noGrp="1"/>
          </p:cNvSpPr>
          <p:nvPr/>
        </p:nvSpPr>
        <p:spPr>
          <a:xfrm>
            <a:off x="3448050" y="3009900"/>
            <a:ext cx="238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900" b="1" i="0">
                <a:solidFill>
                  <a:srgbClr val="13212A"/>
                </a:solidFill>
              </a:defRPr>
            </a:pPr>
            <a:r>
              <a:rPr sz="3900" b="1" i="0">
                <a:solidFill>
                  <a:srgbClr val="13212A"/>
                </a:solidFill>
              </a:rPr>
              <a:t>11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215E8878-2FB8-4BCA-822F-BD13D97B9D22}"/>
              </a:ext>
            </a:extLst>
          </p:cNvPr>
          <p:cNvSpPr>
            <a:spLocks noGrp="1"/>
          </p:cNvSpPr>
          <p:nvPr/>
        </p:nvSpPr>
        <p:spPr>
          <a:xfrm>
            <a:off x="3448050" y="3714750"/>
            <a:ext cx="2238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final variables</a:t>
            </a:r>
          </a:p>
        </p:txBody>
      </p:sp>
      <p:sp>
        <p:nvSpPr>
          <p:cNvPr id="12" name="Connettore dritto 11">
            <a:extLst>
              <a:ext uri="{FF2B5EF4-FFF2-40B4-BE49-F238E27FC236}">
                <a16:creationId xmlns:a16="http://schemas.microsoft.com/office/drawing/2014/main" id="{F5E6FF49-C51F-4F11-89BC-27F7B1EA0A0C}"/>
              </a:ext>
            </a:extLst>
          </p:cNvPr>
          <p:cNvSpPr>
            <a:spLocks noGrp="1"/>
          </p:cNvSpPr>
          <p:nvPr/>
        </p:nvSpPr>
        <p:spPr>
          <a:xfrm>
            <a:off x="5905500" y="3095625"/>
            <a:ext cx="0" cy="95250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A34DF95E-DA68-4843-AA18-DA5E1850423F}"/>
              </a:ext>
            </a:extLst>
          </p:cNvPr>
          <p:cNvSpPr>
            <a:spLocks noGrp="1"/>
          </p:cNvSpPr>
          <p:nvPr/>
        </p:nvSpPr>
        <p:spPr>
          <a:xfrm>
            <a:off x="6229350" y="3009900"/>
            <a:ext cx="238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900" b="1" i="0">
                <a:solidFill>
                  <a:srgbClr val="167D73"/>
                </a:solidFill>
              </a:defRPr>
            </a:pPr>
            <a:r>
              <a:rPr sz="3900" b="1" i="0">
                <a:solidFill>
                  <a:srgbClr val="167D73"/>
                </a:solidFill>
              </a:rPr>
              <a:t>1,676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DC7AC04B-27B9-4EBF-A4B5-EFFA7C4964E4}"/>
              </a:ext>
            </a:extLst>
          </p:cNvPr>
          <p:cNvSpPr>
            <a:spLocks noGrp="1"/>
          </p:cNvSpPr>
          <p:nvPr/>
        </p:nvSpPr>
        <p:spPr>
          <a:xfrm>
            <a:off x="6229350" y="3714750"/>
            <a:ext cx="2238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weekly profiles</a:t>
            </a:r>
          </a:p>
        </p:txBody>
      </p:sp>
      <p:sp>
        <p:nvSpPr>
          <p:cNvPr id="15" name="Connettore dritto 14">
            <a:extLst>
              <a:ext uri="{FF2B5EF4-FFF2-40B4-BE49-F238E27FC236}">
                <a16:creationId xmlns:a16="http://schemas.microsoft.com/office/drawing/2014/main" id="{34E47953-3612-49E1-A8F2-269578B94895}"/>
              </a:ext>
            </a:extLst>
          </p:cNvPr>
          <p:cNvSpPr>
            <a:spLocks noGrp="1"/>
          </p:cNvSpPr>
          <p:nvPr/>
        </p:nvSpPr>
        <p:spPr>
          <a:xfrm>
            <a:off x="8686800" y="3095625"/>
            <a:ext cx="0" cy="95250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8C9FECB5-A994-4185-90DE-363D48B91DB6}"/>
              </a:ext>
            </a:extLst>
          </p:cNvPr>
          <p:cNvSpPr>
            <a:spLocks noGrp="1"/>
          </p:cNvSpPr>
          <p:nvPr/>
        </p:nvSpPr>
        <p:spPr>
          <a:xfrm>
            <a:off x="9010650" y="3009900"/>
            <a:ext cx="238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150" b="1" i="0">
                <a:solidFill>
                  <a:srgbClr val="13212A"/>
                </a:solidFill>
              </a:defRPr>
            </a:pPr>
            <a:r>
              <a:rPr sz="3150" b="1" i="0">
                <a:solidFill>
                  <a:srgbClr val="13212A"/>
                </a:solidFill>
              </a:rPr>
              <a:t>1,403,650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FA320A91-43BA-4044-862E-28A3F0BE0D63}"/>
              </a:ext>
            </a:extLst>
          </p:cNvPr>
          <p:cNvSpPr>
            <a:spLocks noGrp="1"/>
          </p:cNvSpPr>
          <p:nvPr/>
        </p:nvSpPr>
        <p:spPr>
          <a:xfrm>
            <a:off x="9010650" y="3714750"/>
            <a:ext cx="2238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pairwise comparisons</a:t>
            </a:r>
          </a:p>
        </p:txBody>
      </p:sp>
      <p:sp>
        <p:nvSpPr>
          <p:cNvPr id="18" name="Rettangolo con angoli arrotondati 17">
            <a:extLst>
              <a:ext uri="{FF2B5EF4-FFF2-40B4-BE49-F238E27FC236}">
                <a16:creationId xmlns:a16="http://schemas.microsoft.com/office/drawing/2014/main" id="{6789DC72-C878-4F7D-B242-36D083CB7570}"/>
              </a:ext>
            </a:extLst>
          </p:cNvPr>
          <p:cNvSpPr>
            <a:spLocks noGrp="1"/>
          </p:cNvSpPr>
          <p:nvPr/>
        </p:nvSpPr>
        <p:spPr>
          <a:xfrm>
            <a:off x="647700" y="4591050"/>
            <a:ext cx="10572750" cy="895350"/>
          </a:xfrm>
          <a:prstGeom prst="roundRect">
            <a:avLst>
              <a:gd name="adj" fmla="val 12766"/>
            </a:avLst>
          </a:prstGeom>
          <a:solidFill>
            <a:srgbClr val="EEF4F3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8983F0F7-FF66-4364-AC33-350A27130A0D}"/>
              </a:ext>
            </a:extLst>
          </p:cNvPr>
          <p:cNvSpPr>
            <a:spLocks noGrp="1"/>
          </p:cNvSpPr>
          <p:nvPr/>
        </p:nvSpPr>
        <p:spPr>
          <a:xfrm>
            <a:off x="876300" y="4772025"/>
            <a:ext cx="2143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 i="0">
                <a:solidFill>
                  <a:srgbClr val="167D73"/>
                </a:solidFill>
              </a:defRPr>
            </a:pPr>
            <a:r>
              <a:rPr sz="1500" b="1" i="0">
                <a:solidFill>
                  <a:srgbClr val="167D73"/>
                </a:solidFill>
              </a:rPr>
              <a:t>Missing-value policy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2D046DE7-07DC-43A0-80FF-81FEBB2E6975}"/>
              </a:ext>
            </a:extLst>
          </p:cNvPr>
          <p:cNvSpPr>
            <a:spLocks noGrp="1"/>
          </p:cNvSpPr>
          <p:nvPr/>
        </p:nvSpPr>
        <p:spPr>
          <a:xfrm>
            <a:off x="3048000" y="4743450"/>
            <a:ext cx="7810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summarize missingness → drop incomplete rows on selected columns → no imputation</a:t>
            </a: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C88CE2E9-C054-4372-8D18-A1AE3F34F58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96D34556-3AD5-4BF4-8665-9627A0028627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All 66,619 rows feed weekly station × time-slot medians; DiMε uses eight projected attributes.</a:t>
            </a:r>
          </a:p>
        </p:txBody>
      </p:sp>
    </p:spTree>
    <p:extLst>
      <p:ext uri="{BB962C8B-B14F-4D97-AF65-F5344CB8AC3E}">
        <p14:creationId xmlns:p14="http://schemas.microsoft.com/office/powerpoint/2010/main" val="1925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tangolo 17">
            <a:extLst>
              <a:ext uri="{FF2B5EF4-FFF2-40B4-BE49-F238E27FC236}">
                <a16:creationId xmlns:a16="http://schemas.microsoft.com/office/drawing/2014/main" id="{297BB717-9FA0-4F93-93B3-B7FF9C88F591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DA3DDEE5-9EB5-4424-BB40-5438AACC08A6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From exact equality to expected similarity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FE7C7AE9-2537-4F16-9704-C2DF24E7276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841304AD-9C2C-48B7-9CB3-DA7CE5B584AF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05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BFEFC9EF-8467-4396-8B01-4780231DD3C2}"/>
              </a:ext>
            </a:extLst>
          </p:cNvPr>
          <p:cNvSpPr>
            <a:spLocks noGrp="1"/>
          </p:cNvSpPr>
          <p:nvPr/>
        </p:nvSpPr>
        <p:spPr>
          <a:xfrm>
            <a:off x="857250" y="18478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52636D"/>
                </a:solidFill>
              </a:defRPr>
            </a:pPr>
            <a:r>
              <a:rPr sz="1650" b="1" i="0">
                <a:solidFill>
                  <a:srgbClr val="52636D"/>
                </a:solidFill>
              </a:rPr>
              <a:t>CLASSICAL FD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008CD983-5F36-4FD0-9606-DF3AA33830AC}"/>
              </a:ext>
            </a:extLst>
          </p:cNvPr>
          <p:cNvSpPr>
            <a:spLocks noGrp="1"/>
          </p:cNvSpPr>
          <p:nvPr/>
        </p:nvSpPr>
        <p:spPr>
          <a:xfrm>
            <a:off x="1123950" y="2457450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3750" b="1" i="0">
                <a:solidFill>
                  <a:srgbClr val="13212A"/>
                </a:solidFill>
              </a:defRPr>
            </a:pPr>
            <a:r>
              <a:rPr sz="3750" b="1" i="0">
                <a:solidFill>
                  <a:srgbClr val="13212A"/>
                </a:solidFill>
              </a:rPr>
              <a:t>X₁ = X₂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C6908D5E-CB25-4193-ACCF-2DB3E88C9AD5}"/>
              </a:ext>
            </a:extLst>
          </p:cNvPr>
          <p:cNvSpPr>
            <a:spLocks noGrp="1"/>
          </p:cNvSpPr>
          <p:nvPr/>
        </p:nvSpPr>
        <p:spPr>
          <a:xfrm>
            <a:off x="1123950" y="3209925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implies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6FF0AA33-874C-4031-B527-D561FD249C2C}"/>
              </a:ext>
            </a:extLst>
          </p:cNvPr>
          <p:cNvSpPr>
            <a:spLocks noGrp="1"/>
          </p:cNvSpPr>
          <p:nvPr/>
        </p:nvSpPr>
        <p:spPr>
          <a:xfrm>
            <a:off x="1123950" y="3619500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3750" b="1" i="0">
                <a:solidFill>
                  <a:srgbClr val="13212A"/>
                </a:solidFill>
              </a:defRPr>
            </a:pPr>
            <a:r>
              <a:rPr sz="3750" b="1" i="0">
                <a:solidFill>
                  <a:srgbClr val="13212A"/>
                </a:solidFill>
              </a:rPr>
              <a:t>Y₁ = Y₂</a:t>
            </a:r>
          </a:p>
        </p:txBody>
      </p:sp>
      <p:sp>
        <p:nvSpPr>
          <p:cNvPr id="9" name="Connettore dritto 8">
            <a:extLst>
              <a:ext uri="{FF2B5EF4-FFF2-40B4-BE49-F238E27FC236}">
                <a16:creationId xmlns:a16="http://schemas.microsoft.com/office/drawing/2014/main" id="{AEC74B98-F23F-4E24-97DC-28E1EC82FE87}"/>
              </a:ext>
            </a:extLst>
          </p:cNvPr>
          <p:cNvSpPr>
            <a:spLocks noGrp="1"/>
          </p:cNvSpPr>
          <p:nvPr/>
        </p:nvSpPr>
        <p:spPr>
          <a:xfrm>
            <a:off x="5924550" y="1905000"/>
            <a:ext cx="0" cy="2952750"/>
          </a:xfrm>
          <a:prstGeom prst="line">
            <a:avLst/>
          </a:prstGeom>
          <a:noFill/>
          <a:ln w="19050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5A174B74-F251-4269-BDFE-F74005C7EB39}"/>
              </a:ext>
            </a:extLst>
          </p:cNvPr>
          <p:cNvSpPr>
            <a:spLocks noGrp="1"/>
          </p:cNvSpPr>
          <p:nvPr/>
        </p:nvSpPr>
        <p:spPr>
          <a:xfrm>
            <a:off x="7096125" y="18478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67D73"/>
                </a:solidFill>
              </a:defRPr>
            </a:pPr>
            <a:r>
              <a:rPr sz="1650" b="1" i="0">
                <a:solidFill>
                  <a:srgbClr val="167D73"/>
                </a:solidFill>
              </a:rPr>
              <a:t>RELAXED FD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FDC25815-7D71-433D-A6AD-D8830496531A}"/>
              </a:ext>
            </a:extLst>
          </p:cNvPr>
          <p:cNvSpPr>
            <a:spLocks noGrp="1"/>
          </p:cNvSpPr>
          <p:nvPr/>
        </p:nvSpPr>
        <p:spPr>
          <a:xfrm>
            <a:off x="7391400" y="2457450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3750" b="1" i="0">
                <a:solidFill>
                  <a:srgbClr val="167D73"/>
                </a:solidFill>
              </a:defRPr>
            </a:pPr>
            <a:r>
              <a:rPr sz="3750" b="1" i="0">
                <a:solidFill>
                  <a:srgbClr val="167D73"/>
                </a:solidFill>
              </a:rPr>
              <a:t>X₁ ≈ X₂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5D9F68C-0FBC-4229-B2D4-402FA073FA0E}"/>
              </a:ext>
            </a:extLst>
          </p:cNvPr>
          <p:cNvSpPr>
            <a:spLocks noGrp="1"/>
          </p:cNvSpPr>
          <p:nvPr/>
        </p:nvSpPr>
        <p:spPr>
          <a:xfrm>
            <a:off x="6953250" y="3209925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implies expected similarity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8027B62F-89E7-4D50-B39E-7814660B5048}"/>
              </a:ext>
            </a:extLst>
          </p:cNvPr>
          <p:cNvSpPr>
            <a:spLocks noGrp="1"/>
          </p:cNvSpPr>
          <p:nvPr/>
        </p:nvSpPr>
        <p:spPr>
          <a:xfrm>
            <a:off x="7391400" y="3619500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3750" b="1" i="0">
                <a:solidFill>
                  <a:srgbClr val="167D73"/>
                </a:solidFill>
              </a:defRPr>
            </a:pPr>
            <a:r>
              <a:rPr sz="3750" b="1" i="0">
                <a:solidFill>
                  <a:srgbClr val="167D73"/>
                </a:solidFill>
              </a:rPr>
              <a:t>Y₁ ≈ Y₂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37F56AFD-7ED5-46F6-B176-1F7B57BD59F6}"/>
              </a:ext>
            </a:extLst>
          </p:cNvPr>
          <p:cNvSpPr>
            <a:spLocks noGrp="1"/>
          </p:cNvSpPr>
          <p:nvPr/>
        </p:nvSpPr>
        <p:spPr>
          <a:xfrm>
            <a:off x="1123950" y="44767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 i="0">
                <a:solidFill>
                  <a:srgbClr val="B5534A"/>
                </a:solidFill>
              </a:defRPr>
            </a:pPr>
            <a:r>
              <a:rPr sz="1350" b="0" i="0">
                <a:solidFill>
                  <a:srgbClr val="B5534A"/>
                </a:solidFill>
              </a:rPr>
              <a:t>exact constraints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1EB10DAF-85E9-443A-A1E8-28584CE6C622}"/>
              </a:ext>
            </a:extLst>
          </p:cNvPr>
          <p:cNvSpPr>
            <a:spLocks noGrp="1"/>
          </p:cNvSpPr>
          <p:nvPr/>
        </p:nvSpPr>
        <p:spPr>
          <a:xfrm>
            <a:off x="7010400" y="4476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 i="0">
                <a:solidFill>
                  <a:srgbClr val="2D6278"/>
                </a:solidFill>
              </a:defRPr>
            </a:pPr>
            <a:r>
              <a:rPr sz="1350" b="0" i="0">
                <a:solidFill>
                  <a:srgbClr val="2D6278"/>
                </a:solidFill>
              </a:rPr>
              <a:t>threshold-based regularities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F1C427D4-8534-4A7E-9D2F-B2330CE0ED0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32ED6960-B3BF-4184-AB96-7F91682B3F27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RFDs match noisy environmental observations better than deterministic functional dependencies.</a:t>
            </a:r>
          </a:p>
        </p:txBody>
      </p:sp>
    </p:spTree>
    <p:extLst>
      <p:ext uri="{BB962C8B-B14F-4D97-AF65-F5344CB8AC3E}">
        <p14:creationId xmlns:p14="http://schemas.microsoft.com/office/powerpoint/2010/main" val="19916557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ttangolo 29">
            <a:extLst>
              <a:ext uri="{FF2B5EF4-FFF2-40B4-BE49-F238E27FC236}">
                <a16:creationId xmlns:a16="http://schemas.microsoft.com/office/drawing/2014/main" id="{A19AF853-028A-46B3-93CA-B16EDD82FCB9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90DB087E-B655-4705-9147-F4B8AC818299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How similarity is defined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B04AEE10-FA80-4DBB-A7CC-E5CC388B84D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DF3DB3C0-4A10-45DF-A55E-B1B769E90D5C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06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182A8A5E-799D-4D43-960E-B0BBC1C89F79}"/>
              </a:ext>
            </a:extLst>
          </p:cNvPr>
          <p:cNvSpPr>
            <a:spLocks noGrp="1"/>
          </p:cNvSpPr>
          <p:nvPr/>
        </p:nvSpPr>
        <p:spPr>
          <a:xfrm>
            <a:off x="723900" y="1762125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 i="0">
                <a:solidFill>
                  <a:srgbClr val="167D73"/>
                </a:solidFill>
              </a:defRPr>
            </a:pPr>
            <a:r>
              <a:rPr sz="1500" b="1" i="0">
                <a:solidFill>
                  <a:srgbClr val="167D73"/>
                </a:solidFill>
              </a:rPr>
              <a:t>CATEGORICAL ATTRIBUTES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4AE746E-187B-4CF0-8486-F6873212594C}"/>
              </a:ext>
            </a:extLst>
          </p:cNvPr>
          <p:cNvSpPr>
            <a:spLocks noGrp="1"/>
          </p:cNvSpPr>
          <p:nvPr/>
        </p:nvSpPr>
        <p:spPr>
          <a:xfrm>
            <a:off x="723900" y="2209800"/>
            <a:ext cx="3905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 i="0">
                <a:solidFill>
                  <a:srgbClr val="13212A"/>
                </a:solidFill>
              </a:defRPr>
            </a:pPr>
            <a:r>
              <a:rPr sz="1725" b="1" i="0">
                <a:solidFill>
                  <a:srgbClr val="13212A"/>
                </a:solidFill>
              </a:rPr>
              <a:t>station, time_slot  →  exact match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8D440A23-2569-4EC8-BE87-4924CFF7B05A}"/>
              </a:ext>
            </a:extLst>
          </p:cNvPr>
          <p:cNvSpPr>
            <a:spLocks noGrp="1"/>
          </p:cNvSpPr>
          <p:nvPr/>
        </p:nvSpPr>
        <p:spPr>
          <a:xfrm>
            <a:off x="723900" y="2962275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 i="0">
                <a:solidFill>
                  <a:srgbClr val="167D73"/>
                </a:solidFill>
              </a:defRPr>
            </a:pPr>
            <a:r>
              <a:rPr sz="1500" b="1" i="0">
                <a:solidFill>
                  <a:srgbClr val="167D73"/>
                </a:solidFill>
              </a:rPr>
              <a:t>EXTENT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A943B19E-A0D8-4175-B96B-8D0BFAE78F6C}"/>
              </a:ext>
            </a:extLst>
          </p:cNvPr>
          <p:cNvSpPr>
            <a:spLocks noGrp="1"/>
          </p:cNvSpPr>
          <p:nvPr/>
        </p:nvSpPr>
        <p:spPr>
          <a:xfrm>
            <a:off x="723900" y="3409950"/>
            <a:ext cx="4000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 i="0">
                <a:solidFill>
                  <a:srgbClr val="13212A"/>
                </a:solidFill>
              </a:defRPr>
            </a:pPr>
            <a:r>
              <a:rPr sz="1725" b="1" i="0">
                <a:solidFill>
                  <a:srgbClr val="13212A"/>
                </a:solidFill>
              </a:rPr>
              <a:t>g3  ≤  0.10 · greedy mode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3923CF3C-3359-4855-8F2F-1970E10A6A6F}"/>
              </a:ext>
            </a:extLst>
          </p:cNvPr>
          <p:cNvSpPr>
            <a:spLocks noGrp="1"/>
          </p:cNvSpPr>
          <p:nvPr/>
        </p:nvSpPr>
        <p:spPr>
          <a:xfrm>
            <a:off x="723900" y="4410075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 i="0">
                <a:solidFill>
                  <a:srgbClr val="167D73"/>
                </a:solidFill>
              </a:defRPr>
            </a:pPr>
            <a:r>
              <a:rPr sz="1500" b="1" i="0">
                <a:solidFill>
                  <a:srgbClr val="167D73"/>
                </a:solidFill>
              </a:rPr>
              <a:t>NUMERICAL ATTRIBUTES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3791748F-B620-4EC5-AA8A-E8EF9FE719DF}"/>
              </a:ext>
            </a:extLst>
          </p:cNvPr>
          <p:cNvSpPr>
            <a:spLocks noGrp="1"/>
          </p:cNvSpPr>
          <p:nvPr/>
        </p:nvSpPr>
        <p:spPr>
          <a:xfrm>
            <a:off x="723900" y="4857750"/>
            <a:ext cx="3810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725" b="1" i="0">
                <a:solidFill>
                  <a:srgbClr val="13212A"/>
                </a:solidFill>
              </a:defRPr>
            </a:pPr>
            <a:r>
              <a:rPr sz="1725" b="1" i="0">
                <a:solidFill>
                  <a:srgbClr val="13212A"/>
                </a:solidFill>
              </a:rPr>
              <a:t>absolute distance thresholds</a:t>
            </a: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A94332E7-3CF4-4DE6-802C-431452EE36B4}"/>
              </a:ext>
            </a:extLst>
          </p:cNvPr>
          <p:cNvSpPr>
            <a:spLocks noGrp="1"/>
          </p:cNvSpPr>
          <p:nvPr/>
        </p:nvSpPr>
        <p:spPr>
          <a:xfrm>
            <a:off x="5095875" y="1714500"/>
            <a:ext cx="6191250" cy="3467100"/>
          </a:xfrm>
          <a:prstGeom prst="roundRect">
            <a:avLst>
              <a:gd name="adj" fmla="val 3297"/>
            </a:avLst>
          </a:prstGeom>
          <a:solidFill>
            <a:srgbClr val="EEF4F3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2E4C7EF6-7450-4019-A302-791CE2A49769}"/>
              </a:ext>
            </a:extLst>
          </p:cNvPr>
          <p:cNvSpPr>
            <a:spLocks noGrp="1"/>
          </p:cNvSpPr>
          <p:nvPr/>
        </p:nvSpPr>
        <p:spPr>
          <a:xfrm>
            <a:off x="5429250" y="196215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00" b="1" i="0">
                <a:solidFill>
                  <a:srgbClr val="167D73"/>
                </a:solidFill>
              </a:defRPr>
            </a:pPr>
            <a:r>
              <a:rPr sz="1500" b="1" i="0">
                <a:solidFill>
                  <a:srgbClr val="167D73"/>
                </a:solidFill>
              </a:rPr>
              <a:t>MEDIUM SETUP · MAIN CONFIGURATION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00D2971-C461-42D4-8B90-80C8E14FA17C}"/>
              </a:ext>
            </a:extLst>
          </p:cNvPr>
          <p:cNvSpPr>
            <a:spLocks noGrp="1"/>
          </p:cNvSpPr>
          <p:nvPr/>
        </p:nvSpPr>
        <p:spPr>
          <a:xfrm>
            <a:off x="5572125" y="253365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TEMP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72BEAE45-34AD-4A50-A46F-C3C3B5EC1A0D}"/>
              </a:ext>
            </a:extLst>
          </p:cNvPr>
          <p:cNvSpPr>
            <a:spLocks noGrp="1"/>
          </p:cNvSpPr>
          <p:nvPr/>
        </p:nvSpPr>
        <p:spPr>
          <a:xfrm>
            <a:off x="6829425" y="2533650"/>
            <a:ext cx="1095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2.0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DF18EB2F-387C-45A6-92FE-654EA78F794C}"/>
              </a:ext>
            </a:extLst>
          </p:cNvPr>
          <p:cNvSpPr>
            <a:spLocks noGrp="1"/>
          </p:cNvSpPr>
          <p:nvPr/>
        </p:nvSpPr>
        <p:spPr>
          <a:xfrm>
            <a:off x="5572125" y="3114675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WSPM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DBA83EE3-4F82-4D17-9147-E6E912A09D90}"/>
              </a:ext>
            </a:extLst>
          </p:cNvPr>
          <p:cNvSpPr>
            <a:spLocks noGrp="1"/>
          </p:cNvSpPr>
          <p:nvPr/>
        </p:nvSpPr>
        <p:spPr>
          <a:xfrm>
            <a:off x="6829425" y="3114675"/>
            <a:ext cx="1095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1.0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7D386EAB-35F6-433F-AA31-9BDC59F3E2B0}"/>
              </a:ext>
            </a:extLst>
          </p:cNvPr>
          <p:cNvSpPr>
            <a:spLocks noGrp="1"/>
          </p:cNvSpPr>
          <p:nvPr/>
        </p:nvSpPr>
        <p:spPr>
          <a:xfrm>
            <a:off x="5572125" y="36957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PM2.5</a:t>
            </a:r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A98EB0B8-B850-4BA8-9088-B217634815FB}"/>
              </a:ext>
            </a:extLst>
          </p:cNvPr>
          <p:cNvSpPr>
            <a:spLocks noGrp="1"/>
          </p:cNvSpPr>
          <p:nvPr/>
        </p:nvSpPr>
        <p:spPr>
          <a:xfrm>
            <a:off x="6829425" y="3695700"/>
            <a:ext cx="1095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10.0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3DCACA94-C9D4-4880-93C6-682F9870B954}"/>
              </a:ext>
            </a:extLst>
          </p:cNvPr>
          <p:cNvSpPr>
            <a:spLocks noGrp="1"/>
          </p:cNvSpPr>
          <p:nvPr/>
        </p:nvSpPr>
        <p:spPr>
          <a:xfrm>
            <a:off x="5572125" y="4276725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PM10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7FF953A6-96F2-4F5F-8B34-E535B69041DA}"/>
              </a:ext>
            </a:extLst>
          </p:cNvPr>
          <p:cNvSpPr>
            <a:spLocks noGrp="1"/>
          </p:cNvSpPr>
          <p:nvPr/>
        </p:nvSpPr>
        <p:spPr>
          <a:xfrm>
            <a:off x="6829425" y="4276725"/>
            <a:ext cx="1095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15.0</a:t>
            </a: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3DB21A6D-4D3C-4BE1-8C2C-6DDC9C91D827}"/>
              </a:ext>
            </a:extLst>
          </p:cNvPr>
          <p:cNvSpPr>
            <a:spLocks noGrp="1"/>
          </p:cNvSpPr>
          <p:nvPr/>
        </p:nvSpPr>
        <p:spPr>
          <a:xfrm>
            <a:off x="8524875" y="253365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NO2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30E6F1A5-02D2-4B67-A0A7-72569142836F}"/>
              </a:ext>
            </a:extLst>
          </p:cNvPr>
          <p:cNvSpPr>
            <a:spLocks noGrp="1"/>
          </p:cNvSpPr>
          <p:nvPr/>
        </p:nvSpPr>
        <p:spPr>
          <a:xfrm>
            <a:off x="9782175" y="2533650"/>
            <a:ext cx="1095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10.0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4B69A4E3-680D-4167-A433-6DA5A228B233}"/>
              </a:ext>
            </a:extLst>
          </p:cNvPr>
          <p:cNvSpPr>
            <a:spLocks noGrp="1"/>
          </p:cNvSpPr>
          <p:nvPr/>
        </p:nvSpPr>
        <p:spPr>
          <a:xfrm>
            <a:off x="8524875" y="3114675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O3</a:t>
            </a:r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73DFA1CD-7A73-4C19-97F1-E2CD856234DA}"/>
              </a:ext>
            </a:extLst>
          </p:cNvPr>
          <p:cNvSpPr>
            <a:spLocks noGrp="1"/>
          </p:cNvSpPr>
          <p:nvPr/>
        </p:nvSpPr>
        <p:spPr>
          <a:xfrm>
            <a:off x="9782175" y="3114675"/>
            <a:ext cx="1095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10.0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D2F10FEE-F391-4586-BADF-4F1BB9D81FBB}"/>
              </a:ext>
            </a:extLst>
          </p:cNvPr>
          <p:cNvSpPr>
            <a:spLocks noGrp="1"/>
          </p:cNvSpPr>
          <p:nvPr/>
        </p:nvSpPr>
        <p:spPr>
          <a:xfrm>
            <a:off x="8524875" y="36957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g3</a:t>
            </a:r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B504B736-50BA-418B-A23D-528D6F214768}"/>
              </a:ext>
            </a:extLst>
          </p:cNvPr>
          <p:cNvSpPr>
            <a:spLocks noGrp="1"/>
          </p:cNvSpPr>
          <p:nvPr/>
        </p:nvSpPr>
        <p:spPr>
          <a:xfrm>
            <a:off x="9782175" y="3695700"/>
            <a:ext cx="1095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0.10</a:t>
            </a:r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8ACDC23D-E79D-4CD0-A0A8-0BC6AD9C7DEB}"/>
              </a:ext>
            </a:extLst>
          </p:cNvPr>
          <p:cNvSpPr>
            <a:spLocks noGrp="1"/>
          </p:cNvSpPr>
          <p:nvPr/>
        </p:nvSpPr>
        <p:spPr>
          <a:xfrm>
            <a:off x="5095875" y="538162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Medium similarity thresholds are DiMε inputs.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A6B45321-9563-43A1-8B53-08A8904E8BE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DE52AA13-111F-442D-A059-E32895A5FEC6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 dirty="0">
                <a:solidFill>
                  <a:srgbClr val="13212A"/>
                </a:solidFill>
              </a:rPr>
              <a:t>Thresholds are supplied to </a:t>
            </a:r>
            <a:r>
              <a:rPr sz="1650" b="1" i="0" dirty="0" err="1">
                <a:solidFill>
                  <a:srgbClr val="13212A"/>
                </a:solidFill>
              </a:rPr>
              <a:t>DiMε</a:t>
            </a:r>
            <a:r>
              <a:rPr sz="1650" b="1" i="0" dirty="0">
                <a:solidFill>
                  <a:srgbClr val="13212A"/>
                </a:solidFill>
              </a:rPr>
              <a:t>; inferring thresholds would instead be DOMINO's role.</a:t>
            </a:r>
          </a:p>
        </p:txBody>
      </p:sp>
    </p:spTree>
    <p:extLst>
      <p:ext uri="{BB962C8B-B14F-4D97-AF65-F5344CB8AC3E}">
        <p14:creationId xmlns:p14="http://schemas.microsoft.com/office/powerpoint/2010/main" val="162417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ttangolo 28">
            <a:extLst>
              <a:ext uri="{FF2B5EF4-FFF2-40B4-BE49-F238E27FC236}">
                <a16:creationId xmlns:a16="http://schemas.microsoft.com/office/drawing/2014/main" id="{AF256C6B-AD76-4B95-8EFB-E2C928DC03A0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1D6E3C9B-D31B-4416-8EAD-D133438D4F62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RFD discovery with DiMε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E8E6D88E-1CAC-4F77-B94F-5282D99A601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7830003F-3EBA-4265-88B6-C26343FF2B8B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07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3A9A00AB-EF0E-41A2-98AB-F5A1E919BB94}"/>
              </a:ext>
            </a:extLst>
          </p:cNvPr>
          <p:cNvSpPr>
            <a:spLocks noGrp="1"/>
          </p:cNvSpPr>
          <p:nvPr/>
        </p:nvSpPr>
        <p:spPr>
          <a:xfrm>
            <a:off x="609600" y="1685925"/>
            <a:ext cx="8096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0" i="0">
                <a:solidFill>
                  <a:srgbClr val="52636D"/>
                </a:solidFill>
              </a:defRPr>
            </a:pPr>
            <a:r>
              <a:rPr sz="1875" b="0" i="0">
                <a:solidFill>
                  <a:srgbClr val="52636D"/>
                </a:solidFill>
              </a:rPr>
              <a:t>DiMε discovers minimal RFDs through difference matrices, lattice exploration, candidate pruning and g3 validation.</a:t>
            </a:r>
          </a:p>
        </p:txBody>
      </p:sp>
      <p:sp>
        <p:nvSpPr>
          <p:cNvPr id="6" name="Freccia destra 5">
            <a:extLst>
              <a:ext uri="{FF2B5EF4-FFF2-40B4-BE49-F238E27FC236}">
                <a16:creationId xmlns:a16="http://schemas.microsoft.com/office/drawing/2014/main" id="{60E171D5-4FAD-4B75-9337-8C0B17E98358}"/>
              </a:ext>
            </a:extLst>
          </p:cNvPr>
          <p:cNvSpPr>
            <a:spLocks noGrp="1"/>
          </p:cNvSpPr>
          <p:nvPr/>
        </p:nvSpPr>
        <p:spPr>
          <a:xfrm>
            <a:off x="2686050" y="3028950"/>
            <a:ext cx="590550" cy="32385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Freccia destra 6">
            <a:extLst>
              <a:ext uri="{FF2B5EF4-FFF2-40B4-BE49-F238E27FC236}">
                <a16:creationId xmlns:a16="http://schemas.microsoft.com/office/drawing/2014/main" id="{1F62CBA9-D1A3-4CB7-8353-DAC4083A8467}"/>
              </a:ext>
            </a:extLst>
          </p:cNvPr>
          <p:cNvSpPr>
            <a:spLocks noGrp="1"/>
          </p:cNvSpPr>
          <p:nvPr/>
        </p:nvSpPr>
        <p:spPr>
          <a:xfrm>
            <a:off x="5391150" y="3028950"/>
            <a:ext cx="590550" cy="32385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Freccia destra 7">
            <a:extLst>
              <a:ext uri="{FF2B5EF4-FFF2-40B4-BE49-F238E27FC236}">
                <a16:creationId xmlns:a16="http://schemas.microsoft.com/office/drawing/2014/main" id="{28862123-F1A6-4E40-92F7-0E4ABFDD0DE4}"/>
              </a:ext>
            </a:extLst>
          </p:cNvPr>
          <p:cNvSpPr>
            <a:spLocks noGrp="1"/>
          </p:cNvSpPr>
          <p:nvPr/>
        </p:nvSpPr>
        <p:spPr>
          <a:xfrm>
            <a:off x="8096250" y="3028950"/>
            <a:ext cx="590550" cy="32385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F1E33EF5-F45E-4062-B7EC-41497038CFB3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2095500" cy="1619250"/>
          </a:xfrm>
          <a:prstGeom prst="roundRect">
            <a:avLst>
              <a:gd name="adj" fmla="val 7059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6D897D85-45B3-41A1-875D-DB21F48FDF2F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01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D7CA4BF-A71E-47A8-B7D1-01C28E3D7995}"/>
              </a:ext>
            </a:extLst>
          </p:cNvPr>
          <p:cNvSpPr>
            <a:spLocks noGrp="1"/>
          </p:cNvSpPr>
          <p:nvPr/>
        </p:nvSpPr>
        <p:spPr>
          <a:xfrm>
            <a:off x="857250" y="2943225"/>
            <a:ext cx="1762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DIFFERENCE MATRICES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5E8FCAB-3D93-4FCE-A498-77F911091E4B}"/>
              </a:ext>
            </a:extLst>
          </p:cNvPr>
          <p:cNvSpPr>
            <a:spLocks noGrp="1"/>
          </p:cNvSpPr>
          <p:nvPr/>
        </p:nvSpPr>
        <p:spPr>
          <a:xfrm>
            <a:off x="857250" y="3457575"/>
            <a:ext cx="1762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Absolute distance + categorical equality</a:t>
            </a: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158BF771-D80B-4F31-9F89-00F2F1F4E55D}"/>
              </a:ext>
            </a:extLst>
          </p:cNvPr>
          <p:cNvSpPr>
            <a:spLocks noGrp="1"/>
          </p:cNvSpPr>
          <p:nvPr/>
        </p:nvSpPr>
        <p:spPr>
          <a:xfrm>
            <a:off x="3390900" y="2400300"/>
            <a:ext cx="2095500" cy="1619250"/>
          </a:xfrm>
          <a:prstGeom prst="roundRect">
            <a:avLst>
              <a:gd name="adj" fmla="val 7059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28D350C-DA36-444F-88CE-8797A59F7294}"/>
              </a:ext>
            </a:extLst>
          </p:cNvPr>
          <p:cNvSpPr>
            <a:spLocks noGrp="1"/>
          </p:cNvSpPr>
          <p:nvPr/>
        </p:nvSpPr>
        <p:spPr>
          <a:xfrm>
            <a:off x="3562350" y="257175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02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B4ED0673-0126-4235-BD55-0C66625CF6DB}"/>
              </a:ext>
            </a:extLst>
          </p:cNvPr>
          <p:cNvSpPr>
            <a:spLocks noGrp="1"/>
          </p:cNvSpPr>
          <p:nvPr/>
        </p:nvSpPr>
        <p:spPr>
          <a:xfrm>
            <a:off x="3562350" y="2943225"/>
            <a:ext cx="1762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SIMILAR SUBSETS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FCEDC8C9-67BD-4A1F-BB42-78E66AD2310B}"/>
              </a:ext>
            </a:extLst>
          </p:cNvPr>
          <p:cNvSpPr>
            <a:spLocks noGrp="1"/>
          </p:cNvSpPr>
          <p:nvPr/>
        </p:nvSpPr>
        <p:spPr>
          <a:xfrm>
            <a:off x="3562350" y="3457575"/>
            <a:ext cx="1762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Pattern subsets; singleton stripping</a:t>
            </a:r>
          </a:p>
        </p:txBody>
      </p: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9FC37396-DC6E-49A6-B2E7-D2023A03A627}"/>
              </a:ext>
            </a:extLst>
          </p:cNvPr>
          <p:cNvSpPr>
            <a:spLocks noGrp="1"/>
          </p:cNvSpPr>
          <p:nvPr/>
        </p:nvSpPr>
        <p:spPr>
          <a:xfrm>
            <a:off x="6096000" y="2400300"/>
            <a:ext cx="2095500" cy="1619250"/>
          </a:xfrm>
          <a:prstGeom prst="roundRect">
            <a:avLst>
              <a:gd name="adj" fmla="val 7059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A8406D7C-B986-4AF3-A54E-83AA21B6F72D}"/>
              </a:ext>
            </a:extLst>
          </p:cNvPr>
          <p:cNvSpPr>
            <a:spLocks noGrp="1"/>
          </p:cNvSpPr>
          <p:nvPr/>
        </p:nvSpPr>
        <p:spPr>
          <a:xfrm>
            <a:off x="6267450" y="257175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03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FD24FF9C-A3A7-4CEF-9DCE-D1DA9E71485E}"/>
              </a:ext>
            </a:extLst>
          </p:cNvPr>
          <p:cNvSpPr>
            <a:spLocks noGrp="1"/>
          </p:cNvSpPr>
          <p:nvPr/>
        </p:nvSpPr>
        <p:spPr>
          <a:xfrm>
            <a:off x="6267450" y="2943225"/>
            <a:ext cx="1762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COMPLETE LATTICE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012FE7C5-521B-415B-8A8A-2B7EEC05F04C}"/>
              </a:ext>
            </a:extLst>
          </p:cNvPr>
          <p:cNvSpPr>
            <a:spLocks noGrp="1"/>
          </p:cNvSpPr>
          <p:nvPr/>
        </p:nvSpPr>
        <p:spPr>
          <a:xfrm>
            <a:off x="6267450" y="3457575"/>
            <a:ext cx="1762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C+ candidates, joins, pruning</a:t>
            </a:r>
          </a:p>
        </p:txBody>
      </p:sp>
      <p:sp>
        <p:nvSpPr>
          <p:cNvPr id="21" name="Rettangolo con angoli arrotondati 20">
            <a:extLst>
              <a:ext uri="{FF2B5EF4-FFF2-40B4-BE49-F238E27FC236}">
                <a16:creationId xmlns:a16="http://schemas.microsoft.com/office/drawing/2014/main" id="{312468F4-67C3-446D-8922-1B283EE1045B}"/>
              </a:ext>
            </a:extLst>
          </p:cNvPr>
          <p:cNvSpPr>
            <a:spLocks noGrp="1"/>
          </p:cNvSpPr>
          <p:nvPr/>
        </p:nvSpPr>
        <p:spPr>
          <a:xfrm>
            <a:off x="8801100" y="2400300"/>
            <a:ext cx="2095500" cy="1619250"/>
          </a:xfrm>
          <a:prstGeom prst="roundRect">
            <a:avLst>
              <a:gd name="adj" fmla="val 7059"/>
            </a:avLst>
          </a:prstGeom>
          <a:solidFill>
            <a:srgbClr val="D9EFEC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B9F606A0-76FB-4BB4-B517-18D4B20C9761}"/>
              </a:ext>
            </a:extLst>
          </p:cNvPr>
          <p:cNvSpPr>
            <a:spLocks noGrp="1"/>
          </p:cNvSpPr>
          <p:nvPr/>
        </p:nvSpPr>
        <p:spPr>
          <a:xfrm>
            <a:off x="8972550" y="257175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04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5B613A06-DCB3-45E0-84EB-0488E9741C5D}"/>
              </a:ext>
            </a:extLst>
          </p:cNvPr>
          <p:cNvSpPr>
            <a:spLocks noGrp="1"/>
          </p:cNvSpPr>
          <p:nvPr/>
        </p:nvSpPr>
        <p:spPr>
          <a:xfrm>
            <a:off x="8972550" y="2943225"/>
            <a:ext cx="17621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g3 VALIDATION</a:t>
            </a:r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33A70CD8-9182-4AF8-873B-4D0003B08369}"/>
              </a:ext>
            </a:extLst>
          </p:cNvPr>
          <p:cNvSpPr>
            <a:spLocks noGrp="1"/>
          </p:cNvSpPr>
          <p:nvPr/>
        </p:nvSpPr>
        <p:spPr>
          <a:xfrm>
            <a:off x="8972550" y="3457575"/>
            <a:ext cx="1762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Greedy vertex cover at ε = 0.10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E4E47C6E-DC4B-4736-9748-849E63CFF8A0}"/>
              </a:ext>
            </a:extLst>
          </p:cNvPr>
          <p:cNvSpPr>
            <a:spLocks noGrp="1"/>
          </p:cNvSpPr>
          <p:nvPr/>
        </p:nvSpPr>
        <p:spPr>
          <a:xfrm>
            <a:off x="685800" y="4524375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1" i="0">
                <a:solidFill>
                  <a:srgbClr val="B5534A"/>
                </a:solidFill>
              </a:defRPr>
            </a:pPr>
            <a:r>
              <a:rPr sz="1500" b="1" i="0">
                <a:solidFill>
                  <a:srgbClr val="B5534A"/>
                </a:solidFill>
              </a:rPr>
              <a:t>Inputs</a:t>
            </a:r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880E2F5A-2084-44DF-B470-B7F0710628C1}"/>
              </a:ext>
            </a:extLst>
          </p:cNvPr>
          <p:cNvSpPr>
            <a:spLocks noGrp="1"/>
          </p:cNvSpPr>
          <p:nvPr/>
        </p:nvSpPr>
        <p:spPr>
          <a:xfrm>
            <a:off x="2286000" y="4524375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8 attributes · similarity thresholds · extent threshold ε</a:t>
            </a:r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E7629B46-B38D-4077-9100-39F900E520F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36A071C9-05D8-4AFC-BE8E-DE8F8B05BCEA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 dirty="0">
                <a:solidFill>
                  <a:srgbClr val="13212A"/>
                </a:solidFill>
              </a:rPr>
              <a:t>Outputs: minimal RFDs + g3.</a:t>
            </a:r>
          </a:p>
        </p:txBody>
      </p:sp>
    </p:spTree>
    <p:extLst>
      <p:ext uri="{BB962C8B-B14F-4D97-AF65-F5344CB8AC3E}">
        <p14:creationId xmlns:p14="http://schemas.microsoft.com/office/powerpoint/2010/main" val="1463235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tangolo 24">
            <a:extLst>
              <a:ext uri="{FF2B5EF4-FFF2-40B4-BE49-F238E27FC236}">
                <a16:creationId xmlns:a16="http://schemas.microsoft.com/office/drawing/2014/main" id="{EA7FF7E6-77FA-41DB-BEF2-6299CF17CC17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2C0E5688-C056-4932-A9AC-80056261559E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 dirty="0">
                <a:solidFill>
                  <a:srgbClr val="13212A"/>
                </a:solidFill>
              </a:rPr>
              <a:t>Post-discovery metrics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8DF5A213-605E-46C9-BD80-A6F43E5FE50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5780D97D-7E39-40BE-86DD-A449D6B65293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08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816718E-C758-4B3C-AA03-D925100F2CCE}"/>
              </a:ext>
            </a:extLst>
          </p:cNvPr>
          <p:cNvSpPr>
            <a:spLocks noGrp="1"/>
          </p:cNvSpPr>
          <p:nvPr/>
        </p:nvSpPr>
        <p:spPr>
          <a:xfrm>
            <a:off x="647700" y="18097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SUPPORT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F92F8903-2188-461D-B9FA-5C9C11CA67F4}"/>
              </a:ext>
            </a:extLst>
          </p:cNvPr>
          <p:cNvSpPr>
            <a:spLocks noGrp="1"/>
          </p:cNvSpPr>
          <p:nvPr/>
        </p:nvSpPr>
        <p:spPr>
          <a:xfrm>
            <a:off x="647700" y="2286000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antecedent pairs / all pairs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927B865-440C-4C91-A07B-D9E76B5EF7EA}"/>
              </a:ext>
            </a:extLst>
          </p:cNvPr>
          <p:cNvSpPr>
            <a:spLocks noGrp="1"/>
          </p:cNvSpPr>
          <p:nvPr/>
        </p:nvSpPr>
        <p:spPr>
          <a:xfrm>
            <a:off x="647700" y="3152775"/>
            <a:ext cx="314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How often are tuples comparable?</a:t>
            </a:r>
          </a:p>
        </p:txBody>
      </p:sp>
      <p:sp>
        <p:nvSpPr>
          <p:cNvPr id="8" name="Connettore dritto 7">
            <a:extLst>
              <a:ext uri="{FF2B5EF4-FFF2-40B4-BE49-F238E27FC236}">
                <a16:creationId xmlns:a16="http://schemas.microsoft.com/office/drawing/2014/main" id="{7B184134-B466-484D-BB4D-1212522F2CC8}"/>
              </a:ext>
            </a:extLst>
          </p:cNvPr>
          <p:cNvSpPr>
            <a:spLocks noGrp="1"/>
          </p:cNvSpPr>
          <p:nvPr/>
        </p:nvSpPr>
        <p:spPr>
          <a:xfrm>
            <a:off x="3981450" y="1771650"/>
            <a:ext cx="0" cy="209550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B5F4AD1A-D80E-4992-BC8D-3346F31C78FD}"/>
              </a:ext>
            </a:extLst>
          </p:cNvPr>
          <p:cNvSpPr>
            <a:spLocks noGrp="1"/>
          </p:cNvSpPr>
          <p:nvPr/>
        </p:nvSpPr>
        <p:spPr>
          <a:xfrm>
            <a:off x="4362450" y="18097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CONFIDENCE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04DBE63-C222-4E68-AB72-48FB5549A931}"/>
              </a:ext>
            </a:extLst>
          </p:cNvPr>
          <p:cNvSpPr>
            <a:spLocks noGrp="1"/>
          </p:cNvSpPr>
          <p:nvPr/>
        </p:nvSpPr>
        <p:spPr>
          <a:xfrm>
            <a:off x="4362450" y="2286000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valid pairs / antecedent pairs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D99E092F-1ED0-4A9C-BBD8-A602D098264A}"/>
              </a:ext>
            </a:extLst>
          </p:cNvPr>
          <p:cNvSpPr>
            <a:spLocks noGrp="1"/>
          </p:cNvSpPr>
          <p:nvPr/>
        </p:nvSpPr>
        <p:spPr>
          <a:xfrm>
            <a:off x="4362450" y="3152775"/>
            <a:ext cx="314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How often does the rule hold?</a:t>
            </a:r>
          </a:p>
        </p:txBody>
      </p:sp>
      <p:sp>
        <p:nvSpPr>
          <p:cNvPr id="12" name="Connettore dritto 11">
            <a:extLst>
              <a:ext uri="{FF2B5EF4-FFF2-40B4-BE49-F238E27FC236}">
                <a16:creationId xmlns:a16="http://schemas.microsoft.com/office/drawing/2014/main" id="{27B15EB4-119B-4C6F-9C8C-D6DCDB07CA0C}"/>
              </a:ext>
            </a:extLst>
          </p:cNvPr>
          <p:cNvSpPr>
            <a:spLocks noGrp="1"/>
          </p:cNvSpPr>
          <p:nvPr/>
        </p:nvSpPr>
        <p:spPr>
          <a:xfrm>
            <a:off x="7696200" y="1771650"/>
            <a:ext cx="0" cy="209550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02E71AE-843F-4386-8ED5-1259181E6930}"/>
              </a:ext>
            </a:extLst>
          </p:cNvPr>
          <p:cNvSpPr>
            <a:spLocks noGrp="1"/>
          </p:cNvSpPr>
          <p:nvPr/>
        </p:nvSpPr>
        <p:spPr>
          <a:xfrm>
            <a:off x="8077200" y="18097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BASELINE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507E0640-A974-4E5E-AA0D-3327E69B0481}"/>
              </a:ext>
            </a:extLst>
          </p:cNvPr>
          <p:cNvSpPr>
            <a:spLocks noGrp="1"/>
          </p:cNvSpPr>
          <p:nvPr/>
        </p:nvSpPr>
        <p:spPr>
          <a:xfrm>
            <a:off x="8077200" y="2286000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mean confidence over 30 seeded RHS permutations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C406B1C0-1834-460C-A114-DA08AD3CC83A}"/>
              </a:ext>
            </a:extLst>
          </p:cNvPr>
          <p:cNvSpPr>
            <a:spLocks noGrp="1"/>
          </p:cNvSpPr>
          <p:nvPr/>
        </p:nvSpPr>
        <p:spPr>
          <a:xfrm>
            <a:off x="8077200" y="3152775"/>
            <a:ext cx="314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What happens by chance?</a:t>
            </a:r>
          </a:p>
        </p:txBody>
      </p:sp>
      <p:sp>
        <p:nvSpPr>
          <p:cNvPr id="16" name="Rettangolo con angoli arrotondati 15">
            <a:extLst>
              <a:ext uri="{FF2B5EF4-FFF2-40B4-BE49-F238E27FC236}">
                <a16:creationId xmlns:a16="http://schemas.microsoft.com/office/drawing/2014/main" id="{6EFF29B7-CB7D-4133-9A4F-219FD6557918}"/>
              </a:ext>
            </a:extLst>
          </p:cNvPr>
          <p:cNvSpPr>
            <a:spLocks noGrp="1"/>
          </p:cNvSpPr>
          <p:nvPr/>
        </p:nvSpPr>
        <p:spPr>
          <a:xfrm>
            <a:off x="2381250" y="4238625"/>
            <a:ext cx="7429500" cy="1162050"/>
          </a:xfrm>
          <a:prstGeom prst="roundRect">
            <a:avLst>
              <a:gd name="adj" fmla="val 9836"/>
            </a:avLst>
          </a:prstGeom>
          <a:solidFill>
            <a:srgbClr val="EEF4F3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B72076E4-778A-44C3-B895-33D2FC59BCC8}"/>
              </a:ext>
            </a:extLst>
          </p:cNvPr>
          <p:cNvSpPr>
            <a:spLocks noGrp="1"/>
          </p:cNvSpPr>
          <p:nvPr/>
        </p:nvSpPr>
        <p:spPr>
          <a:xfrm>
            <a:off x="2714625" y="4476750"/>
            <a:ext cx="1095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00" b="1" i="0">
                <a:solidFill>
                  <a:srgbClr val="167D73"/>
                </a:solidFill>
              </a:defRPr>
            </a:pPr>
            <a:r>
              <a:rPr sz="1800" b="1" i="0">
                <a:solidFill>
                  <a:srgbClr val="167D73"/>
                </a:solidFill>
              </a:rPr>
              <a:t>LIFT</a:t>
            </a:r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56180BFD-7352-4498-8849-7C8610D4018B}"/>
              </a:ext>
            </a:extLst>
          </p:cNvPr>
          <p:cNvSpPr>
            <a:spLocks noGrp="1"/>
          </p:cNvSpPr>
          <p:nvPr/>
        </p:nvSpPr>
        <p:spPr>
          <a:xfrm>
            <a:off x="4476750" y="43624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100" b="1" i="0">
                <a:solidFill>
                  <a:srgbClr val="13212A"/>
                </a:solidFill>
              </a:defRPr>
            </a:pPr>
            <a:r>
              <a:rPr sz="2100" b="1" i="0">
                <a:solidFill>
                  <a:srgbClr val="13212A"/>
                </a:solidFill>
              </a:rPr>
              <a:t>confidence</a:t>
            </a:r>
          </a:p>
        </p:txBody>
      </p:sp>
      <p:sp>
        <p:nvSpPr>
          <p:cNvPr id="19" name="Connettore dritto 18">
            <a:extLst>
              <a:ext uri="{FF2B5EF4-FFF2-40B4-BE49-F238E27FC236}">
                <a16:creationId xmlns:a16="http://schemas.microsoft.com/office/drawing/2014/main" id="{F58D1EA2-E68C-4F5B-83C6-F6D3D26F0EBE}"/>
              </a:ext>
            </a:extLst>
          </p:cNvPr>
          <p:cNvSpPr>
            <a:spLocks noGrp="1"/>
          </p:cNvSpPr>
          <p:nvPr/>
        </p:nvSpPr>
        <p:spPr>
          <a:xfrm>
            <a:off x="4495800" y="4781550"/>
            <a:ext cx="1952625" cy="0"/>
          </a:xfrm>
          <a:prstGeom prst="line">
            <a:avLst/>
          </a:prstGeom>
          <a:noFill/>
          <a:ln w="19050">
            <a:solidFill>
              <a:srgbClr val="1321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FBB08E2B-D3E4-4C2B-9B13-5A08E6EB2273}"/>
              </a:ext>
            </a:extLst>
          </p:cNvPr>
          <p:cNvSpPr>
            <a:spLocks noGrp="1"/>
          </p:cNvSpPr>
          <p:nvPr/>
        </p:nvSpPr>
        <p:spPr>
          <a:xfrm>
            <a:off x="4286250" y="48577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baseline confidence</a:t>
            </a: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6A929459-419E-439A-B673-A561A10B0589}"/>
              </a:ext>
            </a:extLst>
          </p:cNvPr>
          <p:cNvSpPr>
            <a:spLocks noGrp="1"/>
          </p:cNvSpPr>
          <p:nvPr/>
        </p:nvSpPr>
        <p:spPr>
          <a:xfrm>
            <a:off x="3924300" y="4572000"/>
            <a:ext cx="333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550" b="1" i="0">
                <a:solidFill>
                  <a:srgbClr val="13212A"/>
                </a:solidFill>
              </a:defRPr>
            </a:pPr>
            <a:r>
              <a:rPr sz="2550" b="1" i="0">
                <a:solidFill>
                  <a:srgbClr val="13212A"/>
                </a:solidFill>
              </a:rPr>
              <a:t>=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486C3ED0-36D0-4A36-9D74-F255294C1B31}"/>
              </a:ext>
            </a:extLst>
          </p:cNvPr>
          <p:cNvSpPr>
            <a:spLocks noGrp="1"/>
          </p:cNvSpPr>
          <p:nvPr/>
        </p:nvSpPr>
        <p:spPr>
          <a:xfrm>
            <a:off x="7000875" y="4572000"/>
            <a:ext cx="2476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1" i="0">
                <a:solidFill>
                  <a:srgbClr val="2D6278"/>
                </a:solidFill>
              </a:defRPr>
            </a:pPr>
            <a:r>
              <a:rPr sz="1575" b="1" i="0">
                <a:solidFill>
                  <a:srgbClr val="2D6278"/>
                </a:solidFill>
              </a:rPr>
              <a:t>&gt; 1 means more informative than chance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213E39F8-E390-4ED1-A62F-4A9EB7BE2E04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737E12BC-1E75-4D5A-B011-2587C5254388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DiMε discovers with g3; support, confidence, baseline, and lift rank its outputs afterward.</a:t>
            </a:r>
          </a:p>
        </p:txBody>
      </p:sp>
    </p:spTree>
    <p:extLst>
      <p:ext uri="{BB962C8B-B14F-4D97-AF65-F5344CB8AC3E}">
        <p14:creationId xmlns:p14="http://schemas.microsoft.com/office/powerpoint/2010/main" val="13044102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ttangolo 41">
            <a:extLst>
              <a:ext uri="{FF2B5EF4-FFF2-40B4-BE49-F238E27FC236}">
                <a16:creationId xmlns:a16="http://schemas.microsoft.com/office/drawing/2014/main" id="{2E503169-7B77-42D1-A677-F2A37E609500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E1EE630B-F717-4C12-92EF-AEBC0989613E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 dirty="0" err="1">
                <a:solidFill>
                  <a:srgbClr val="13212A"/>
                </a:solidFill>
              </a:rPr>
              <a:t>DiMε</a:t>
            </a:r>
            <a:r>
              <a:rPr sz="3600" b="1" i="0" dirty="0">
                <a:solidFill>
                  <a:srgbClr val="13212A"/>
                </a:solidFill>
              </a:rPr>
              <a:t> </a:t>
            </a:r>
            <a:r>
              <a:rPr lang="it-IT" sz="3600" b="1" i="0" dirty="0" err="1">
                <a:solidFill>
                  <a:srgbClr val="13212A"/>
                </a:solidFill>
              </a:rPr>
              <a:t>p</a:t>
            </a:r>
            <a:r>
              <a:rPr sz="3600" b="1" i="0" dirty="0" err="1">
                <a:solidFill>
                  <a:srgbClr val="13212A"/>
                </a:solidFill>
              </a:rPr>
              <a:t>ipeline</a:t>
            </a:r>
            <a:r>
              <a:rPr sz="3600" b="1" i="0" dirty="0">
                <a:solidFill>
                  <a:srgbClr val="13212A"/>
                </a:solidFill>
              </a:rPr>
              <a:t> step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64531002-B562-4955-A996-DA971F71A44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42DADA48-A67C-4A73-8714-30654DE5A21A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09</a:t>
            </a:r>
          </a:p>
        </p:txBody>
      </p:sp>
      <p:sp>
        <p:nvSpPr>
          <p:cNvPr id="5" name="Freccia destra 4">
            <a:extLst>
              <a:ext uri="{FF2B5EF4-FFF2-40B4-BE49-F238E27FC236}">
                <a16:creationId xmlns:a16="http://schemas.microsoft.com/office/drawing/2014/main" id="{7F5DCFEB-6FDD-4B36-B21A-A95BAB1B9C92}"/>
              </a:ext>
            </a:extLst>
          </p:cNvPr>
          <p:cNvSpPr>
            <a:spLocks noGrp="1"/>
          </p:cNvSpPr>
          <p:nvPr/>
        </p:nvSpPr>
        <p:spPr>
          <a:xfrm>
            <a:off x="1647825" y="3000375"/>
            <a:ext cx="400050" cy="26670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Freccia destra 5">
            <a:extLst>
              <a:ext uri="{FF2B5EF4-FFF2-40B4-BE49-F238E27FC236}">
                <a16:creationId xmlns:a16="http://schemas.microsoft.com/office/drawing/2014/main" id="{A8ADD131-C29B-4BDF-AC04-1C8C5575EC39}"/>
              </a:ext>
            </a:extLst>
          </p:cNvPr>
          <p:cNvSpPr>
            <a:spLocks noGrp="1"/>
          </p:cNvSpPr>
          <p:nvPr/>
        </p:nvSpPr>
        <p:spPr>
          <a:xfrm>
            <a:off x="3086100" y="3000375"/>
            <a:ext cx="400050" cy="26670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Freccia destra 6">
            <a:extLst>
              <a:ext uri="{FF2B5EF4-FFF2-40B4-BE49-F238E27FC236}">
                <a16:creationId xmlns:a16="http://schemas.microsoft.com/office/drawing/2014/main" id="{81941055-B1B1-404F-9ACE-0AB28DA167A6}"/>
              </a:ext>
            </a:extLst>
          </p:cNvPr>
          <p:cNvSpPr>
            <a:spLocks noGrp="1"/>
          </p:cNvSpPr>
          <p:nvPr/>
        </p:nvSpPr>
        <p:spPr>
          <a:xfrm>
            <a:off x="4524375" y="3000375"/>
            <a:ext cx="400050" cy="26670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Freccia destra 7">
            <a:extLst>
              <a:ext uri="{FF2B5EF4-FFF2-40B4-BE49-F238E27FC236}">
                <a16:creationId xmlns:a16="http://schemas.microsoft.com/office/drawing/2014/main" id="{B580305D-D694-4E4F-9F3E-EB93AA2C60D2}"/>
              </a:ext>
            </a:extLst>
          </p:cNvPr>
          <p:cNvSpPr>
            <a:spLocks noGrp="1"/>
          </p:cNvSpPr>
          <p:nvPr/>
        </p:nvSpPr>
        <p:spPr>
          <a:xfrm>
            <a:off x="5962650" y="3000375"/>
            <a:ext cx="400050" cy="26670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Freccia destra 8">
            <a:extLst>
              <a:ext uri="{FF2B5EF4-FFF2-40B4-BE49-F238E27FC236}">
                <a16:creationId xmlns:a16="http://schemas.microsoft.com/office/drawing/2014/main" id="{2F6F717F-5CB6-4D24-A2D9-CD525A4191DD}"/>
              </a:ext>
            </a:extLst>
          </p:cNvPr>
          <p:cNvSpPr>
            <a:spLocks noGrp="1"/>
          </p:cNvSpPr>
          <p:nvPr/>
        </p:nvSpPr>
        <p:spPr>
          <a:xfrm>
            <a:off x="7400925" y="3000375"/>
            <a:ext cx="400050" cy="26670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Freccia destra 9">
            <a:extLst>
              <a:ext uri="{FF2B5EF4-FFF2-40B4-BE49-F238E27FC236}">
                <a16:creationId xmlns:a16="http://schemas.microsoft.com/office/drawing/2014/main" id="{0ED5B090-9154-4703-A218-AF70BB7A0612}"/>
              </a:ext>
            </a:extLst>
          </p:cNvPr>
          <p:cNvSpPr>
            <a:spLocks noGrp="1"/>
          </p:cNvSpPr>
          <p:nvPr/>
        </p:nvSpPr>
        <p:spPr>
          <a:xfrm>
            <a:off x="8839200" y="3000375"/>
            <a:ext cx="400050" cy="26670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Freccia destra 10">
            <a:extLst>
              <a:ext uri="{FF2B5EF4-FFF2-40B4-BE49-F238E27FC236}">
                <a16:creationId xmlns:a16="http://schemas.microsoft.com/office/drawing/2014/main" id="{015FF4A8-EF76-4C8A-9296-B75E0952F5DA}"/>
              </a:ext>
            </a:extLst>
          </p:cNvPr>
          <p:cNvSpPr>
            <a:spLocks noGrp="1"/>
          </p:cNvSpPr>
          <p:nvPr/>
        </p:nvSpPr>
        <p:spPr>
          <a:xfrm>
            <a:off x="10277475" y="3000375"/>
            <a:ext cx="400050" cy="26670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07122F98-60BD-475C-BD52-5078D15FC989}"/>
              </a:ext>
            </a:extLst>
          </p:cNvPr>
          <p:cNvSpPr>
            <a:spLocks noGrp="1"/>
          </p:cNvSpPr>
          <p:nvPr/>
        </p:nvSpPr>
        <p:spPr>
          <a:xfrm>
            <a:off x="523875" y="2571750"/>
            <a:ext cx="1181100" cy="1143000"/>
          </a:xfrm>
          <a:prstGeom prst="roundRect">
            <a:avLst>
              <a:gd name="adj" fmla="val 10000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87D978A6-A915-4473-8A4D-5863C487EC3A}"/>
              </a:ext>
            </a:extLst>
          </p:cNvPr>
          <p:cNvSpPr>
            <a:spLocks noGrp="1"/>
          </p:cNvSpPr>
          <p:nvPr/>
        </p:nvSpPr>
        <p:spPr>
          <a:xfrm>
            <a:off x="638175" y="268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01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3F44B011-5710-4DDF-A4A5-65BBB3B0A038}"/>
              </a:ext>
            </a:extLst>
          </p:cNvPr>
          <p:cNvSpPr>
            <a:spLocks noGrp="1"/>
          </p:cNvSpPr>
          <p:nvPr/>
        </p:nvSpPr>
        <p:spPr>
          <a:xfrm>
            <a:off x="581025" y="3000375"/>
            <a:ext cx="1066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Preprocess</a:t>
            </a:r>
          </a:p>
        </p:txBody>
      </p:sp>
      <p:sp>
        <p:nvSpPr>
          <p:cNvPr id="15" name="Rettangolo con angoli arrotondati 14">
            <a:extLst>
              <a:ext uri="{FF2B5EF4-FFF2-40B4-BE49-F238E27FC236}">
                <a16:creationId xmlns:a16="http://schemas.microsoft.com/office/drawing/2014/main" id="{5C410EE8-F616-481C-91AB-6EDE4E3307A1}"/>
              </a:ext>
            </a:extLst>
          </p:cNvPr>
          <p:cNvSpPr>
            <a:spLocks noGrp="1"/>
          </p:cNvSpPr>
          <p:nvPr/>
        </p:nvSpPr>
        <p:spPr>
          <a:xfrm>
            <a:off x="1962150" y="2571750"/>
            <a:ext cx="1181100" cy="1143000"/>
          </a:xfrm>
          <a:prstGeom prst="roundRect">
            <a:avLst>
              <a:gd name="adj" fmla="val 10000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F5144425-3697-4729-939F-A8BC833A3DE8}"/>
              </a:ext>
            </a:extLst>
          </p:cNvPr>
          <p:cNvSpPr>
            <a:spLocks noGrp="1"/>
          </p:cNvSpPr>
          <p:nvPr/>
        </p:nvSpPr>
        <p:spPr>
          <a:xfrm>
            <a:off x="2076450" y="268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02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A3243822-7747-4AA5-899E-0A5ED1769B9C}"/>
              </a:ext>
            </a:extLst>
          </p:cNvPr>
          <p:cNvSpPr>
            <a:spLocks noGrp="1"/>
          </p:cNvSpPr>
          <p:nvPr/>
        </p:nvSpPr>
        <p:spPr>
          <a:xfrm>
            <a:off x="2019300" y="3000375"/>
            <a:ext cx="1066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Profile</a:t>
            </a:r>
          </a:p>
        </p:txBody>
      </p:sp>
      <p:sp>
        <p:nvSpPr>
          <p:cNvPr id="18" name="Rettangolo con angoli arrotondati 17">
            <a:extLst>
              <a:ext uri="{FF2B5EF4-FFF2-40B4-BE49-F238E27FC236}">
                <a16:creationId xmlns:a16="http://schemas.microsoft.com/office/drawing/2014/main" id="{1D376C61-8426-4F71-A784-545014A6BE5C}"/>
              </a:ext>
            </a:extLst>
          </p:cNvPr>
          <p:cNvSpPr>
            <a:spLocks noGrp="1"/>
          </p:cNvSpPr>
          <p:nvPr/>
        </p:nvSpPr>
        <p:spPr>
          <a:xfrm>
            <a:off x="3400425" y="2571750"/>
            <a:ext cx="1181100" cy="1143000"/>
          </a:xfrm>
          <a:prstGeom prst="roundRect">
            <a:avLst>
              <a:gd name="adj" fmla="val 10000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4E0E4A8B-7E78-4917-B576-2DB11EBD3A22}"/>
              </a:ext>
            </a:extLst>
          </p:cNvPr>
          <p:cNvSpPr>
            <a:spLocks noGrp="1"/>
          </p:cNvSpPr>
          <p:nvPr/>
        </p:nvSpPr>
        <p:spPr>
          <a:xfrm>
            <a:off x="3514725" y="268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03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6454D5BC-8961-4DEF-BE37-EACD6DED098E}"/>
              </a:ext>
            </a:extLst>
          </p:cNvPr>
          <p:cNvSpPr>
            <a:spLocks noGrp="1"/>
          </p:cNvSpPr>
          <p:nvPr/>
        </p:nvSpPr>
        <p:spPr>
          <a:xfrm>
            <a:off x="3457575" y="3000375"/>
            <a:ext cx="1066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Weekly</a:t>
            </a:r>
          </a:p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projection</a:t>
            </a:r>
          </a:p>
        </p:txBody>
      </p:sp>
      <p:sp>
        <p:nvSpPr>
          <p:cNvPr id="21" name="Rettangolo con angoli arrotondati 20">
            <a:extLst>
              <a:ext uri="{FF2B5EF4-FFF2-40B4-BE49-F238E27FC236}">
                <a16:creationId xmlns:a16="http://schemas.microsoft.com/office/drawing/2014/main" id="{976C27F6-AE28-45E9-9F97-131A1A85748F}"/>
              </a:ext>
            </a:extLst>
          </p:cNvPr>
          <p:cNvSpPr>
            <a:spLocks noGrp="1"/>
          </p:cNvSpPr>
          <p:nvPr/>
        </p:nvSpPr>
        <p:spPr>
          <a:xfrm>
            <a:off x="4838700" y="2571750"/>
            <a:ext cx="1181100" cy="1143000"/>
          </a:xfrm>
          <a:prstGeom prst="roundRect">
            <a:avLst>
              <a:gd name="adj" fmla="val 10000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CB8EE697-89B2-4B56-A8FB-349680A8AD53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04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AAEC1308-BFEF-45FF-BE3E-1933C260F0DC}"/>
              </a:ext>
            </a:extLst>
          </p:cNvPr>
          <p:cNvSpPr>
            <a:spLocks noGrp="1"/>
          </p:cNvSpPr>
          <p:nvPr/>
        </p:nvSpPr>
        <p:spPr>
          <a:xfrm>
            <a:off x="4895850" y="3000375"/>
            <a:ext cx="1066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DiMε</a:t>
            </a:r>
          </a:p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discovery</a:t>
            </a:r>
          </a:p>
        </p:txBody>
      </p: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9843AB98-C302-48CD-ADAB-D42A165F274C}"/>
              </a:ext>
            </a:extLst>
          </p:cNvPr>
          <p:cNvSpPr>
            <a:spLocks noGrp="1"/>
          </p:cNvSpPr>
          <p:nvPr/>
        </p:nvSpPr>
        <p:spPr>
          <a:xfrm>
            <a:off x="6276975" y="2571750"/>
            <a:ext cx="1181100" cy="1143000"/>
          </a:xfrm>
          <a:prstGeom prst="roundRect">
            <a:avLst>
              <a:gd name="adj" fmla="val 10000"/>
            </a:avLst>
          </a:prstGeom>
          <a:solidFill>
            <a:srgbClr val="EEF4F3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06B7BEE1-98BC-47A5-B2E8-6BE29F8EB22D}"/>
              </a:ext>
            </a:extLst>
          </p:cNvPr>
          <p:cNvSpPr>
            <a:spLocks noGrp="1"/>
          </p:cNvSpPr>
          <p:nvPr/>
        </p:nvSpPr>
        <p:spPr>
          <a:xfrm>
            <a:off x="6391275" y="268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05</a:t>
            </a:r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EF217D34-493E-4F1E-941A-4C960C8A1746}"/>
              </a:ext>
            </a:extLst>
          </p:cNvPr>
          <p:cNvSpPr>
            <a:spLocks noGrp="1"/>
          </p:cNvSpPr>
          <p:nvPr/>
        </p:nvSpPr>
        <p:spPr>
          <a:xfrm>
            <a:off x="6334125" y="3000375"/>
            <a:ext cx="1066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Permutation</a:t>
            </a:r>
          </a:p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baseline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9E12405E-CDB1-46A7-9B0C-E214B7A96A77}"/>
              </a:ext>
            </a:extLst>
          </p:cNvPr>
          <p:cNvSpPr>
            <a:spLocks noGrp="1"/>
          </p:cNvSpPr>
          <p:nvPr/>
        </p:nvSpPr>
        <p:spPr>
          <a:xfrm>
            <a:off x="7715250" y="2571750"/>
            <a:ext cx="1181100" cy="1143000"/>
          </a:xfrm>
          <a:prstGeom prst="roundRect">
            <a:avLst>
              <a:gd name="adj" fmla="val 10000"/>
            </a:avLst>
          </a:prstGeom>
          <a:solidFill>
            <a:srgbClr val="EEF4F3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8D8DBC20-F0C2-48AA-91DC-8A7D52C7F580}"/>
              </a:ext>
            </a:extLst>
          </p:cNvPr>
          <p:cNvSpPr>
            <a:spLocks noGrp="1"/>
          </p:cNvSpPr>
          <p:nvPr/>
        </p:nvSpPr>
        <p:spPr>
          <a:xfrm>
            <a:off x="7829550" y="268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06</a:t>
            </a:r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77737FDB-C131-4F33-B2D5-21B9CBC3689E}"/>
              </a:ext>
            </a:extLst>
          </p:cNvPr>
          <p:cNvSpPr>
            <a:spLocks noGrp="1"/>
          </p:cNvSpPr>
          <p:nvPr/>
        </p:nvSpPr>
        <p:spPr>
          <a:xfrm>
            <a:off x="7772400" y="3000375"/>
            <a:ext cx="1066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Bootstrap</a:t>
            </a:r>
          </a:p>
        </p:txBody>
      </p:sp>
      <p:sp>
        <p:nvSpPr>
          <p:cNvPr id="30" name="Rettangolo con angoli arrotondati 29">
            <a:extLst>
              <a:ext uri="{FF2B5EF4-FFF2-40B4-BE49-F238E27FC236}">
                <a16:creationId xmlns:a16="http://schemas.microsoft.com/office/drawing/2014/main" id="{A5EE5BDE-E207-4580-9181-2937E33E5C6D}"/>
              </a:ext>
            </a:extLst>
          </p:cNvPr>
          <p:cNvSpPr>
            <a:spLocks noGrp="1"/>
          </p:cNvSpPr>
          <p:nvPr/>
        </p:nvSpPr>
        <p:spPr>
          <a:xfrm>
            <a:off x="9153525" y="2571750"/>
            <a:ext cx="1181100" cy="1143000"/>
          </a:xfrm>
          <a:prstGeom prst="roundRect">
            <a:avLst>
              <a:gd name="adj" fmla="val 10000"/>
            </a:avLst>
          </a:prstGeom>
          <a:solidFill>
            <a:srgbClr val="EEF4F3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435F2229-5271-4646-ABE1-64E812EA49E2}"/>
              </a:ext>
            </a:extLst>
          </p:cNvPr>
          <p:cNvSpPr>
            <a:spLocks noGrp="1"/>
          </p:cNvSpPr>
          <p:nvPr/>
        </p:nvSpPr>
        <p:spPr>
          <a:xfrm>
            <a:off x="9267825" y="268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07</a:t>
            </a:r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986B19F-0C91-48EF-8B16-2594ABF5E4E9}"/>
              </a:ext>
            </a:extLst>
          </p:cNvPr>
          <p:cNvSpPr>
            <a:spLocks noGrp="1"/>
          </p:cNvSpPr>
          <p:nvPr/>
        </p:nvSpPr>
        <p:spPr>
          <a:xfrm>
            <a:off x="9210675" y="3000375"/>
            <a:ext cx="1066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Temporal +</a:t>
            </a:r>
          </a:p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monthly</a:t>
            </a:r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2F036839-1B34-43B5-8FBE-A604BF797CE1}"/>
              </a:ext>
            </a:extLst>
          </p:cNvPr>
          <p:cNvSpPr>
            <a:spLocks noGrp="1"/>
          </p:cNvSpPr>
          <p:nvPr/>
        </p:nvSpPr>
        <p:spPr>
          <a:xfrm>
            <a:off x="10591800" y="2571750"/>
            <a:ext cx="1181100" cy="1143000"/>
          </a:xfrm>
          <a:prstGeom prst="roundRect">
            <a:avLst>
              <a:gd name="adj" fmla="val 10000"/>
            </a:avLst>
          </a:prstGeom>
          <a:solidFill>
            <a:srgbClr val="EEF4F3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Rettangolo 33">
            <a:extLst>
              <a:ext uri="{FF2B5EF4-FFF2-40B4-BE49-F238E27FC236}">
                <a16:creationId xmlns:a16="http://schemas.microsoft.com/office/drawing/2014/main" id="{CBF31A2E-539B-4E9E-B124-B1661EA8ABFA}"/>
              </a:ext>
            </a:extLst>
          </p:cNvPr>
          <p:cNvSpPr>
            <a:spLocks noGrp="1"/>
          </p:cNvSpPr>
          <p:nvPr/>
        </p:nvSpPr>
        <p:spPr>
          <a:xfrm>
            <a:off x="10706100" y="26860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08</a:t>
            </a:r>
          </a:p>
        </p:txBody>
      </p:sp>
      <p:sp>
        <p:nvSpPr>
          <p:cNvPr id="35" name="Rettangolo 34">
            <a:extLst>
              <a:ext uri="{FF2B5EF4-FFF2-40B4-BE49-F238E27FC236}">
                <a16:creationId xmlns:a16="http://schemas.microsoft.com/office/drawing/2014/main" id="{3D36EBEB-E963-47D6-8DF3-77E95C7ACB81}"/>
              </a:ext>
            </a:extLst>
          </p:cNvPr>
          <p:cNvSpPr>
            <a:spLocks noGrp="1"/>
          </p:cNvSpPr>
          <p:nvPr/>
        </p:nvSpPr>
        <p:spPr>
          <a:xfrm>
            <a:off x="10648950" y="3000375"/>
            <a:ext cx="1066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Violations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FC3A62C-8C4B-48FC-9DE9-5F88B8A1701E}"/>
              </a:ext>
            </a:extLst>
          </p:cNvPr>
          <p:cNvSpPr>
            <a:spLocks noGrp="1"/>
          </p:cNvSpPr>
          <p:nvPr/>
        </p:nvSpPr>
        <p:spPr>
          <a:xfrm>
            <a:off x="876300" y="40386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 i="0">
                <a:solidFill>
                  <a:srgbClr val="52636D"/>
                </a:solidFill>
              </a:defRPr>
            </a:pPr>
            <a:r>
              <a:rPr sz="1275" b="1" i="0">
                <a:solidFill>
                  <a:srgbClr val="52636D"/>
                </a:solidFill>
              </a:rPr>
              <a:t>PREPARE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F12CF85D-E151-4BB1-9C31-D3E1F1BDE576}"/>
              </a:ext>
            </a:extLst>
          </p:cNvPr>
          <p:cNvSpPr>
            <a:spLocks noGrp="1"/>
          </p:cNvSpPr>
          <p:nvPr/>
        </p:nvSpPr>
        <p:spPr>
          <a:xfrm>
            <a:off x="3781425" y="40386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 i="0">
                <a:solidFill>
                  <a:srgbClr val="52636D"/>
                </a:solidFill>
              </a:defRPr>
            </a:pPr>
            <a:r>
              <a:rPr sz="1275" b="1" i="0">
                <a:solidFill>
                  <a:srgbClr val="52636D"/>
                </a:solidFill>
              </a:rPr>
              <a:t>DISCOVER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803D4A3D-EB57-4A23-9006-962281E9D272}"/>
              </a:ext>
            </a:extLst>
          </p:cNvPr>
          <p:cNvSpPr>
            <a:spLocks noGrp="1"/>
          </p:cNvSpPr>
          <p:nvPr/>
        </p:nvSpPr>
        <p:spPr>
          <a:xfrm>
            <a:off x="6667500" y="4038600"/>
            <a:ext cx="2457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 i="0">
                <a:solidFill>
                  <a:srgbClr val="52636D"/>
                </a:solidFill>
              </a:defRPr>
            </a:pPr>
            <a:r>
              <a:rPr sz="1275" b="1" i="0">
                <a:solidFill>
                  <a:srgbClr val="52636D"/>
                </a:solidFill>
              </a:rPr>
              <a:t>VALIDATE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C5F4F457-B25C-44D1-A913-741548873991}"/>
              </a:ext>
            </a:extLst>
          </p:cNvPr>
          <p:cNvSpPr>
            <a:spLocks noGrp="1"/>
          </p:cNvSpPr>
          <p:nvPr/>
        </p:nvSpPr>
        <p:spPr>
          <a:xfrm>
            <a:off x="9572625" y="403860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 i="0">
                <a:solidFill>
                  <a:srgbClr val="52636D"/>
                </a:solidFill>
              </a:defRPr>
            </a:pPr>
            <a:r>
              <a:rPr sz="1275" b="1" i="0">
                <a:solidFill>
                  <a:srgbClr val="52636D"/>
                </a:solidFill>
              </a:rPr>
              <a:t>INVESTIGATE</a:t>
            </a:r>
          </a:p>
        </p:txBody>
      </p:sp>
      <p:sp>
        <p:nvSpPr>
          <p:cNvPr id="40" name="Rettangolo 39">
            <a:extLst>
              <a:ext uri="{FF2B5EF4-FFF2-40B4-BE49-F238E27FC236}">
                <a16:creationId xmlns:a16="http://schemas.microsoft.com/office/drawing/2014/main" id="{DEE0A035-1141-45C6-89D7-1ED0F8C27EFA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Rettangolo 40">
            <a:extLst>
              <a:ext uri="{FF2B5EF4-FFF2-40B4-BE49-F238E27FC236}">
                <a16:creationId xmlns:a16="http://schemas.microsoft.com/office/drawing/2014/main" id="{50AC82CE-11A6-474C-9840-E7E0A34EEEB8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Discovery is DiMε; every baseline and robustness check is strictly post-discovery.</a:t>
            </a:r>
          </a:p>
        </p:txBody>
      </p:sp>
    </p:spTree>
    <p:extLst>
      <p:ext uri="{BB962C8B-B14F-4D97-AF65-F5344CB8AC3E}">
        <p14:creationId xmlns:p14="http://schemas.microsoft.com/office/powerpoint/2010/main" val="10072063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63ACB8F7-DB4D-4320-A06E-9146FB4908C9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55A258B5-1408-46BC-ACAA-1AE62FD88ADA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Descriptive profiling reveals one dominant pattern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375E299E-1C5B-4149-9178-8626E26EE7A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98436897-71D9-4D62-9319-026609151FBD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10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46F8E0F3-70CF-4F87-B272-9C72ECE27620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6905625" cy="4057650"/>
          </a:xfrm>
          <a:prstGeom prst="roundRect">
            <a:avLst>
              <a:gd name="adj" fmla="val 2817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pic>
        <p:nvPicPr>
          <p:cNvPr id="18" name="Immagine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75336" y="1752600"/>
            <a:ext cx="4536053" cy="3752850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AEDA75EF-DED3-4F3D-A330-06364B87E169}"/>
              </a:ext>
            </a:extLst>
          </p:cNvPr>
          <p:cNvSpPr>
            <a:spLocks noGrp="1"/>
          </p:cNvSpPr>
          <p:nvPr/>
        </p:nvSpPr>
        <p:spPr>
          <a:xfrm>
            <a:off x="8096250" y="2333625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5100" b="1" i="0">
                <a:solidFill>
                  <a:srgbClr val="167D73"/>
                </a:solidFill>
              </a:defRPr>
            </a:pPr>
            <a:r>
              <a:rPr sz="5100" b="1" i="0">
                <a:solidFill>
                  <a:srgbClr val="167D73"/>
                </a:solidFill>
              </a:rPr>
              <a:t>0.874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2F8F192A-AF9C-4F22-B9EF-8F1E2A664093}"/>
              </a:ext>
            </a:extLst>
          </p:cNvPr>
          <p:cNvSpPr>
            <a:spLocks noGrp="1"/>
          </p:cNvSpPr>
          <p:nvPr/>
        </p:nvSpPr>
        <p:spPr>
          <a:xfrm>
            <a:off x="8096250" y="3286125"/>
            <a:ext cx="2857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PM2.5–PM10</a:t>
            </a:r>
          </a:p>
          <a:p>
            <a:pPr algn="ctr">
              <a:buNone/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Pearson correlation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32735A68-78ED-44F2-B03A-A5DC5F42108A}"/>
              </a:ext>
            </a:extLst>
          </p:cNvPr>
          <p:cNvSpPr>
            <a:spLocks noGrp="1"/>
          </p:cNvSpPr>
          <p:nvPr/>
        </p:nvSpPr>
        <p:spPr>
          <a:xfrm>
            <a:off x="8048625" y="4343400"/>
            <a:ext cx="2952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Correlation is descriptive context—not an RFD metric and not causal evidence.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2C75B64C-0413-491D-901B-14C32E0C3B77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201FAD44-A711-4721-B382-8B59E958BE6C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Fine and coarse particulate matter form the clearest descriptive relationship in the dataset.</a:t>
            </a:r>
          </a:p>
        </p:txBody>
      </p:sp>
    </p:spTree>
    <p:extLst>
      <p:ext uri="{BB962C8B-B14F-4D97-AF65-F5344CB8AC3E}">
        <p14:creationId xmlns:p14="http://schemas.microsoft.com/office/powerpoint/2010/main" val="785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77387F9B-490B-4042-945E-0FABA286AEC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313B7A60-600D-44A8-A2B2-A431428FF44C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PM2.5 behavior changes across time and stations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06D59E81-3B2E-49C7-88FD-866C63418EB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8FF42F64-05A8-4A98-8C8E-AB58C86302BA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11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0487F85-8AE4-4486-8ECF-49CEFEA4F083}"/>
              </a:ext>
            </a:extLst>
          </p:cNvPr>
          <p:cNvSpPr>
            <a:spLocks noGrp="1"/>
          </p:cNvSpPr>
          <p:nvPr/>
        </p:nvSpPr>
        <p:spPr>
          <a:xfrm>
            <a:off x="590550" y="1619250"/>
            <a:ext cx="11001375" cy="3943350"/>
          </a:xfrm>
          <a:prstGeom prst="roundRect">
            <a:avLst>
              <a:gd name="adj" fmla="val 2899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pic>
        <p:nvPicPr>
          <p:cNvPr id="15" name="Immagin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423989" y="1809750"/>
            <a:ext cx="7334497" cy="3562350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2C849C9-6B53-4CFC-B0E6-DA18C04D6ECC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ABCEDC8C-BF98-4E06-8DC0-4DCE1F2BBEFF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Temporal and site-level variability motivates continuous profiling rather than one static summary.</a:t>
            </a:r>
          </a:p>
        </p:txBody>
      </p:sp>
    </p:spTree>
    <p:extLst>
      <p:ext uri="{BB962C8B-B14F-4D97-AF65-F5344CB8AC3E}">
        <p14:creationId xmlns:p14="http://schemas.microsoft.com/office/powerpoint/2010/main" val="1071557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ttangolo 33">
            <a:extLst>
              <a:ext uri="{FF2B5EF4-FFF2-40B4-BE49-F238E27FC236}">
                <a16:creationId xmlns:a16="http://schemas.microsoft.com/office/drawing/2014/main" id="{31110AA1-1184-491D-BDFE-E686501F036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94FA4DBA-FC81-4AA5-8F28-B2D9048E325C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Top RFDs discovered by DiMε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207E91DF-27F3-44F5-9F3C-89FAF9104DA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566707FF-99B3-46FB-B8E5-F47EC6C6706A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12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0C6A0B64-0812-4CE3-9974-77196A50D66C}"/>
              </a:ext>
            </a:extLst>
          </p:cNvPr>
          <p:cNvSpPr>
            <a:spLocks noGrp="1"/>
          </p:cNvSpPr>
          <p:nvPr/>
        </p:nvSpPr>
        <p:spPr>
          <a:xfrm>
            <a:off x="628650" y="1781175"/>
            <a:ext cx="571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 i="0">
                <a:solidFill>
                  <a:srgbClr val="52636D"/>
                </a:solidFill>
              </a:defRPr>
            </a:pPr>
            <a:r>
              <a:rPr sz="1350" b="1" i="0" dirty="0">
                <a:solidFill>
                  <a:srgbClr val="52636D"/>
                </a:solidFill>
              </a:rPr>
              <a:t>Rule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32E8BC4-09EB-4743-9BF0-07067F1CEE15}"/>
              </a:ext>
            </a:extLst>
          </p:cNvPr>
          <p:cNvSpPr>
            <a:spLocks noGrp="1"/>
          </p:cNvSpPr>
          <p:nvPr/>
        </p:nvSpPr>
        <p:spPr>
          <a:xfrm>
            <a:off x="6572250" y="1781175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Support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BD66C6D7-D1D3-4E99-B11C-E09087CDDAA4}"/>
              </a:ext>
            </a:extLst>
          </p:cNvPr>
          <p:cNvSpPr>
            <a:spLocks noGrp="1"/>
          </p:cNvSpPr>
          <p:nvPr/>
        </p:nvSpPr>
        <p:spPr>
          <a:xfrm>
            <a:off x="7715250" y="1781175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Conf.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680FBC18-DB4E-4E6E-A00C-DB04C7DCB509}"/>
              </a:ext>
            </a:extLst>
          </p:cNvPr>
          <p:cNvSpPr>
            <a:spLocks noGrp="1"/>
          </p:cNvSpPr>
          <p:nvPr/>
        </p:nvSpPr>
        <p:spPr>
          <a:xfrm>
            <a:off x="8905875" y="1781175"/>
            <a:ext cx="1000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g3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4E36207-3E4F-4D7A-9FE7-06ABA636E791}"/>
              </a:ext>
            </a:extLst>
          </p:cNvPr>
          <p:cNvSpPr>
            <a:spLocks noGrp="1"/>
          </p:cNvSpPr>
          <p:nvPr/>
        </p:nvSpPr>
        <p:spPr>
          <a:xfrm>
            <a:off x="10096500" y="1781175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Lift</a:t>
            </a:r>
          </a:p>
        </p:txBody>
      </p:sp>
      <p:sp>
        <p:nvSpPr>
          <p:cNvPr id="10" name="Connettore dritto 9">
            <a:extLst>
              <a:ext uri="{FF2B5EF4-FFF2-40B4-BE49-F238E27FC236}">
                <a16:creationId xmlns:a16="http://schemas.microsoft.com/office/drawing/2014/main" id="{52CCE919-634F-4520-9DF7-8C8F6256D849}"/>
              </a:ext>
            </a:extLst>
          </p:cNvPr>
          <p:cNvSpPr>
            <a:spLocks noGrp="1"/>
          </p:cNvSpPr>
          <p:nvPr/>
        </p:nvSpPr>
        <p:spPr>
          <a:xfrm>
            <a:off x="609600" y="2133600"/>
            <a:ext cx="10477500" cy="0"/>
          </a:xfrm>
          <a:prstGeom prst="line">
            <a:avLst/>
          </a:prstGeom>
          <a:noFill/>
          <a:ln w="19050">
            <a:solidFill>
              <a:srgbClr val="1321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6776A421-D4F6-4FBA-B3CE-23295F6669F0}"/>
              </a:ext>
            </a:extLst>
          </p:cNvPr>
          <p:cNvSpPr>
            <a:spLocks noGrp="1"/>
          </p:cNvSpPr>
          <p:nvPr/>
        </p:nvSpPr>
        <p:spPr>
          <a:xfrm>
            <a:off x="552450" y="2247900"/>
            <a:ext cx="10591800" cy="704850"/>
          </a:xfrm>
          <a:prstGeom prst="rect">
            <a:avLst/>
          </a:prstGeom>
          <a:solidFill>
            <a:srgbClr val="EEF4F3"/>
          </a:solidFill>
          <a:ln w="0">
            <a:solidFill>
              <a:srgbClr val="EEF4F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6D975271-EDC6-443F-A28D-15159124FEBA}"/>
              </a:ext>
            </a:extLst>
          </p:cNvPr>
          <p:cNvSpPr>
            <a:spLocks noGrp="1"/>
          </p:cNvSpPr>
          <p:nvPr/>
        </p:nvSpPr>
        <p:spPr>
          <a:xfrm>
            <a:off x="628650" y="2343150"/>
            <a:ext cx="5715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station, PM10, NO2, O3, TEMP → WSPM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38FB807-B4D7-426C-B29B-1157942269C7}"/>
              </a:ext>
            </a:extLst>
          </p:cNvPr>
          <p:cNvSpPr>
            <a:spLocks noGrp="1"/>
          </p:cNvSpPr>
          <p:nvPr/>
        </p:nvSpPr>
        <p:spPr>
          <a:xfrm>
            <a:off x="6572250" y="2343150"/>
            <a:ext cx="95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1" i="0">
                <a:solidFill>
                  <a:srgbClr val="13212A"/>
                </a:solidFill>
              </a:defRPr>
            </a:pPr>
            <a:r>
              <a:rPr sz="1800" b="1" i="0">
                <a:solidFill>
                  <a:srgbClr val="13212A"/>
                </a:solidFill>
              </a:rPr>
              <a:t>0.0016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16222DA-02A5-4665-9476-3ED4FD3F2C13}"/>
              </a:ext>
            </a:extLst>
          </p:cNvPr>
          <p:cNvSpPr>
            <a:spLocks noGrp="1"/>
          </p:cNvSpPr>
          <p:nvPr/>
        </p:nvSpPr>
        <p:spPr>
          <a:xfrm>
            <a:off x="7715250" y="2343150"/>
            <a:ext cx="95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1" i="0">
                <a:solidFill>
                  <a:srgbClr val="13212A"/>
                </a:solidFill>
              </a:defRPr>
            </a:pPr>
            <a:r>
              <a:rPr sz="1800" b="1" i="0">
                <a:solidFill>
                  <a:srgbClr val="13212A"/>
                </a:solidFill>
              </a:rPr>
              <a:t>0.899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4C0FA988-FD50-43EF-9098-964EFDC291C5}"/>
              </a:ext>
            </a:extLst>
          </p:cNvPr>
          <p:cNvSpPr>
            <a:spLocks noGrp="1"/>
          </p:cNvSpPr>
          <p:nvPr/>
        </p:nvSpPr>
        <p:spPr>
          <a:xfrm>
            <a:off x="8905875" y="2343150"/>
            <a:ext cx="1000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1" i="0">
                <a:solidFill>
                  <a:srgbClr val="13212A"/>
                </a:solidFill>
              </a:defRPr>
            </a:pPr>
            <a:r>
              <a:rPr sz="1800" b="1" i="0">
                <a:solidFill>
                  <a:srgbClr val="13212A"/>
                </a:solidFill>
              </a:rPr>
              <a:t>0.092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2E500D78-EDB8-4FBF-A208-07CDB46EEF46}"/>
              </a:ext>
            </a:extLst>
          </p:cNvPr>
          <p:cNvSpPr>
            <a:spLocks noGrp="1"/>
          </p:cNvSpPr>
          <p:nvPr/>
        </p:nvSpPr>
        <p:spPr>
          <a:xfrm>
            <a:off x="10096500" y="2343150"/>
            <a:ext cx="95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1" i="0">
                <a:solidFill>
                  <a:srgbClr val="167D73"/>
                </a:solidFill>
              </a:defRPr>
            </a:pPr>
            <a:r>
              <a:rPr sz="1800" b="1" i="0">
                <a:solidFill>
                  <a:srgbClr val="167D73"/>
                </a:solidFill>
              </a:rPr>
              <a:t>1.163</a:t>
            </a:r>
          </a:p>
        </p:txBody>
      </p:sp>
      <p:sp>
        <p:nvSpPr>
          <p:cNvPr id="17" name="Connettore dritto 16">
            <a:extLst>
              <a:ext uri="{FF2B5EF4-FFF2-40B4-BE49-F238E27FC236}">
                <a16:creationId xmlns:a16="http://schemas.microsoft.com/office/drawing/2014/main" id="{17227CE4-69E3-407B-B59D-AB3FC086DC05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104775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AC512EE4-398A-411D-9644-1E803D2232CB}"/>
              </a:ext>
            </a:extLst>
          </p:cNvPr>
          <p:cNvSpPr>
            <a:spLocks noGrp="1"/>
          </p:cNvSpPr>
          <p:nvPr/>
        </p:nvSpPr>
        <p:spPr>
          <a:xfrm>
            <a:off x="628650" y="3219450"/>
            <a:ext cx="5715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PM2.5, PM10, NO2, O3, TEMP → WSPM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A89DDD17-B880-4C46-A118-ABDDA4A089BC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95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0.0013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2F5761DB-5985-450C-A471-8CFCD5942FBC}"/>
              </a:ext>
            </a:extLst>
          </p:cNvPr>
          <p:cNvSpPr>
            <a:spLocks noGrp="1"/>
          </p:cNvSpPr>
          <p:nvPr/>
        </p:nvSpPr>
        <p:spPr>
          <a:xfrm>
            <a:off x="7715250" y="3219450"/>
            <a:ext cx="95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0.889</a:t>
            </a: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958DED24-199C-4EB7-BA35-F4A9B0AFE4ED}"/>
              </a:ext>
            </a:extLst>
          </p:cNvPr>
          <p:cNvSpPr>
            <a:spLocks noGrp="1"/>
          </p:cNvSpPr>
          <p:nvPr/>
        </p:nvSpPr>
        <p:spPr>
          <a:xfrm>
            <a:off x="8905875" y="3219450"/>
            <a:ext cx="1000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0.074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5602F95B-5841-4825-B780-427D3B22400C}"/>
              </a:ext>
            </a:extLst>
          </p:cNvPr>
          <p:cNvSpPr>
            <a:spLocks noGrp="1"/>
          </p:cNvSpPr>
          <p:nvPr/>
        </p:nvSpPr>
        <p:spPr>
          <a:xfrm>
            <a:off x="10096500" y="3219450"/>
            <a:ext cx="95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1" i="0">
                <a:solidFill>
                  <a:srgbClr val="167D73"/>
                </a:solidFill>
              </a:defRPr>
            </a:pPr>
            <a:r>
              <a:rPr sz="1800" b="1" i="0">
                <a:solidFill>
                  <a:srgbClr val="167D73"/>
                </a:solidFill>
              </a:rPr>
              <a:t>1.155</a:t>
            </a:r>
          </a:p>
        </p:txBody>
      </p:sp>
      <p:sp>
        <p:nvSpPr>
          <p:cNvPr id="23" name="Connettore dritto 22">
            <a:extLst>
              <a:ext uri="{FF2B5EF4-FFF2-40B4-BE49-F238E27FC236}">
                <a16:creationId xmlns:a16="http://schemas.microsoft.com/office/drawing/2014/main" id="{B426CA17-E470-4A79-AAF9-9DED63FCBB29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104775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DE21A576-CAE1-4615-870D-BD459803E083}"/>
              </a:ext>
            </a:extLst>
          </p:cNvPr>
          <p:cNvSpPr>
            <a:spLocks noGrp="1"/>
          </p:cNvSpPr>
          <p:nvPr/>
        </p:nvSpPr>
        <p:spPr>
          <a:xfrm>
            <a:off x="628650" y="4095750"/>
            <a:ext cx="5715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time_slot → WSPM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166CE251-7047-4685-BC5A-2583062F1F5B}"/>
              </a:ext>
            </a:extLst>
          </p:cNvPr>
          <p:cNvSpPr>
            <a:spLocks noGrp="1"/>
          </p:cNvSpPr>
          <p:nvPr/>
        </p:nvSpPr>
        <p:spPr>
          <a:xfrm>
            <a:off x="6572250" y="4095750"/>
            <a:ext cx="95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0" i="0">
                <a:solidFill>
                  <a:srgbClr val="13212A"/>
                </a:solidFill>
              </a:defRPr>
            </a:pPr>
            <a:r>
              <a:rPr sz="1800" b="0" i="0" dirty="0">
                <a:solidFill>
                  <a:srgbClr val="13212A"/>
                </a:solidFill>
              </a:rPr>
              <a:t>0.2496</a:t>
            </a:r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E58B9546-8B68-4723-A058-E4CF7DB971F0}"/>
              </a:ext>
            </a:extLst>
          </p:cNvPr>
          <p:cNvSpPr>
            <a:spLocks noGrp="1"/>
          </p:cNvSpPr>
          <p:nvPr/>
        </p:nvSpPr>
        <p:spPr>
          <a:xfrm>
            <a:off x="7715250" y="4095750"/>
            <a:ext cx="95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0.858</a:t>
            </a:r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E432DB22-7CAD-4FAE-AB22-072D7858EBCE}"/>
              </a:ext>
            </a:extLst>
          </p:cNvPr>
          <p:cNvSpPr>
            <a:spLocks noGrp="1"/>
          </p:cNvSpPr>
          <p:nvPr/>
        </p:nvSpPr>
        <p:spPr>
          <a:xfrm>
            <a:off x="8905875" y="4095750"/>
            <a:ext cx="1000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0.047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69366FC3-7099-480E-B331-F235AF50AC99}"/>
              </a:ext>
            </a:extLst>
          </p:cNvPr>
          <p:cNvSpPr>
            <a:spLocks noGrp="1"/>
          </p:cNvSpPr>
          <p:nvPr/>
        </p:nvSpPr>
        <p:spPr>
          <a:xfrm>
            <a:off x="10096500" y="4095750"/>
            <a:ext cx="95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1" i="0">
                <a:solidFill>
                  <a:srgbClr val="167D73"/>
                </a:solidFill>
              </a:defRPr>
            </a:pPr>
            <a:r>
              <a:rPr sz="1800" b="1" i="0">
                <a:solidFill>
                  <a:srgbClr val="167D73"/>
                </a:solidFill>
              </a:rPr>
              <a:t>1.113</a:t>
            </a:r>
          </a:p>
        </p:txBody>
      </p:sp>
      <p:sp>
        <p:nvSpPr>
          <p:cNvPr id="29" name="Connettore dritto 28">
            <a:extLst>
              <a:ext uri="{FF2B5EF4-FFF2-40B4-BE49-F238E27FC236}">
                <a16:creationId xmlns:a16="http://schemas.microsoft.com/office/drawing/2014/main" id="{00323B97-D867-425F-A8EA-DC7D4CBE87FE}"/>
              </a:ext>
            </a:extLst>
          </p:cNvPr>
          <p:cNvSpPr>
            <a:spLocks noGrp="1"/>
          </p:cNvSpPr>
          <p:nvPr/>
        </p:nvSpPr>
        <p:spPr>
          <a:xfrm>
            <a:off x="609600" y="4724400"/>
            <a:ext cx="104775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Rettangolo con angoli arrotondati 29">
            <a:extLst>
              <a:ext uri="{FF2B5EF4-FFF2-40B4-BE49-F238E27FC236}">
                <a16:creationId xmlns:a16="http://schemas.microsoft.com/office/drawing/2014/main" id="{019BE711-00F1-42CB-9E80-E2367FCEF978}"/>
              </a:ext>
            </a:extLst>
          </p:cNvPr>
          <p:cNvSpPr>
            <a:spLocks noGrp="1"/>
          </p:cNvSpPr>
          <p:nvPr/>
        </p:nvSpPr>
        <p:spPr>
          <a:xfrm>
            <a:off x="1619250" y="5095875"/>
            <a:ext cx="8763000" cy="590550"/>
          </a:xfrm>
          <a:prstGeom prst="roundRect">
            <a:avLst>
              <a:gd name="adj" fmla="val 19355"/>
            </a:avLst>
          </a:prstGeom>
          <a:solidFill>
            <a:srgbClr val="D9EFEC"/>
          </a:solidFill>
          <a:ln w="9525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81286D59-512B-418F-A35E-F2994C71F919}"/>
              </a:ext>
            </a:extLst>
          </p:cNvPr>
          <p:cNvSpPr>
            <a:spLocks noGrp="1"/>
          </p:cNvSpPr>
          <p:nvPr/>
        </p:nvSpPr>
        <p:spPr>
          <a:xfrm>
            <a:off x="1809750" y="5248275"/>
            <a:ext cx="838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00" b="1" i="0">
                <a:solidFill>
                  <a:srgbClr val="13212A"/>
                </a:solidFill>
              </a:defRPr>
            </a:pPr>
            <a:r>
              <a:rPr sz="1800" b="1" i="0">
                <a:solidFill>
                  <a:srgbClr val="13212A"/>
                </a:solidFill>
              </a:rPr>
              <a:t>5 minimal RFDs · 960 candidates · 8 lattice levels</a:t>
            </a:r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26F92158-B2E2-4228-A69C-0B97A1365118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E9D27876-BB47-4DD7-8AF3-54EE5F007370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Four of five RFDs have low support; time_slot → WSPM is most general (support 0.24955).</a:t>
            </a:r>
          </a:p>
        </p:txBody>
      </p:sp>
    </p:spTree>
    <p:extLst>
      <p:ext uri="{BB962C8B-B14F-4D97-AF65-F5344CB8AC3E}">
        <p14:creationId xmlns:p14="http://schemas.microsoft.com/office/powerpoint/2010/main" val="1994174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18">
            <a:extLst>
              <a:ext uri="{FF2B5EF4-FFF2-40B4-BE49-F238E27FC236}">
                <a16:creationId xmlns:a16="http://schemas.microsoft.com/office/drawing/2014/main" id="{5853D310-4F32-4ED4-ADC5-95549C35D394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4A28C40-5809-4E1C-A47F-F5B28939CC5C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g3 and confidence answer different questions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0E06D9BC-23E1-4173-8C77-D81C16234A8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E4273E80-EB22-40D7-B0D0-FC19B6FA8803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13</a:t>
            </a: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A6F0BF3B-1C1D-4689-9129-5B5AADD149C4}"/>
              </a:ext>
            </a:extLst>
          </p:cNvPr>
          <p:cNvSpPr>
            <a:spLocks noGrp="1"/>
          </p:cNvSpPr>
          <p:nvPr/>
        </p:nvSpPr>
        <p:spPr>
          <a:xfrm>
            <a:off x="857250" y="1857375"/>
            <a:ext cx="4000500" cy="3143250"/>
          </a:xfrm>
          <a:prstGeom prst="ellipse">
            <a:avLst/>
          </a:prstGeom>
          <a:solidFill>
            <a:srgbClr val="D9EFEC"/>
          </a:solidFill>
          <a:ln w="19050">
            <a:solidFill>
              <a:srgbClr val="53A89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C54A307-AE12-4673-ABD9-4FC06EB94651}"/>
              </a:ext>
            </a:extLst>
          </p:cNvPr>
          <p:cNvSpPr>
            <a:spLocks noGrp="1"/>
          </p:cNvSpPr>
          <p:nvPr/>
        </p:nvSpPr>
        <p:spPr>
          <a:xfrm>
            <a:off x="1743075" y="2095500"/>
            <a:ext cx="2238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550" b="1" i="0">
                <a:solidFill>
                  <a:srgbClr val="2D6278"/>
                </a:solidFill>
              </a:defRPr>
            </a:pPr>
            <a:r>
              <a:rPr sz="2550" b="1" i="0">
                <a:solidFill>
                  <a:srgbClr val="2D6278"/>
                </a:solidFill>
              </a:rPr>
              <a:t>g3 ERROR</a:t>
            </a:r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BBEC5DFE-B7E4-4B0D-BCC9-2CCE347022B2}"/>
              </a:ext>
            </a:extLst>
          </p:cNvPr>
          <p:cNvSpPr>
            <a:spLocks noGrp="1"/>
          </p:cNvSpPr>
          <p:nvPr/>
        </p:nvSpPr>
        <p:spPr>
          <a:xfrm>
            <a:off x="1838325" y="3000375"/>
            <a:ext cx="2000250" cy="152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64FA002A-D24B-465C-8B6B-9DAB7253FE77}"/>
              </a:ext>
            </a:extLst>
          </p:cNvPr>
          <p:cNvSpPr>
            <a:spLocks noGrp="1"/>
          </p:cNvSpPr>
          <p:nvPr/>
        </p:nvSpPr>
        <p:spPr>
          <a:xfrm>
            <a:off x="2133600" y="3495675"/>
            <a:ext cx="1428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250" b="1" i="0">
                <a:solidFill>
                  <a:srgbClr val="167D73"/>
                </a:solidFill>
              </a:defRPr>
            </a:pPr>
            <a:r>
              <a:rPr sz="2250" b="1" i="0">
                <a:solidFill>
                  <a:srgbClr val="167D73"/>
                </a:solidFill>
              </a:rPr>
              <a:t>CONF.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9A67209-EBCF-4A60-B5B9-5484B42FFBE2}"/>
              </a:ext>
            </a:extLst>
          </p:cNvPr>
          <p:cNvSpPr>
            <a:spLocks noGrp="1"/>
          </p:cNvSpPr>
          <p:nvPr/>
        </p:nvSpPr>
        <p:spPr>
          <a:xfrm>
            <a:off x="5715000" y="1857375"/>
            <a:ext cx="5143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Minimum tuple-removal fraction needed to make an RFD hold.</a:t>
            </a: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1712AFBB-F3D9-4AAA-B525-16E2353A69AF}"/>
              </a:ext>
            </a:extLst>
          </p:cNvPr>
          <p:cNvSpPr>
            <a:spLocks noGrp="1"/>
          </p:cNvSpPr>
          <p:nvPr/>
        </p:nvSpPr>
        <p:spPr>
          <a:xfrm>
            <a:off x="5762625" y="29432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48289C21-4451-4001-8084-04F3FF112D53}"/>
              </a:ext>
            </a:extLst>
          </p:cNvPr>
          <p:cNvSpPr>
            <a:spLocks noGrp="1"/>
          </p:cNvSpPr>
          <p:nvPr/>
        </p:nvSpPr>
        <p:spPr>
          <a:xfrm>
            <a:off x="5991225" y="2857500"/>
            <a:ext cx="48672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Valid similar pairs divided by antecedent pairs.</a:t>
            </a:r>
          </a:p>
        </p:txBody>
      </p:sp>
      <p:sp>
        <p:nvSpPr>
          <p:cNvPr id="12" name="Ovale 11">
            <a:extLst>
              <a:ext uri="{FF2B5EF4-FFF2-40B4-BE49-F238E27FC236}">
                <a16:creationId xmlns:a16="http://schemas.microsoft.com/office/drawing/2014/main" id="{C463B36E-C853-429A-9A67-CA711F33B46D}"/>
              </a:ext>
            </a:extLst>
          </p:cNvPr>
          <p:cNvSpPr>
            <a:spLocks noGrp="1"/>
          </p:cNvSpPr>
          <p:nvPr/>
        </p:nvSpPr>
        <p:spPr>
          <a:xfrm>
            <a:off x="5762625" y="35909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71BE60C6-F880-4207-B1CB-AA47EE39D5E6}"/>
              </a:ext>
            </a:extLst>
          </p:cNvPr>
          <p:cNvSpPr>
            <a:spLocks noGrp="1"/>
          </p:cNvSpPr>
          <p:nvPr/>
        </p:nvSpPr>
        <p:spPr>
          <a:xfrm>
            <a:off x="5991225" y="3505200"/>
            <a:ext cx="48672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DiMε discovers rules with g3 ≤ 0.10.</a:t>
            </a:r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28EF1E64-F17E-40CC-96C5-06E8F6FC6EDD}"/>
              </a:ext>
            </a:extLst>
          </p:cNvPr>
          <p:cNvSpPr>
            <a:spLocks noGrp="1"/>
          </p:cNvSpPr>
          <p:nvPr/>
        </p:nvSpPr>
        <p:spPr>
          <a:xfrm>
            <a:off x="5762625" y="42386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31A772BD-C746-45C6-B5CE-00C4775885B6}"/>
              </a:ext>
            </a:extLst>
          </p:cNvPr>
          <p:cNvSpPr>
            <a:spLocks noGrp="1"/>
          </p:cNvSpPr>
          <p:nvPr/>
        </p:nvSpPr>
        <p:spPr>
          <a:xfrm>
            <a:off x="5991225" y="4152900"/>
            <a:ext cx="48672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Pairwise confidence ranks discovered rules afterward.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531D8D2D-93BB-4D0D-B3FC-F0480F8F81C4}"/>
              </a:ext>
            </a:extLst>
          </p:cNvPr>
          <p:cNvSpPr>
            <a:spLocks noGrp="1"/>
          </p:cNvSpPr>
          <p:nvPr/>
        </p:nvSpPr>
        <p:spPr>
          <a:xfrm>
            <a:off x="5753100" y="4933950"/>
            <a:ext cx="4762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250" b="1" i="0">
                <a:solidFill>
                  <a:srgbClr val="B5534A"/>
                </a:solidFill>
              </a:defRPr>
            </a:pPr>
            <a:r>
              <a:rPr sz="2250" b="1" i="0">
                <a:solidFill>
                  <a:srgbClr val="B5534A"/>
                </a:solidFill>
              </a:rPr>
              <a:t>DISCOVERY ≠ RANKING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402BD765-6F44-4189-BC8F-80926EF1EAAF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5C303053-3DAF-4AD0-BDFE-B07464C995F2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Low g3 can coexist with pair violations because tuple removal and pair counting differ.</a:t>
            </a:r>
          </a:p>
        </p:txBody>
      </p:sp>
    </p:spTree>
    <p:extLst>
      <p:ext uri="{BB962C8B-B14F-4D97-AF65-F5344CB8AC3E}">
        <p14:creationId xmlns:p14="http://schemas.microsoft.com/office/powerpoint/2010/main" val="14466680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18">
            <a:extLst>
              <a:ext uri="{FF2B5EF4-FFF2-40B4-BE49-F238E27FC236}">
                <a16:creationId xmlns:a16="http://schemas.microsoft.com/office/drawing/2014/main" id="{6896A3C4-AD5E-4BB6-A977-51B9BDBF8C2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13E9451B-3B2B-4067-870A-6CFA5CE5CAC8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Post-discovery validation design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92E6D701-3E80-4196-B481-371A186ED90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03736A15-0710-4D1E-A58E-26518CE57AD2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14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F50221FD-8F88-42C2-9716-6FABE1AA71E3}"/>
              </a:ext>
            </a:extLst>
          </p:cNvPr>
          <p:cNvSpPr>
            <a:spLocks noGrp="1"/>
          </p:cNvSpPr>
          <p:nvPr/>
        </p:nvSpPr>
        <p:spPr>
          <a:xfrm>
            <a:off x="876300" y="1866900"/>
            <a:ext cx="10429875" cy="1123950"/>
          </a:xfrm>
          <a:prstGeom prst="roundRect">
            <a:avLst>
              <a:gd name="adj" fmla="val 10169"/>
            </a:avLst>
          </a:prstGeom>
          <a:solidFill>
            <a:srgbClr val="EEF4F3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3B703F2E-C2AF-49D1-9496-605DBC3A7F4E}"/>
              </a:ext>
            </a:extLst>
          </p:cNvPr>
          <p:cNvSpPr>
            <a:spLocks noGrp="1"/>
          </p:cNvSpPr>
          <p:nvPr/>
        </p:nvSpPr>
        <p:spPr>
          <a:xfrm>
            <a:off x="1143000" y="2200275"/>
            <a:ext cx="990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325" b="1" i="0">
                <a:solidFill>
                  <a:srgbClr val="13212A"/>
                </a:solidFill>
              </a:defRPr>
            </a:pPr>
            <a:r>
              <a:rPr sz="2325" b="1" i="0">
                <a:solidFill>
                  <a:srgbClr val="13212A"/>
                </a:solidFill>
              </a:rPr>
              <a:t>Discovered RFDs  →  robustness checks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FE3520CE-F383-4CBC-AA77-B2E2C6A17B33}"/>
              </a:ext>
            </a:extLst>
          </p:cNvPr>
          <p:cNvSpPr>
            <a:spLocks noGrp="1"/>
          </p:cNvSpPr>
          <p:nvPr/>
        </p:nvSpPr>
        <p:spPr>
          <a:xfrm>
            <a:off x="1285875" y="3476625"/>
            <a:ext cx="180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30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5E2BCE-4918-4548-BAED-C73D634AA7DD}"/>
              </a:ext>
            </a:extLst>
          </p:cNvPr>
          <p:cNvSpPr>
            <a:spLocks noGrp="1"/>
          </p:cNvSpPr>
          <p:nvPr/>
        </p:nvSpPr>
        <p:spPr>
          <a:xfrm>
            <a:off x="1285875" y="411480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bootstrap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68493296-8240-4BB0-AC65-286F31505CA7}"/>
              </a:ext>
            </a:extLst>
          </p:cNvPr>
          <p:cNvSpPr>
            <a:spLocks noGrp="1"/>
          </p:cNvSpPr>
          <p:nvPr/>
        </p:nvSpPr>
        <p:spPr>
          <a:xfrm>
            <a:off x="3876675" y="3476625"/>
            <a:ext cx="180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3600" b="1" i="0">
                <a:solidFill>
                  <a:srgbClr val="167D73"/>
                </a:solidFill>
              </a:defRPr>
            </a:pPr>
            <a:r>
              <a:rPr sz="3600" b="1" i="0">
                <a:solidFill>
                  <a:srgbClr val="167D73"/>
                </a:solidFill>
              </a:rPr>
              <a:t>75 / 25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55FF19E9-D21E-4B1E-9D93-2FEBE7F8DB6D}"/>
              </a:ext>
            </a:extLst>
          </p:cNvPr>
          <p:cNvSpPr>
            <a:spLocks noGrp="1"/>
          </p:cNvSpPr>
          <p:nvPr/>
        </p:nvSpPr>
        <p:spPr>
          <a:xfrm>
            <a:off x="3876675" y="411480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train / test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F8E47B96-F163-458A-938E-47AEB65F9301}"/>
              </a:ext>
            </a:extLst>
          </p:cNvPr>
          <p:cNvSpPr>
            <a:spLocks noGrp="1"/>
          </p:cNvSpPr>
          <p:nvPr/>
        </p:nvSpPr>
        <p:spPr>
          <a:xfrm>
            <a:off x="6467475" y="3476625"/>
            <a:ext cx="180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49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6C17361E-37B4-437E-BC5C-1F29348CADAB}"/>
              </a:ext>
            </a:extLst>
          </p:cNvPr>
          <p:cNvSpPr>
            <a:spLocks noGrp="1"/>
          </p:cNvSpPr>
          <p:nvPr/>
        </p:nvSpPr>
        <p:spPr>
          <a:xfrm>
            <a:off x="6467475" y="411480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monthly windows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24AD639-3555-49EE-92E9-B3972DF4FAB3}"/>
              </a:ext>
            </a:extLst>
          </p:cNvPr>
          <p:cNvSpPr>
            <a:spLocks noGrp="1"/>
          </p:cNvSpPr>
          <p:nvPr/>
        </p:nvSpPr>
        <p:spPr>
          <a:xfrm>
            <a:off x="9058275" y="3476625"/>
            <a:ext cx="180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200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66952E37-55BA-42D0-81CA-7EB0048FCF6E}"/>
              </a:ext>
            </a:extLst>
          </p:cNvPr>
          <p:cNvSpPr>
            <a:spLocks noGrp="1"/>
          </p:cNvSpPr>
          <p:nvPr/>
        </p:nvSpPr>
        <p:spPr>
          <a:xfrm>
            <a:off x="9058275" y="411480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pairs / rule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615664D6-866B-4EF7-A209-0D9A015ABCCC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Bootstrap resampling quantifies variability in support, confidence and lift.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D7780C72-474D-48D2-BBE4-643C5FDB5260}"/>
              </a:ext>
            </a:extLst>
          </p:cNvPr>
          <p:cNvSpPr>
            <a:spLocks noGrp="1"/>
          </p:cNvSpPr>
          <p:nvPr/>
        </p:nvSpPr>
        <p:spPr>
          <a:xfrm>
            <a:off x="1809750" y="51625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75" b="1" i="0">
                <a:solidFill>
                  <a:srgbClr val="2D6278"/>
                </a:solidFill>
              </a:defRPr>
            </a:pPr>
            <a:r>
              <a:rPr sz="1575" b="1" i="0">
                <a:solidFill>
                  <a:srgbClr val="2D6278"/>
                </a:solidFill>
              </a:rPr>
              <a:t>Chronological validation separates the 2013–2016 training period from the 2016–2017 test year.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C614B4B2-DC5F-46EA-8C69-0AA5B2301A64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1DCD14E0-8A8C-4AA5-911D-961E90DC5762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Monthly profiling and violation-pair exports support monitoring and targeted follow-up.</a:t>
            </a:r>
          </a:p>
        </p:txBody>
      </p:sp>
    </p:spTree>
    <p:extLst>
      <p:ext uri="{BB962C8B-B14F-4D97-AF65-F5344CB8AC3E}">
        <p14:creationId xmlns:p14="http://schemas.microsoft.com/office/powerpoint/2010/main" val="872964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tangolo 24">
            <a:extLst>
              <a:ext uri="{FF2B5EF4-FFF2-40B4-BE49-F238E27FC236}">
                <a16:creationId xmlns:a16="http://schemas.microsoft.com/office/drawing/2014/main" id="{9CFA85A3-7CAE-4472-AC03-6E916CF47980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A7CBFF53-F042-467D-BADD-2AAAC974D74D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The top DiMε rule remains relatively stable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2186C702-F64B-4DCA-97E1-4B896BFA0E2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B550ABAC-6662-4BC0-8FEF-F1AE468AA608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15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B4EAE25C-D8B3-496E-B565-BC4FA9664673}"/>
              </a:ext>
            </a:extLst>
          </p:cNvPr>
          <p:cNvSpPr>
            <a:spLocks noGrp="1"/>
          </p:cNvSpPr>
          <p:nvPr/>
        </p:nvSpPr>
        <p:spPr>
          <a:xfrm>
            <a:off x="742950" y="1781175"/>
            <a:ext cx="485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BOOTSTRAP · 30 BALANCED RESAMPLES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6296442-70AC-4C17-9623-57858D8FB761}"/>
              </a:ext>
            </a:extLst>
          </p:cNvPr>
          <p:cNvSpPr>
            <a:spLocks noGrp="1"/>
          </p:cNvSpPr>
          <p:nvPr/>
        </p:nvSpPr>
        <p:spPr>
          <a:xfrm>
            <a:off x="876300" y="2362200"/>
            <a:ext cx="190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4125" b="1" i="0">
                <a:solidFill>
                  <a:srgbClr val="13212A"/>
                </a:solidFill>
              </a:defRPr>
            </a:pPr>
            <a:r>
              <a:rPr sz="4125" b="1" i="0">
                <a:solidFill>
                  <a:srgbClr val="13212A"/>
                </a:solidFill>
              </a:rPr>
              <a:t>0.930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3E250435-AF34-489E-BFFD-254BDC0F5B53}"/>
              </a:ext>
            </a:extLst>
          </p:cNvPr>
          <p:cNvSpPr>
            <a:spLocks noGrp="1"/>
          </p:cNvSpPr>
          <p:nvPr/>
        </p:nvSpPr>
        <p:spPr>
          <a:xfrm>
            <a:off x="914400" y="305752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mean confidence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42C4334E-1AFE-46E1-A321-54CFA5E3EFE8}"/>
              </a:ext>
            </a:extLst>
          </p:cNvPr>
          <p:cNvSpPr>
            <a:spLocks noGrp="1"/>
          </p:cNvSpPr>
          <p:nvPr/>
        </p:nvSpPr>
        <p:spPr>
          <a:xfrm>
            <a:off x="3219450" y="2362200"/>
            <a:ext cx="190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4125" b="1" i="0">
                <a:solidFill>
                  <a:srgbClr val="167D73"/>
                </a:solidFill>
              </a:defRPr>
            </a:pPr>
            <a:r>
              <a:rPr sz="4125" b="1" i="0">
                <a:solidFill>
                  <a:srgbClr val="167D73"/>
                </a:solidFill>
              </a:rPr>
              <a:t>1.207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68D698A8-DB8C-42D8-8655-A38CF4A7DB25}"/>
              </a:ext>
            </a:extLst>
          </p:cNvPr>
          <p:cNvSpPr>
            <a:spLocks noGrp="1"/>
          </p:cNvSpPr>
          <p:nvPr/>
        </p:nvSpPr>
        <p:spPr>
          <a:xfrm>
            <a:off x="3276600" y="3057525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mean lift</a:t>
            </a:r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D4E75BAD-83E1-4D39-8282-E65A23DA5827}"/>
              </a:ext>
            </a:extLst>
          </p:cNvPr>
          <p:cNvSpPr>
            <a:spLocks noGrp="1"/>
          </p:cNvSpPr>
          <p:nvPr/>
        </p:nvSpPr>
        <p:spPr>
          <a:xfrm>
            <a:off x="857250" y="3667125"/>
            <a:ext cx="4267200" cy="857250"/>
          </a:xfrm>
          <a:prstGeom prst="roundRect">
            <a:avLst>
              <a:gd name="adj" fmla="val 13333"/>
            </a:avLst>
          </a:prstGeom>
          <a:solidFill>
            <a:srgbClr val="EEF4F3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B4672958-54EB-44A7-A79F-F43D6639B899}"/>
              </a:ext>
            </a:extLst>
          </p:cNvPr>
          <p:cNvSpPr>
            <a:spLocks noGrp="1"/>
          </p:cNvSpPr>
          <p:nvPr/>
        </p:nvSpPr>
        <p:spPr>
          <a:xfrm>
            <a:off x="1066800" y="3829050"/>
            <a:ext cx="3810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95% empirical lift interval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40E8BC67-18D9-4904-A574-39237E344C45}"/>
              </a:ext>
            </a:extLst>
          </p:cNvPr>
          <p:cNvSpPr>
            <a:spLocks noGrp="1"/>
          </p:cNvSpPr>
          <p:nvPr/>
        </p:nvSpPr>
        <p:spPr>
          <a:xfrm>
            <a:off x="1066800" y="41148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100" b="1" i="0">
                <a:solidFill>
                  <a:srgbClr val="13212A"/>
                </a:solidFill>
              </a:defRPr>
            </a:pPr>
            <a:r>
              <a:rPr sz="2100" b="1" i="0">
                <a:solidFill>
                  <a:srgbClr val="13212A"/>
                </a:solidFill>
              </a:rPr>
              <a:t>[1.171, 1.244]</a:t>
            </a:r>
          </a:p>
        </p:txBody>
      </p:sp>
      <p:sp>
        <p:nvSpPr>
          <p:cNvPr id="13" name="Connettore dritto 12">
            <a:extLst>
              <a:ext uri="{FF2B5EF4-FFF2-40B4-BE49-F238E27FC236}">
                <a16:creationId xmlns:a16="http://schemas.microsoft.com/office/drawing/2014/main" id="{DB995394-0A81-4DD2-87E6-601BBDBCD1FA}"/>
              </a:ext>
            </a:extLst>
          </p:cNvPr>
          <p:cNvSpPr>
            <a:spLocks noGrp="1"/>
          </p:cNvSpPr>
          <p:nvPr/>
        </p:nvSpPr>
        <p:spPr>
          <a:xfrm>
            <a:off x="6048375" y="1752600"/>
            <a:ext cx="0" cy="3333750"/>
          </a:xfrm>
          <a:prstGeom prst="line">
            <a:avLst/>
          </a:prstGeom>
          <a:noFill/>
          <a:ln w="19050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67BFA461-5546-44E5-86F1-40415C0193CA}"/>
              </a:ext>
            </a:extLst>
          </p:cNvPr>
          <p:cNvSpPr>
            <a:spLocks noGrp="1"/>
          </p:cNvSpPr>
          <p:nvPr/>
        </p:nvSpPr>
        <p:spPr>
          <a:xfrm>
            <a:off x="6667500" y="1781175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CHRONOLOGICAL VALIDATION · 75 / 25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6887EF5A-980E-42EE-A09D-021A5F910745}"/>
              </a:ext>
            </a:extLst>
          </p:cNvPr>
          <p:cNvSpPr>
            <a:spLocks noGrp="1"/>
          </p:cNvSpPr>
          <p:nvPr/>
        </p:nvSpPr>
        <p:spPr>
          <a:xfrm>
            <a:off x="6781800" y="253365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TRAIN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903DF3E7-C56A-48E8-96B8-4B3258DF71A0}"/>
              </a:ext>
            </a:extLst>
          </p:cNvPr>
          <p:cNvSpPr>
            <a:spLocks noGrp="1"/>
          </p:cNvSpPr>
          <p:nvPr/>
        </p:nvSpPr>
        <p:spPr>
          <a:xfrm>
            <a:off x="6781800" y="295275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Mar 2013–Feb 2016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220091EA-C4BD-45BA-9738-E022A1965BF4}"/>
              </a:ext>
            </a:extLst>
          </p:cNvPr>
          <p:cNvSpPr>
            <a:spLocks noGrp="1"/>
          </p:cNvSpPr>
          <p:nvPr/>
        </p:nvSpPr>
        <p:spPr>
          <a:xfrm>
            <a:off x="6781800" y="335280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400" b="1" i="0">
                <a:solidFill>
                  <a:srgbClr val="13212A"/>
                </a:solidFill>
              </a:defRPr>
            </a:pPr>
            <a:r>
              <a:rPr sz="2400" b="1" i="0">
                <a:solidFill>
                  <a:srgbClr val="13212A"/>
                </a:solidFill>
              </a:rPr>
              <a:t>lift 1.161</a:t>
            </a:r>
          </a:p>
        </p:txBody>
      </p:sp>
      <p:sp>
        <p:nvSpPr>
          <p:cNvPr id="18" name="Freccia destra 17">
            <a:extLst>
              <a:ext uri="{FF2B5EF4-FFF2-40B4-BE49-F238E27FC236}">
                <a16:creationId xmlns:a16="http://schemas.microsoft.com/office/drawing/2014/main" id="{D21161CF-8A7A-4327-AFC4-E8EE798951C7}"/>
              </a:ext>
            </a:extLst>
          </p:cNvPr>
          <p:cNvSpPr>
            <a:spLocks noGrp="1"/>
          </p:cNvSpPr>
          <p:nvPr/>
        </p:nvSpPr>
        <p:spPr>
          <a:xfrm>
            <a:off x="8715375" y="3343275"/>
            <a:ext cx="762000" cy="323850"/>
          </a:xfrm>
          <a:prstGeom prst="rightArrow">
            <a:avLst/>
          </a:prstGeom>
          <a:solidFill>
            <a:srgbClr val="D9EFEC"/>
          </a:solidFill>
          <a:ln w="0">
            <a:solidFill>
              <a:srgbClr val="D9EF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85968292-69B5-4800-B0BA-1243FECEE4B3}"/>
              </a:ext>
            </a:extLst>
          </p:cNvPr>
          <p:cNvSpPr>
            <a:spLocks noGrp="1"/>
          </p:cNvSpPr>
          <p:nvPr/>
        </p:nvSpPr>
        <p:spPr>
          <a:xfrm>
            <a:off x="9658350" y="253365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TEST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4E8BAC9E-E1D0-4F3F-9F85-F3FEFF417C22}"/>
              </a:ext>
            </a:extLst>
          </p:cNvPr>
          <p:cNvSpPr>
            <a:spLocks noGrp="1"/>
          </p:cNvSpPr>
          <p:nvPr/>
        </p:nvSpPr>
        <p:spPr>
          <a:xfrm>
            <a:off x="9372600" y="295275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Mar 2016–Feb 2017</a:t>
            </a: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281C4528-0ABE-4749-AEE6-0DB3F7E44974}"/>
              </a:ext>
            </a:extLst>
          </p:cNvPr>
          <p:cNvSpPr>
            <a:spLocks noGrp="1"/>
          </p:cNvSpPr>
          <p:nvPr/>
        </p:nvSpPr>
        <p:spPr>
          <a:xfrm>
            <a:off x="9563100" y="3352800"/>
            <a:ext cx="190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400" b="1" i="0">
                <a:solidFill>
                  <a:srgbClr val="167D73"/>
                </a:solidFill>
              </a:defRPr>
            </a:pPr>
            <a:r>
              <a:rPr sz="2400" b="1" i="0">
                <a:solidFill>
                  <a:srgbClr val="167D73"/>
                </a:solidFill>
              </a:rPr>
              <a:t>lift 1.178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AD2EFB50-A39A-4BBE-B64F-E65F9A8BDEC4}"/>
              </a:ext>
            </a:extLst>
          </p:cNvPr>
          <p:cNvSpPr>
            <a:spLocks noGrp="1"/>
          </p:cNvSpPr>
          <p:nvPr/>
        </p:nvSpPr>
        <p:spPr>
          <a:xfrm>
            <a:off x="7000875" y="4191000"/>
            <a:ext cx="428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75" b="0" i="0">
                <a:solidFill>
                  <a:srgbClr val="52636D"/>
                </a:solidFill>
              </a:defRPr>
            </a:pPr>
            <a:r>
              <a:rPr sz="1575" b="0" i="0">
                <a:solidFill>
                  <a:srgbClr val="52636D"/>
                </a:solidFill>
              </a:rPr>
              <a:t>Confidence rises from 0.888 to 0.937.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97F44741-6CC6-4286-846E-EB22A785ACB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28891C35-3B5A-41A1-ADE4-4040145DEACB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Bootstrap and the held-out year keep lift above 1 for the top DiMε rule.</a:t>
            </a:r>
          </a:p>
        </p:txBody>
      </p:sp>
    </p:spTree>
    <p:extLst>
      <p:ext uri="{BB962C8B-B14F-4D97-AF65-F5344CB8AC3E}">
        <p14:creationId xmlns:p14="http://schemas.microsoft.com/office/powerpoint/2010/main" val="1843979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7812E51B-E986-4866-9459-7794B5E4C060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190446A-9FC8-4730-BF1F-7C7EBA199277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Continuous profiling exposes changing regimes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C15F6DEE-EDEA-4BDB-BB01-FD7AFB0C828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B15AFCF5-0007-4B01-AD22-74D274A8E2C4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16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A36DC27E-31B3-436E-88EC-052E208F89AC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7953375" cy="4057650"/>
          </a:xfrm>
          <a:prstGeom prst="roundRect">
            <a:avLst>
              <a:gd name="adj" fmla="val 2817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pic>
        <p:nvPicPr>
          <p:cNvPr id="23" name="Immagine 2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93488" y="1752600"/>
            <a:ext cx="6566548" cy="3752850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320E6E80-A9E5-4CE3-B611-08BE148C9238}"/>
              </a:ext>
            </a:extLst>
          </p:cNvPr>
          <p:cNvSpPr>
            <a:spLocks noGrp="1"/>
          </p:cNvSpPr>
          <p:nvPr/>
        </p:nvSpPr>
        <p:spPr>
          <a:xfrm>
            <a:off x="9239250" y="2209800"/>
            <a:ext cx="1619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4650" b="1" i="0">
                <a:solidFill>
                  <a:srgbClr val="167D73"/>
                </a:solidFill>
              </a:defRPr>
            </a:pPr>
            <a:r>
              <a:rPr sz="4650" b="1" i="0">
                <a:solidFill>
                  <a:srgbClr val="167D73"/>
                </a:solidFill>
              </a:rPr>
              <a:t>49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41D571D6-ACD8-4F3C-9F7E-FE83AA344CF7}"/>
              </a:ext>
            </a:extLst>
          </p:cNvPr>
          <p:cNvSpPr>
            <a:spLocks noGrp="1"/>
          </p:cNvSpPr>
          <p:nvPr/>
        </p:nvSpPr>
        <p:spPr>
          <a:xfrm>
            <a:off x="9048750" y="294322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00" b="1" i="0">
                <a:solidFill>
                  <a:srgbClr val="13212A"/>
                </a:solidFill>
              </a:defRPr>
            </a:pPr>
            <a:r>
              <a:rPr sz="1500" b="1" i="0">
                <a:solidFill>
                  <a:srgbClr val="13212A"/>
                </a:solidFill>
              </a:rPr>
              <a:t>monthly windows</a:t>
            </a: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79799582-F3E5-405B-9BD7-4E62745C3F88}"/>
              </a:ext>
            </a:extLst>
          </p:cNvPr>
          <p:cNvSpPr>
            <a:spLocks noGrp="1"/>
          </p:cNvSpPr>
          <p:nvPr/>
        </p:nvSpPr>
        <p:spPr>
          <a:xfrm>
            <a:off x="8858250" y="368617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BC3546AF-C348-4165-AA09-32946B847870}"/>
              </a:ext>
            </a:extLst>
          </p:cNvPr>
          <p:cNvSpPr>
            <a:spLocks noGrp="1"/>
          </p:cNvSpPr>
          <p:nvPr/>
        </p:nvSpPr>
        <p:spPr>
          <a:xfrm>
            <a:off x="9086850" y="3600450"/>
            <a:ext cx="2343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0" i="0">
                <a:solidFill>
                  <a:srgbClr val="13212A"/>
                </a:solidFill>
              </a:defRPr>
            </a:pPr>
            <a:r>
              <a:rPr sz="1350" b="0" i="0">
                <a:solidFill>
                  <a:srgbClr val="13212A"/>
                </a:solidFill>
              </a:rPr>
              <a:t>confidence varies over time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BA95DB6A-C16D-4613-A020-0CF3CB8379BB}"/>
              </a:ext>
            </a:extLst>
          </p:cNvPr>
          <p:cNvSpPr>
            <a:spLocks noGrp="1"/>
          </p:cNvSpPr>
          <p:nvPr/>
        </p:nvSpPr>
        <p:spPr>
          <a:xfrm>
            <a:off x="8858250" y="42386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55688143-F5FF-4B13-9D8E-8C8F70231E58}"/>
              </a:ext>
            </a:extLst>
          </p:cNvPr>
          <p:cNvSpPr>
            <a:spLocks noGrp="1"/>
          </p:cNvSpPr>
          <p:nvPr/>
        </p:nvSpPr>
        <p:spPr>
          <a:xfrm>
            <a:off x="9086850" y="4152900"/>
            <a:ext cx="2343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0" i="0">
                <a:solidFill>
                  <a:srgbClr val="13212A"/>
                </a:solidFill>
              </a:defRPr>
            </a:pPr>
            <a:r>
              <a:rPr sz="1350" b="0" i="0">
                <a:solidFill>
                  <a:srgbClr val="13212A"/>
                </a:solidFill>
              </a:rPr>
              <a:t>support changes with comparability</a:t>
            </a:r>
          </a:p>
        </p:txBody>
      </p:sp>
      <p:sp>
        <p:nvSpPr>
          <p:cNvPr id="13" name="Ovale 12">
            <a:extLst>
              <a:ext uri="{FF2B5EF4-FFF2-40B4-BE49-F238E27FC236}">
                <a16:creationId xmlns:a16="http://schemas.microsoft.com/office/drawing/2014/main" id="{6E11F23B-C2D3-4B1E-9F96-D29CC0124F5E}"/>
              </a:ext>
            </a:extLst>
          </p:cNvPr>
          <p:cNvSpPr>
            <a:spLocks noGrp="1"/>
          </p:cNvSpPr>
          <p:nvPr/>
        </p:nvSpPr>
        <p:spPr>
          <a:xfrm>
            <a:off x="8858250" y="479107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B874DE25-E111-496E-9E58-C49ABA896834}"/>
              </a:ext>
            </a:extLst>
          </p:cNvPr>
          <p:cNvSpPr>
            <a:spLocks noGrp="1"/>
          </p:cNvSpPr>
          <p:nvPr/>
        </p:nvSpPr>
        <p:spPr>
          <a:xfrm>
            <a:off x="9086850" y="4705350"/>
            <a:ext cx="2343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350" b="0" i="0">
                <a:solidFill>
                  <a:srgbClr val="13212A"/>
                </a:solidFill>
              </a:defRPr>
            </a:pPr>
            <a:r>
              <a:rPr sz="1350" b="0" i="0">
                <a:solidFill>
                  <a:srgbClr val="13212A"/>
                </a:solidFill>
              </a:rPr>
              <a:t>pair counts affect reliability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E7E9F8B6-5D1B-4F94-96D7-F6209E5DD48C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1E800961-7BC0-417D-98C4-759C3E0C6352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Monthly metrics are recalculated only for RFDs discovered by DiMε.</a:t>
            </a:r>
          </a:p>
        </p:txBody>
      </p:sp>
    </p:spTree>
    <p:extLst>
      <p:ext uri="{BB962C8B-B14F-4D97-AF65-F5344CB8AC3E}">
        <p14:creationId xmlns:p14="http://schemas.microsoft.com/office/powerpoint/2010/main" val="567683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4F5371C2-EA07-4525-A325-143FFB334C43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FAA1265A-52A8-44EA-959A-DD27E5896D46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 dirty="0">
                <a:solidFill>
                  <a:srgbClr val="13212A"/>
                </a:solidFill>
              </a:rPr>
              <a:t>Violations </a:t>
            </a:r>
            <a:r>
              <a:rPr lang="it-IT" sz="3600" b="1" i="0" dirty="0" err="1">
                <a:solidFill>
                  <a:srgbClr val="13212A"/>
                </a:solidFill>
              </a:rPr>
              <a:t>as</a:t>
            </a:r>
            <a:r>
              <a:rPr sz="3600" b="1" i="0" dirty="0">
                <a:solidFill>
                  <a:srgbClr val="13212A"/>
                </a:solidFill>
              </a:rPr>
              <a:t> investigation targets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E307CE8D-CF94-428B-BA69-CD5E65910B4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50972BA8-F841-4FB5-8E02-CA418DE1D552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17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81C17523-D089-4B81-AB9B-AC1A7C33CC51}"/>
              </a:ext>
            </a:extLst>
          </p:cNvPr>
          <p:cNvSpPr>
            <a:spLocks noGrp="1"/>
          </p:cNvSpPr>
          <p:nvPr/>
        </p:nvSpPr>
        <p:spPr>
          <a:xfrm>
            <a:off x="590550" y="1619250"/>
            <a:ext cx="6762750" cy="4000500"/>
          </a:xfrm>
          <a:prstGeom prst="roundRect">
            <a:avLst>
              <a:gd name="adj" fmla="val 2857"/>
            </a:avLst>
          </a:prstGeom>
          <a:solidFill>
            <a:srgbClr val="F7F9F8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1941FE0-C059-4110-92E5-CC769696D6D5}"/>
              </a:ext>
            </a:extLst>
          </p:cNvPr>
          <p:cNvSpPr>
            <a:spLocks noGrp="1"/>
          </p:cNvSpPr>
          <p:nvPr/>
        </p:nvSpPr>
        <p:spPr>
          <a:xfrm>
            <a:off x="838200" y="1752600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Top 2 DiMε RFDs · 200 strongest pairs each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="781050" y="2076450"/>
          <a:ext cx="6381750" cy="327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ettangolo 7">
            <a:extLst>
              <a:ext uri="{FF2B5EF4-FFF2-40B4-BE49-F238E27FC236}">
                <a16:creationId xmlns:a16="http://schemas.microsoft.com/office/drawing/2014/main" id="{96958EE5-89A3-47B2-AD3D-0E40EACA399F}"/>
              </a:ext>
            </a:extLst>
          </p:cNvPr>
          <p:cNvSpPr>
            <a:spLocks noGrp="1"/>
          </p:cNvSpPr>
          <p:nvPr/>
        </p:nvSpPr>
        <p:spPr>
          <a:xfrm>
            <a:off x="7953375" y="1828800"/>
            <a:ext cx="3238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950" b="1" i="0">
                <a:solidFill>
                  <a:srgbClr val="167D73"/>
                </a:solidFill>
              </a:defRPr>
            </a:pPr>
            <a:r>
              <a:rPr sz="1950" b="1" i="0">
                <a:solidFill>
                  <a:srgbClr val="167D73"/>
                </a:solidFill>
              </a:rPr>
              <a:t>A violation may reflect:</a:t>
            </a: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12707D99-E200-461F-B92A-36234478DB70}"/>
              </a:ext>
            </a:extLst>
          </p:cNvPr>
          <p:cNvSpPr>
            <a:spLocks noGrp="1"/>
          </p:cNvSpPr>
          <p:nvPr/>
        </p:nvSpPr>
        <p:spPr>
          <a:xfrm>
            <a:off x="8001000" y="254317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88A761B-5D3C-4B19-99D3-855F96D9258D}"/>
              </a:ext>
            </a:extLst>
          </p:cNvPr>
          <p:cNvSpPr>
            <a:spLocks noGrp="1"/>
          </p:cNvSpPr>
          <p:nvPr/>
        </p:nvSpPr>
        <p:spPr>
          <a:xfrm>
            <a:off x="8229600" y="2457450"/>
            <a:ext cx="305752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local site heterogeneity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0EC74554-E635-4FC0-B25B-1CA0D34B560F}"/>
              </a:ext>
            </a:extLst>
          </p:cNvPr>
          <p:cNvSpPr>
            <a:spLocks noGrp="1"/>
          </p:cNvSpPr>
          <p:nvPr/>
        </p:nvSpPr>
        <p:spPr>
          <a:xfrm>
            <a:off x="8001000" y="30575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9FAA1246-F1C6-4F6B-BA27-30755CF1204C}"/>
              </a:ext>
            </a:extLst>
          </p:cNvPr>
          <p:cNvSpPr>
            <a:spLocks noGrp="1"/>
          </p:cNvSpPr>
          <p:nvPr/>
        </p:nvSpPr>
        <p:spPr>
          <a:xfrm>
            <a:off x="8229600" y="2971800"/>
            <a:ext cx="305752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unobserved local conditions</a:t>
            </a:r>
          </a:p>
        </p:txBody>
      </p:sp>
      <p:sp>
        <p:nvSpPr>
          <p:cNvPr id="13" name="Ovale 12">
            <a:extLst>
              <a:ext uri="{FF2B5EF4-FFF2-40B4-BE49-F238E27FC236}">
                <a16:creationId xmlns:a16="http://schemas.microsoft.com/office/drawing/2014/main" id="{C9BC99DA-C8D7-4173-B5E3-24F0B055EA2C}"/>
              </a:ext>
            </a:extLst>
          </p:cNvPr>
          <p:cNvSpPr>
            <a:spLocks noGrp="1"/>
          </p:cNvSpPr>
          <p:nvPr/>
        </p:nvSpPr>
        <p:spPr>
          <a:xfrm>
            <a:off x="8001000" y="357187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38E144E2-CF6E-4BD5-A442-D87F2CFEDD17}"/>
              </a:ext>
            </a:extLst>
          </p:cNvPr>
          <p:cNvSpPr>
            <a:spLocks noGrp="1"/>
          </p:cNvSpPr>
          <p:nvPr/>
        </p:nvSpPr>
        <p:spPr>
          <a:xfrm>
            <a:off x="8229600" y="3486150"/>
            <a:ext cx="305752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meteorology outside the rule</a:t>
            </a: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5257F689-13F8-4324-9104-034C19A43BED}"/>
              </a:ext>
            </a:extLst>
          </p:cNvPr>
          <p:cNvSpPr>
            <a:spLocks noGrp="1"/>
          </p:cNvSpPr>
          <p:nvPr/>
        </p:nvSpPr>
        <p:spPr>
          <a:xfrm>
            <a:off x="8001000" y="40862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E4B306D-E93C-4100-A29D-DCABD8FF30A5}"/>
              </a:ext>
            </a:extLst>
          </p:cNvPr>
          <p:cNvSpPr>
            <a:spLocks noGrp="1"/>
          </p:cNvSpPr>
          <p:nvPr/>
        </p:nvSpPr>
        <p:spPr>
          <a:xfrm>
            <a:off x="8229600" y="4000500"/>
            <a:ext cx="305752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weekly aggregation effects</a:t>
            </a:r>
          </a:p>
        </p:txBody>
      </p:sp>
      <p:sp>
        <p:nvSpPr>
          <p:cNvPr id="17" name="Ovale 16">
            <a:extLst>
              <a:ext uri="{FF2B5EF4-FFF2-40B4-BE49-F238E27FC236}">
                <a16:creationId xmlns:a16="http://schemas.microsoft.com/office/drawing/2014/main" id="{CC878664-5351-44DD-940C-BA9C1B71C54A}"/>
              </a:ext>
            </a:extLst>
          </p:cNvPr>
          <p:cNvSpPr>
            <a:spLocks noGrp="1"/>
          </p:cNvSpPr>
          <p:nvPr/>
        </p:nvSpPr>
        <p:spPr>
          <a:xfrm>
            <a:off x="8001000" y="460057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44076FE9-47D3-4E78-9505-592F7956FDAA}"/>
              </a:ext>
            </a:extLst>
          </p:cNvPr>
          <p:cNvSpPr>
            <a:spLocks noGrp="1"/>
          </p:cNvSpPr>
          <p:nvPr/>
        </p:nvSpPr>
        <p:spPr>
          <a:xfrm>
            <a:off x="8229600" y="4514850"/>
            <a:ext cx="305752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measurement or data-quality issues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FCA89C6F-82D1-4C10-B7F7-B5C39CD8512F}"/>
              </a:ext>
            </a:extLst>
          </p:cNvPr>
          <p:cNvSpPr>
            <a:spLocks noGrp="1"/>
          </p:cNvSpPr>
          <p:nvPr/>
        </p:nvSpPr>
        <p:spPr>
          <a:xfrm>
            <a:off x="8001000" y="5048250"/>
            <a:ext cx="3238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Top group: Changping · Jan 2016 · afternoon · 9 pairs.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62C04798-4FB0-445E-B3FA-2ABECABAA3EB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" cy="400050"/>
          </a:xfrm>
          <a:prstGeom prst="rect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1097B58E-C89D-4EFE-AF8B-48EB09834DCF}"/>
              </a:ext>
            </a:extLst>
          </p:cNvPr>
          <p:cNvSpPr>
            <a:spLocks noGrp="1"/>
          </p:cNvSpPr>
          <p:nvPr/>
        </p:nvSpPr>
        <p:spPr>
          <a:xfrm>
            <a:off x="800100" y="5943600"/>
            <a:ext cx="1028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The value of violations lies in targeted follow-up, not automatic labeling.</a:t>
            </a:r>
          </a:p>
        </p:txBody>
      </p:sp>
    </p:spTree>
    <p:extLst>
      <p:ext uri="{BB962C8B-B14F-4D97-AF65-F5344CB8AC3E}">
        <p14:creationId xmlns:p14="http://schemas.microsoft.com/office/powerpoint/2010/main" val="65484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tangolo 17">
            <a:extLst>
              <a:ext uri="{FF2B5EF4-FFF2-40B4-BE49-F238E27FC236}">
                <a16:creationId xmlns:a16="http://schemas.microsoft.com/office/drawing/2014/main" id="{04C42152-0628-4861-88BD-4BB3E2B478D4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555EC5DC-299F-436C-AE83-F62B0347D846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What the workflow contributes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E2537004-F59B-4BA8-BCD8-20EAD169A55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88867A15-5D01-4559-88BD-64158D8BFF0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18</a:t>
            </a: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31FB4042-BC3C-4620-80C5-1934838D8D50}"/>
              </a:ext>
            </a:extLst>
          </p:cNvPr>
          <p:cNvSpPr>
            <a:spLocks noGrp="1"/>
          </p:cNvSpPr>
          <p:nvPr/>
        </p:nvSpPr>
        <p:spPr>
          <a:xfrm>
            <a:off x="742950" y="17621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597ABCD8-4DD9-420F-9EB2-FCCAD0453358}"/>
              </a:ext>
            </a:extLst>
          </p:cNvPr>
          <p:cNvSpPr>
            <a:spLocks noGrp="1"/>
          </p:cNvSpPr>
          <p:nvPr/>
        </p:nvSpPr>
        <p:spPr>
          <a:xfrm>
            <a:off x="1066800" y="1676400"/>
            <a:ext cx="100488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RFD discovery with DiMε: difference matrices, lattice, C+, g3 and pruning.</a:t>
            </a:r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E8458A62-598B-4242-BE9C-E11CBE868E7D}"/>
              </a:ext>
            </a:extLst>
          </p:cNvPr>
          <p:cNvSpPr>
            <a:spLocks noGrp="1"/>
          </p:cNvSpPr>
          <p:nvPr/>
        </p:nvSpPr>
        <p:spPr>
          <a:xfrm>
            <a:off x="742950" y="2362200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00B67B7-CCF9-419C-A9FC-29ACFD9C06CA}"/>
              </a:ext>
            </a:extLst>
          </p:cNvPr>
          <p:cNvSpPr>
            <a:spLocks noGrp="1"/>
          </p:cNvSpPr>
          <p:nvPr/>
        </p:nvSpPr>
        <p:spPr>
          <a:xfrm>
            <a:off x="1066800" y="2276475"/>
            <a:ext cx="100488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1" i="0">
                <a:solidFill>
                  <a:srgbClr val="B5534A"/>
                </a:solidFill>
              </a:defRPr>
            </a:pPr>
            <a:r>
              <a:rPr sz="1575" b="1" i="0">
                <a:solidFill>
                  <a:srgbClr val="B5534A"/>
                </a:solidFill>
              </a:rPr>
              <a:t>5 minimal RFDs from 960 candidates across all 8 lattice levels.</a:t>
            </a: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38930956-4DB1-4117-B1E4-C28D4E4D22C0}"/>
              </a:ext>
            </a:extLst>
          </p:cNvPr>
          <p:cNvSpPr>
            <a:spLocks noGrp="1"/>
          </p:cNvSpPr>
          <p:nvPr/>
        </p:nvSpPr>
        <p:spPr>
          <a:xfrm>
            <a:off x="742950" y="296227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B0CEB46A-0915-4737-BDDA-90A278ED2253}"/>
              </a:ext>
            </a:extLst>
          </p:cNvPr>
          <p:cNvSpPr>
            <a:spLocks noGrp="1"/>
          </p:cNvSpPr>
          <p:nvPr/>
        </p:nvSpPr>
        <p:spPr>
          <a:xfrm>
            <a:off x="1066800" y="2876550"/>
            <a:ext cx="100488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Baseline, lift, bootstrap and temporal checks are post-discovery.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FCFCA793-E51F-4BD9-8072-8153C4FD19B1}"/>
              </a:ext>
            </a:extLst>
          </p:cNvPr>
          <p:cNvSpPr>
            <a:spLocks noGrp="1"/>
          </p:cNvSpPr>
          <p:nvPr/>
        </p:nvSpPr>
        <p:spPr>
          <a:xfrm>
            <a:off x="742950" y="3562350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33390817-B0CD-46D2-9ED2-08F6403AD846}"/>
              </a:ext>
            </a:extLst>
          </p:cNvPr>
          <p:cNvSpPr>
            <a:spLocks noGrp="1"/>
          </p:cNvSpPr>
          <p:nvPr/>
        </p:nvSpPr>
        <p:spPr>
          <a:xfrm>
            <a:off x="1066800" y="3476625"/>
            <a:ext cx="100488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The weekly projection uses every one of the 66,619 cleaned rows.</a:t>
            </a:r>
          </a:p>
        </p:txBody>
      </p:sp>
      <p:sp>
        <p:nvSpPr>
          <p:cNvPr id="13" name="Ovale 12">
            <a:extLst>
              <a:ext uri="{FF2B5EF4-FFF2-40B4-BE49-F238E27FC236}">
                <a16:creationId xmlns:a16="http://schemas.microsoft.com/office/drawing/2014/main" id="{96C22A4D-3EA3-453E-8524-B0A380BE7E76}"/>
              </a:ext>
            </a:extLst>
          </p:cNvPr>
          <p:cNvSpPr>
            <a:spLocks noGrp="1"/>
          </p:cNvSpPr>
          <p:nvPr/>
        </p:nvSpPr>
        <p:spPr>
          <a:xfrm>
            <a:off x="742950" y="4162425"/>
            <a:ext cx="95250" cy="95250"/>
          </a:xfrm>
          <a:prstGeom prst="ellipse">
            <a:avLst/>
          </a:prstGeom>
          <a:solidFill>
            <a:srgbClr val="167D73"/>
          </a:solidFill>
          <a:ln w="0">
            <a:solidFill>
              <a:srgbClr val="167D7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06875B51-A0CC-4C10-A9AE-0F308F6BB649}"/>
              </a:ext>
            </a:extLst>
          </p:cNvPr>
          <p:cNvSpPr>
            <a:spLocks noGrp="1"/>
          </p:cNvSpPr>
          <p:nvPr/>
        </p:nvSpPr>
        <p:spPr>
          <a:xfrm>
            <a:off x="1066800" y="4076700"/>
            <a:ext cx="100488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Four of five RFDs have low support and describe specific regularities.</a:t>
            </a:r>
          </a:p>
        </p:txBody>
      </p:sp>
      <p:sp>
        <p:nvSpPr>
          <p:cNvPr id="15" name="Rettangolo con angoli arrotondati 14">
            <a:extLst>
              <a:ext uri="{FF2B5EF4-FFF2-40B4-BE49-F238E27FC236}">
                <a16:creationId xmlns:a16="http://schemas.microsoft.com/office/drawing/2014/main" id="{AB9506AD-AADF-40C2-AC7F-112B70B37360}"/>
              </a:ext>
            </a:extLst>
          </p:cNvPr>
          <p:cNvSpPr>
            <a:spLocks noGrp="1"/>
          </p:cNvSpPr>
          <p:nvPr/>
        </p:nvSpPr>
        <p:spPr>
          <a:xfrm>
            <a:off x="1047750" y="4886325"/>
            <a:ext cx="10096500" cy="1028700"/>
          </a:xfrm>
          <a:prstGeom prst="roundRect">
            <a:avLst>
              <a:gd name="adj" fmla="val 11111"/>
            </a:avLst>
          </a:prstGeom>
          <a:solidFill>
            <a:srgbClr val="EEF4F3"/>
          </a:solidFill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692ACB3F-8AC4-4383-9DF3-A608DAC256D7}"/>
              </a:ext>
            </a:extLst>
          </p:cNvPr>
          <p:cNvSpPr>
            <a:spLocks noGrp="1"/>
          </p:cNvSpPr>
          <p:nvPr/>
        </p:nvSpPr>
        <p:spPr>
          <a:xfrm>
            <a:off x="1381125" y="5124450"/>
            <a:ext cx="9429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725" b="1" i="0">
                <a:solidFill>
                  <a:srgbClr val="2D6278"/>
                </a:solidFill>
              </a:defRPr>
            </a:pPr>
            <a:r>
              <a:rPr sz="1725" b="1" i="0">
                <a:solidFill>
                  <a:srgbClr val="2D6278"/>
                </a:solidFill>
              </a:rPr>
              <a:t>“The contribution is a reproducible RFD discovery and profiling workflow: DiMε discovers the rules, while post-discovery metrics explain their scope and stability.”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BC5332FD-3ADB-4290-B7EE-2F305B7A9167}"/>
              </a:ext>
            </a:extLst>
          </p:cNvPr>
          <p:cNvSpPr>
            <a:spLocks noGrp="1"/>
          </p:cNvSpPr>
          <p:nvPr/>
        </p:nvSpPr>
        <p:spPr>
          <a:xfrm>
            <a:off x="9810750" y="6305550"/>
            <a:ext cx="12858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8198340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tangolo 12">
            <a:extLst>
              <a:ext uri="{FF2B5EF4-FFF2-40B4-BE49-F238E27FC236}">
                <a16:creationId xmlns:a16="http://schemas.microsoft.com/office/drawing/2014/main" id="{CA7003C5-B25D-4001-8E9D-7C49FD43D472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BACKUP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20A8733A-EB79-4A5B-8D39-9A31012645AB}"/>
              </a:ext>
            </a:extLst>
          </p:cNvPr>
          <p:cNvSpPr>
            <a:spLocks noGrp="1"/>
          </p:cNvSpPr>
          <p:nvPr/>
        </p:nvSpPr>
        <p:spPr>
          <a:xfrm>
            <a:off x="609600" y="6477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Backup · Sources</a:t>
            </a:r>
          </a:p>
        </p:txBody>
      </p:sp>
      <p:sp>
        <p:nvSpPr>
          <p:cNvPr id="3" name="Connettore dritto 2">
            <a:extLst>
              <a:ext uri="{FF2B5EF4-FFF2-40B4-BE49-F238E27FC236}">
                <a16:creationId xmlns:a16="http://schemas.microsoft.com/office/drawing/2014/main" id="{15844583-6D96-4ADF-8F93-A15E5D70D53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03047BDA-F809-4AA9-9015-EDC0D5AA72E9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19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0345EF3B-FAB7-460F-8B27-E8D514BB36EB}"/>
              </a:ext>
            </a:extLst>
          </p:cNvPr>
          <p:cNvSpPr>
            <a:spLocks noGrp="1"/>
          </p:cNvSpPr>
          <p:nvPr/>
        </p:nvSpPr>
        <p:spPr>
          <a:xfrm>
            <a:off x="781050" y="1952625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67D73"/>
                </a:solidFill>
              </a:defRPr>
            </a:pPr>
            <a:r>
              <a:rPr sz="1650" b="1" i="0">
                <a:solidFill>
                  <a:srgbClr val="167D73"/>
                </a:solidFill>
              </a:rPr>
              <a:t>01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BF76F36E-6A7A-47D6-924C-5B14B354EC78}"/>
              </a:ext>
            </a:extLst>
          </p:cNvPr>
          <p:cNvSpPr>
            <a:spLocks noGrp="1"/>
          </p:cNvSpPr>
          <p:nvPr/>
        </p:nvSpPr>
        <p:spPr>
          <a:xfrm>
            <a:off x="1504950" y="1933575"/>
            <a:ext cx="9525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Beijing Multi-Site Air Quality Data Set, UCI Machine Learning Repository</a:t>
            </a:r>
          </a:p>
        </p:txBody>
      </p:sp>
      <p:sp>
        <p:nvSpPr>
          <p:cNvPr id="7" name="Connettore dritto 6">
            <a:extLst>
              <a:ext uri="{FF2B5EF4-FFF2-40B4-BE49-F238E27FC236}">
                <a16:creationId xmlns:a16="http://schemas.microsoft.com/office/drawing/2014/main" id="{750838E1-887A-49E5-BDCE-7AE37742514D}"/>
              </a:ext>
            </a:extLst>
          </p:cNvPr>
          <p:cNvSpPr>
            <a:spLocks noGrp="1"/>
          </p:cNvSpPr>
          <p:nvPr/>
        </p:nvSpPr>
        <p:spPr>
          <a:xfrm>
            <a:off x="1504950" y="2828925"/>
            <a:ext cx="93345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CF784065-4B5F-4207-8F84-28F5188A7ED7}"/>
              </a:ext>
            </a:extLst>
          </p:cNvPr>
          <p:cNvSpPr>
            <a:spLocks noGrp="1"/>
          </p:cNvSpPr>
          <p:nvPr/>
        </p:nvSpPr>
        <p:spPr>
          <a:xfrm>
            <a:off x="781050" y="3209925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67D73"/>
                </a:solidFill>
              </a:defRPr>
            </a:pPr>
            <a:r>
              <a:rPr sz="1650" b="1" i="0">
                <a:solidFill>
                  <a:srgbClr val="167D73"/>
                </a:solidFill>
              </a:rPr>
              <a:t>02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3A90E28-BCB3-44E1-A08D-E5C11D44924F}"/>
              </a:ext>
            </a:extLst>
          </p:cNvPr>
          <p:cNvSpPr>
            <a:spLocks noGrp="1"/>
          </p:cNvSpPr>
          <p:nvPr/>
        </p:nvSpPr>
        <p:spPr>
          <a:xfrm>
            <a:off x="1504950" y="3190875"/>
            <a:ext cx="9525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0" i="0">
                <a:solidFill>
                  <a:srgbClr val="13212A"/>
                </a:solidFill>
              </a:defRPr>
            </a:pPr>
            <a:r>
              <a:rPr sz="1875" b="0" i="0">
                <a:solidFill>
                  <a:srgbClr val="13212A"/>
                </a:solidFill>
              </a:rPr>
              <a:t>KDIID Lecture 3, Relaxed Functional Dependencies · DiMε slides 29–41</a:t>
            </a:r>
          </a:p>
        </p:txBody>
      </p:sp>
      <p:sp>
        <p:nvSpPr>
          <p:cNvPr id="10" name="Connettore dritto 9">
            <a:extLst>
              <a:ext uri="{FF2B5EF4-FFF2-40B4-BE49-F238E27FC236}">
                <a16:creationId xmlns:a16="http://schemas.microsoft.com/office/drawing/2014/main" id="{9039FE35-2C41-4AE2-B3CD-06CA1AAC521C}"/>
              </a:ext>
            </a:extLst>
          </p:cNvPr>
          <p:cNvSpPr>
            <a:spLocks noGrp="1"/>
          </p:cNvSpPr>
          <p:nvPr/>
        </p:nvSpPr>
        <p:spPr>
          <a:xfrm>
            <a:off x="1504950" y="4086225"/>
            <a:ext cx="9334500" cy="0"/>
          </a:xfrm>
          <a:prstGeom prst="line">
            <a:avLst/>
          </a:prstGeom>
          <a:noFill/>
          <a:ln w="9525">
            <a:solidFill>
              <a:srgbClr val="CBD7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833BA40F-3C3A-416C-B281-E2B9C57D734A}"/>
              </a:ext>
            </a:extLst>
          </p:cNvPr>
          <p:cNvSpPr>
            <a:spLocks noGrp="1"/>
          </p:cNvSpPr>
          <p:nvPr/>
        </p:nvSpPr>
        <p:spPr>
          <a:xfrm>
            <a:off x="781050" y="4467225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650" b="1" i="0">
                <a:solidFill>
                  <a:srgbClr val="167D73"/>
                </a:solidFill>
              </a:defRPr>
            </a:pPr>
            <a:r>
              <a:rPr sz="1650" b="1" i="0">
                <a:solidFill>
                  <a:srgbClr val="167D73"/>
                </a:solidFill>
              </a:rPr>
              <a:t>03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AD70B704-6E01-4277-B0B2-3AA51B96FD1D}"/>
              </a:ext>
            </a:extLst>
          </p:cNvPr>
          <p:cNvSpPr>
            <a:spLocks noGrp="1"/>
          </p:cNvSpPr>
          <p:nvPr/>
        </p:nvSpPr>
        <p:spPr>
          <a:xfrm>
            <a:off x="1504950" y="4448175"/>
            <a:ext cx="9525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0" i="0">
                <a:solidFill>
                  <a:srgbClr val="13212A"/>
                </a:solidFill>
              </a:defRPr>
            </a:pPr>
            <a:r>
              <a:rPr sz="1875" b="0" i="0">
                <a:solidFill>
                  <a:srgbClr val="13212A"/>
                </a:solidFill>
              </a:rPr>
              <a:t>Caruccio, Deufemia, Polese, “Mining relaxed functional dependencies from data”, Data Mining and Knowledge Discovery, 2020</a:t>
            </a:r>
          </a:p>
        </p:txBody>
      </p:sp>
    </p:spTree>
    <p:extLst>
      <p:ext uri="{BB962C8B-B14F-4D97-AF65-F5344CB8AC3E}">
        <p14:creationId xmlns:p14="http://schemas.microsoft.com/office/powerpoint/2010/main" val="185289523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2128</Words>
  <Application>Microsoft Macintosh PowerPoint</Application>
  <DocSecurity>0</DocSecurity>
  <PresentationFormat>Widescreen</PresentationFormat>
  <Paragraphs>344</Paragraphs>
  <Slides>19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1" baseType="lpstr">
      <vt:lpstr>Calibri</vt:lpstr>
      <vt:lpstr>ChatGPT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MATTEO ERCOLINO</cp:lastModifiedBy>
  <cp:revision>1</cp:revision>
  <dcterms:created xsi:type="dcterms:W3CDTF">2026-06-28T10:35:41Z</dcterms:created>
  <dcterms:modified xsi:type="dcterms:W3CDTF">2026-06-29T10:17:58Z</dcterms:modified>
</cp:coreProperties>
</file>