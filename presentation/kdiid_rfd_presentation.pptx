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1f7fff7524afe" /><Relationship Type="http://schemas.openxmlformats.org/officeDocument/2006/relationships/extended-properties" Target="/docProps/app.xml" Id="R0705ed1c8644400b" /><Relationship Type="http://schemas.openxmlformats.org/officeDocument/2006/relationships/officeDocument" Target="/ppt/presentation.xml" Id="R126c612e148341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5d583c2cd4fbe"/>
  </p:sldMasterIdLst>
  <p:notesMasterIdLst>
    <p:notesMasterId xmlns:r="http://schemas.openxmlformats.org/officeDocument/2006/relationships" r:id="R5cd0b9fb1ad14b62"/>
  </p:notesMasterIdLst>
  <p:sldIdLst>
    <p:sldId xmlns:r="http://schemas.openxmlformats.org/officeDocument/2006/relationships" id="256" r:id="Rcc5822fbdfe74164"/>
    <p:sldId xmlns:r="http://schemas.openxmlformats.org/officeDocument/2006/relationships" id="257" r:id="Rcca47a5a6d0c454c"/>
    <p:sldId xmlns:r="http://schemas.openxmlformats.org/officeDocument/2006/relationships" id="258" r:id="Rb933712778af44a8"/>
    <p:sldId xmlns:r="http://schemas.openxmlformats.org/officeDocument/2006/relationships" id="259" r:id="R01b54d7eb3ed416a"/>
    <p:sldId xmlns:r="http://schemas.openxmlformats.org/officeDocument/2006/relationships" id="260" r:id="R99186d05736e4172"/>
    <p:sldId xmlns:r="http://schemas.openxmlformats.org/officeDocument/2006/relationships" id="261" r:id="R0d7cb4cf1b954bc0"/>
    <p:sldId xmlns:r="http://schemas.openxmlformats.org/officeDocument/2006/relationships" id="262" r:id="R471abd1661a14da1"/>
    <p:sldId xmlns:r="http://schemas.openxmlformats.org/officeDocument/2006/relationships" id="263" r:id="Rd36c4a04b35744e6"/>
    <p:sldId xmlns:r="http://schemas.openxmlformats.org/officeDocument/2006/relationships" id="264" r:id="R00e9440aa8734050"/>
    <p:sldId xmlns:r="http://schemas.openxmlformats.org/officeDocument/2006/relationships" id="265" r:id="Ra880f050bcdc4f30"/>
    <p:sldId xmlns:r="http://schemas.openxmlformats.org/officeDocument/2006/relationships" id="266" r:id="R971c1afbb445498e"/>
    <p:sldId xmlns:r="http://schemas.openxmlformats.org/officeDocument/2006/relationships" id="267" r:id="R2a40caa9da1f48e4"/>
    <p:sldId xmlns:r="http://schemas.openxmlformats.org/officeDocument/2006/relationships" id="268" r:id="R6da96c583ade4645"/>
    <p:sldId xmlns:r="http://schemas.openxmlformats.org/officeDocument/2006/relationships" id="269" r:id="R531d554f55f249bf"/>
    <p:sldId xmlns:r="http://schemas.openxmlformats.org/officeDocument/2006/relationships" id="270" r:id="R888835f31d6643fa"/>
    <p:sldId xmlns:r="http://schemas.openxmlformats.org/officeDocument/2006/relationships" id="271" r:id="R0843ab842188441c"/>
    <p:sldId xmlns:r="http://schemas.openxmlformats.org/officeDocument/2006/relationships" id="272" r:id="Rdc9767df437941eb"/>
    <p:sldId xmlns:r="http://schemas.openxmlformats.org/officeDocument/2006/relationships" id="273" r:id="Rd60ee4ece687487e"/>
    <p:sldId xmlns:r="http://schemas.openxmlformats.org/officeDocument/2006/relationships" id="274" r:id="R4b77339e04bd47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8b49140e0c4119" /><Relationship Type="http://schemas.openxmlformats.org/officeDocument/2006/relationships/slideMaster" Target="/ppt/slideMasters/slideMaster1.xml" Id="Reb65d583c2cd4fbe" /><Relationship Type="http://schemas.openxmlformats.org/officeDocument/2006/relationships/notesMaster" Target="/ppt/notesMasters/notesMaster1.xml" Id="R5cd0b9fb1ad14b62" /><Relationship Type="http://schemas.openxmlformats.org/officeDocument/2006/relationships/presProps" Target="/ppt/presProps.xml" Id="Rb020e4cb96f04fed" /><Relationship Type="http://schemas.openxmlformats.org/officeDocument/2006/relationships/tableStyles" Target="/ppt/tableStyles.xml" Id="R6e569bc6c6e8434c" /><Relationship Type="http://schemas.openxmlformats.org/officeDocument/2006/relationships/slide" Target="/ppt/slides/slide1.xml" Id="Rcc5822fbdfe74164" /><Relationship Type="http://schemas.openxmlformats.org/officeDocument/2006/relationships/slide" Target="/ppt/slides/slide2.xml" Id="Rcca47a5a6d0c454c" /><Relationship Type="http://schemas.openxmlformats.org/officeDocument/2006/relationships/slide" Target="/ppt/slides/slide3.xml" Id="Rb933712778af44a8" /><Relationship Type="http://schemas.openxmlformats.org/officeDocument/2006/relationships/slide" Target="/ppt/slides/slide4.xml" Id="R01b54d7eb3ed416a" /><Relationship Type="http://schemas.openxmlformats.org/officeDocument/2006/relationships/slide" Target="/ppt/slides/slide5.xml" Id="R99186d05736e4172" /><Relationship Type="http://schemas.openxmlformats.org/officeDocument/2006/relationships/slide" Target="/ppt/slides/slide6.xml" Id="R0d7cb4cf1b954bc0" /><Relationship Type="http://schemas.openxmlformats.org/officeDocument/2006/relationships/slide" Target="/ppt/slides/slide7.xml" Id="R471abd1661a14da1" /><Relationship Type="http://schemas.openxmlformats.org/officeDocument/2006/relationships/slide" Target="/ppt/slides/slide8.xml" Id="Rd36c4a04b35744e6" /><Relationship Type="http://schemas.openxmlformats.org/officeDocument/2006/relationships/slide" Target="/ppt/slides/slide9.xml" Id="R00e9440aa8734050" /><Relationship Type="http://schemas.openxmlformats.org/officeDocument/2006/relationships/slide" Target="/ppt/slides/slide10.xml" Id="Ra880f050bcdc4f30" /><Relationship Type="http://schemas.openxmlformats.org/officeDocument/2006/relationships/slide" Target="/ppt/slides/slide11.xml" Id="R971c1afbb445498e" /><Relationship Type="http://schemas.openxmlformats.org/officeDocument/2006/relationships/slide" Target="/ppt/slides/slide12.xml" Id="R2a40caa9da1f48e4" /><Relationship Type="http://schemas.openxmlformats.org/officeDocument/2006/relationships/slide" Target="/ppt/slides/slide13.xml" Id="R6da96c583ade4645" /><Relationship Type="http://schemas.openxmlformats.org/officeDocument/2006/relationships/slide" Target="/ppt/slides/slide14.xml" Id="R531d554f55f249bf" /><Relationship Type="http://schemas.openxmlformats.org/officeDocument/2006/relationships/slide" Target="/ppt/slides/slide15.xml" Id="R888835f31d6643fa" /><Relationship Type="http://schemas.openxmlformats.org/officeDocument/2006/relationships/slide" Target="/ppt/slides/slide16.xml" Id="R0843ab842188441c" /><Relationship Type="http://schemas.openxmlformats.org/officeDocument/2006/relationships/slide" Target="/ppt/slides/slide17.xml" Id="Rdc9767df437941eb" /><Relationship Type="http://schemas.openxmlformats.org/officeDocument/2006/relationships/slide" Target="/ppt/slides/slide18.xml" Id="Rd60ee4ece687487e" /><Relationship Type="http://schemas.openxmlformats.org/officeDocument/2006/relationships/slide" Target="/ppt/slides/slide19.xml" Id="R4b77339e04bd47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28735867a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5b305ea914c17" /><Relationship Type="http://schemas.openxmlformats.org/officeDocument/2006/relationships/notesMaster" Target="/ppt/notesMasters/notesMaster1.xml" Id="R2fd0a8fbec6241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063d78e1cf4f64" /><Relationship Type="http://schemas.openxmlformats.org/officeDocument/2006/relationships/notesMaster" Target="/ppt/notesMasters/notesMaster1.xml" Id="R40a72874936044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0d68f171144a0e" /><Relationship Type="http://schemas.openxmlformats.org/officeDocument/2006/relationships/notesMaster" Target="/ppt/notesMasters/notesMaster1.xml" Id="R975bb0b50205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ec2ac54cde4314" /><Relationship Type="http://schemas.openxmlformats.org/officeDocument/2006/relationships/notesMaster" Target="/ppt/notesMasters/notesMaster1.xml" Id="R21d4fafe06404b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70cc5330be45b5" /><Relationship Type="http://schemas.openxmlformats.org/officeDocument/2006/relationships/notesMaster" Target="/ppt/notesMasters/notesMaster1.xml" Id="R8a879af034324e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6716adefe14b8d" /><Relationship Type="http://schemas.openxmlformats.org/officeDocument/2006/relationships/notesMaster" Target="/ppt/notesMasters/notesMaster1.xml" Id="Rf093562ce2c14a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f86e481bb249fd" /><Relationship Type="http://schemas.openxmlformats.org/officeDocument/2006/relationships/notesMaster" Target="/ppt/notesMasters/notesMaster1.xml" Id="Rc26bd53c8f0348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0007f77bcb4f2b" /><Relationship Type="http://schemas.openxmlformats.org/officeDocument/2006/relationships/notesMaster" Target="/ppt/notesMasters/notesMaster1.xml" Id="R151d22f37c2d4a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259058c45744b7" /><Relationship Type="http://schemas.openxmlformats.org/officeDocument/2006/relationships/notesMaster" Target="/ppt/notesMasters/notesMaster1.xml" Id="Rcfd5b1c83cf040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a0edd0fec248a5" /><Relationship Type="http://schemas.openxmlformats.org/officeDocument/2006/relationships/notesMaster" Target="/ppt/notesMasters/notesMaster1.xml" Id="R4981271d085646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74e98bb6914445" /><Relationship Type="http://schemas.openxmlformats.org/officeDocument/2006/relationships/notesMaster" Target="/ppt/notesMasters/notesMaster1.xml" Id="R450f87d21dc14e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907e8c53a04c70" /><Relationship Type="http://schemas.openxmlformats.org/officeDocument/2006/relationships/notesMaster" Target="/ppt/notesMasters/notesMaster1.xml" Id="R7f80a0ef9c1644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806bf2e1214921" /><Relationship Type="http://schemas.openxmlformats.org/officeDocument/2006/relationships/notesMaster" Target="/ppt/notesMasters/notesMaster1.xml" Id="R0583eeaa501d43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8559b2c0e94e8f" /><Relationship Type="http://schemas.openxmlformats.org/officeDocument/2006/relationships/notesMaster" Target="/ppt/notesMasters/notesMaster1.xml" Id="R6a1c6e3a62ae45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a8c7dfeee94e8c" /><Relationship Type="http://schemas.openxmlformats.org/officeDocument/2006/relationships/notesMaster" Target="/ppt/notesMasters/notesMaster1.xml" Id="R39c9c6b6a54f41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0258d02cdf4db2" /><Relationship Type="http://schemas.openxmlformats.org/officeDocument/2006/relationships/notesMaster" Target="/ppt/notesMasters/notesMaster1.xml" Id="R7b76475f111a4d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c68cf91386422c" /><Relationship Type="http://schemas.openxmlformats.org/officeDocument/2006/relationships/notesMaster" Target="/ppt/notesMasters/notesMaster1.xml" Id="Re8975e644aeb44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439b976a9d46a5" /><Relationship Type="http://schemas.openxmlformats.org/officeDocument/2006/relationships/notesMaster" Target="/ppt/notesMasters/notesMaster1.xml" Id="R9b95570115884a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fe52b20e214edc" /><Relationship Type="http://schemas.openxmlformats.org/officeDocument/2006/relationships/notesMaster" Target="/ppt/notesMasters/notesMaster1.xml" Id="R21641d4293bf4a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an analysis of approximate consistency in urban air-quality observations.</a:t>
            </a:r>
          </a:p>
          <a:p xmlns:a="http://schemas.openxmlformats.org/drawingml/2006/main">
            <a:r>
              <a:t>The central method is Relaxed Functional Dependencies, or RFDs.</a:t>
            </a:r>
          </a:p>
          <a:p xmlns:a="http://schemas.openxmlformats.org/drawingml/2006/main">
            <a:r>
              <a:t>Clarify the scope immediately: the work does not predict pollution and does not make causal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classical deterministic constraints are too rigid for this domain.</a:t>
            </a:r>
          </a:p>
          <a:p xmlns:a="http://schemas.openxmlformats.org/drawingml/2006/main">
            <a:r>
              <a:t>The objective is descriptive and diagnostic: quantify how often a proposed consistency relation holds.</a:t>
            </a:r>
          </a:p>
          <a:p xmlns:a="http://schemas.openxmlformats.org/drawingml/2006/main">
            <a:r>
              <a:t>This framing makes moderate confidence meaningful when it is clearly above chance.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Urban Digital Twin narrowly and explicitly.</a:t>
            </a:r>
          </a:p>
          <a:p xmlns:a="http://schemas.openxmlformats.org/drawingml/2006/main">
            <a:r>
              <a:t>The twin is conceptual: it organizes historical data, approximate rules, violations, and monitoring.</a:t>
            </a:r>
          </a:p>
          <a:p xmlns:a="http://schemas.openxmlformats.org/drawingml/2006/main">
            <a:r>
              <a:t>The implemented contribution is the reproducible workflow shown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selected dataset, stations, and common four-year period.</a:t>
            </a:r>
          </a:p>
          <a:p xmlns:a="http://schemas.openxmlformats.org/drawingml/2006/main">
            <a:r>
              <a:t>The full cleaned dataset is retained for descriptive profiling.</a:t>
            </a:r>
          </a:p>
          <a:p xmlns:a="http://schemas.openxmlformats.org/drawingml/2006/main">
            <a:r>
              <a:t>Pairwise RFD validation is quadratic, so a deterministic balanced sample of 750 rows per station is used.</a:t>
            </a:r>
          </a:p>
          <a:p xmlns:a="http://schemas.openxmlformats.org/drawingml/2006/main">
            <a:r>
              <a:t>The missing-value policy is transparent and does not impute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exact functional dependencies with threshold-based similarity.</a:t>
            </a:r>
          </a:p>
          <a:p xmlns:a="http://schemas.openxmlformats.org/drawingml/2006/main">
            <a:r>
              <a:t>For categorical attributes, similarity can still mean exact equality.</a:t>
            </a:r>
          </a:p>
          <a:p xmlns:a="http://schemas.openxmlformats.org/drawingml/2006/main">
            <a:r>
              <a:t>For numeric attributes, similarity is defined by absolute thresholds; hour uses circular distance.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thresholds are heuristic and interpretable; they are not claimed to be statistically optimal.</a:t>
            </a:r>
          </a:p>
          <a:p xmlns:a="http://schemas.openxmlformats.org/drawingml/2006/main">
            <a:r>
              <a:t>The medium setup is the main configuration used for the candidate-rule results.</a:t>
            </a:r>
          </a:p>
          <a:p xmlns:a="http://schemas.openxmlformats.org/drawingml/2006/main">
            <a:r>
              <a:t>Strict and relaxed settings provide sensitivity analysis, checking that the interpretation does not depend on one threshold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Urban Digital Twin narrowly and explicitly.</a:t>
            </a:r>
          </a:p>
          <a:p xmlns:a="http://schemas.openxmlformats.org/drawingml/2006/main">
            <a:r>
              <a:t>The twin is conceptual: it organizes historical data, approximate rules, violations, and monitoring.</a:t>
            </a:r>
          </a:p>
          <a:p xmlns:a="http://schemas.openxmlformats.org/drawingml/2006/main">
            <a:r>
              <a:t>The implemented contribution is the reproducible workflow shown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support and confidence using pair counts.</a:t>
            </a:r>
          </a:p>
          <a:p xmlns:a="http://schemas.openxmlformats.org/drawingml/2006/main">
            <a:r>
              <a:t>Explain that the RHS is permuted 30 times while antecedent structure remains fixed.</a:t>
            </a:r>
          </a:p>
          <a:p xmlns:a="http://schemas.openxmlformats.org/drawingml/2006/main">
            <a:r>
              <a:t>Lift compares observed confidence with this permutation baseline.</a:t>
            </a:r>
          </a:p>
          <a:p xmlns:a="http://schemas.openxmlformats.org/drawingml/2006/main">
            <a:r>
              <a:t>Support must still be considered: a high confidence rule with very few antecedent pairs can be unstable.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pipeline from data cleaning to violation analysis.</a:t>
            </a:r>
          </a:p>
          <a:p xmlns:a="http://schemas.openxmlformats.org/drawingml/2006/main">
            <a:r>
              <a:t>Candidate validation is followed by a chance baseline, resampling, chronological validation, and monthly monitoring.</a:t>
            </a:r>
          </a:p>
          <a:p xmlns:a="http://schemas.openxmlformats.org/drawingml/2006/main">
            <a:r>
              <a:t>This sequence is the methodological contribution of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correlation matrix only as descriptive context.</a:t>
            </a:r>
          </a:p>
          <a:p xmlns:a="http://schemas.openxmlformats.org/drawingml/2006/main">
            <a:r>
              <a:t>Highlight the PM2.5–PM10 correlation of 0.874, the strongest pollutant relationship.</a:t>
            </a:r>
          </a:p>
          <a:p xmlns:a="http://schemas.openxmlformats.org/drawingml/2006/main">
            <a:r>
              <a:t>Stress that correlation, RFD consistency, and causality are three different concepts.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plot shows daily mean PM2.5 by station for readability.</a:t>
            </a:r>
          </a:p>
          <a:p xmlns:a="http://schemas.openxmlformats.org/drawingml/2006/main">
            <a:r>
              <a:t>Point out that peaks and quieter periods do not align perfectly across the two sites.</a:t>
            </a:r>
          </a:p>
          <a:p xmlns:a="http://schemas.openxmlformats.org/drawingml/2006/main">
            <a:r>
              <a:t>This motivates monthly monitoring of RFD metrics rather than relying only on a global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three strongest raw candidate rules under the medium threshold configuration.</a:t>
            </a:r>
          </a:p>
          <a:p xmlns:a="http://schemas.openxmlformats.org/drawingml/2006/main">
            <a:r>
              <a:t>The top rule has confidence 0.483, which is moderate and must not be described as a strong dependency.</a:t>
            </a:r>
          </a:p>
          <a:p xmlns:a="http://schemas.openxmlformats.org/drawingml/2006/main">
            <a:r>
              <a:t>Its lift of 3.24 is the key result: the observed consistency is much higher than the permuted RHS baseline.</a:t>
            </a:r>
          </a:p>
          <a:p xmlns:a="http://schemas.openxmlformats.org/drawingml/2006/main">
            <a:r>
              <a:t>Support is low as a fraction, but it still corresponds to many pairwise comparisons and is interpreted together with confidence, baseline, and lift.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PM2.5 is the fine fraction included in the PM10 size class, so coherence is environmentally plausible.</a:t>
            </a:r>
          </a:p>
          <a:p xmlns:a="http://schemas.openxmlformats.org/drawingml/2006/main">
            <a:r>
              <a:t>Adding NO2 may represent shared emission conditions, but this is an interpretation—not causal proof.</a:t>
            </a:r>
          </a:p>
          <a:p xmlns:a="http://schemas.openxmlformats.org/drawingml/2006/main">
            <a:r>
              <a:t>Unobserved weather, source mixtures, and particulate composition can explain violations.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pollutants and meteorological variables are grouped into low, medium, and high quantile bins.</a:t>
            </a:r>
          </a:p>
          <a:p xmlns:a="http://schemas.openxmlformats.org/drawingml/2006/main">
            <a:r>
              <a:t>The top binned rule reaches confidence 0.689 and lift 2.07.</a:t>
            </a:r>
          </a:p>
          <a:p xmlns:a="http://schemas.openxmlformats.org/drawingml/2006/main">
            <a:r>
              <a:t>This is not directly comparable to the raw rule because discretization makes similarity less demanding.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Bootstrap results summarize 30 balanced resamples.</a:t>
            </a:r>
          </a:p>
          <a:p xmlns:a="http://schemas.openxmlformats.org/drawingml/2006/main">
            <a:r>
              <a:t>The mean lift is 3.35, with empirical 95% interval from 3.15 to 3.57.</a:t>
            </a:r>
          </a:p>
          <a:p xmlns:a="http://schemas.openxmlformats.org/drawingml/2006/main">
            <a:r>
              <a:t>The chronological split trains on the first three years and tests on the final year.</a:t>
            </a:r>
          </a:p>
          <a:p xmlns:a="http://schemas.openxmlformats.org/drawingml/2006/main">
            <a:r>
              <a:t>The top rule's lift is 3.15 in train and 3.35 in test, supporting relative stability.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continuous profile covers 48 monthly windows.</a:t>
            </a:r>
          </a:p>
          <a:p xmlns:a="http://schemas.openxmlformats.org/drawingml/2006/main">
            <a:r>
              <a:t>Monthly confidence varies substantially, which is expected in a seasonal environmental system.</a:t>
            </a:r>
          </a:p>
          <a:p xmlns:a="http://schemas.openxmlformats.org/drawingml/2006/main">
            <a:r>
              <a:t>Do not interpret confidence alone: support and antecedent-pair counts show how much evidence is available in each month.</a:t>
            </a:r>
          </a:p>
          <a:p xmlns:a="http://schemas.openxmlformats.org/drawingml/2006/main">
            <a:r>
              <a:t>Abrupt changes are monitoring signals, not automatic anomalies.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aggregates the same exported violation-pair counts by station into eight six-month periods so the time labels remain readable.</a:t>
            </a:r>
          </a:p>
          <a:p xmlns:a="http://schemas.openxmlformats.org/drawingml/2006/main">
            <a:r>
              <a:t>It still represents the two strongest raw RFDs and preserves the original interpretation.</a:t>
            </a:r>
          </a:p>
          <a:p xmlns:a="http://schemas.openxmlformats.org/drawingml/2006/main">
            <a:r>
              <a:t>Violations can indicate heterogeneous local conditions, missing explanatory variables, unusual events, or data-quality problems.</a:t>
            </a:r>
          </a:p>
          <a:p xmlns:a="http://schemas.openxmlformats.org/drawingml/2006/main">
            <a:r>
              <a:t>They should be investigated with contextual data rather than labeled as errors by default.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methodological contribution: a reproducible consistency-profiling workflow.</a:t>
            </a:r>
          </a:p>
          <a:p xmlns:a="http://schemas.openxmlformats.org/drawingml/2006/main">
            <a:r>
              <a:t>The strongest results are approximate and clearly above chance, not deterministic.</a:t>
            </a:r>
          </a:p>
          <a:p xmlns:a="http://schemas.openxmlformats.org/drawingml/2006/main">
            <a:r>
              <a:t>Continuous profiling shows how RFDs can support monitoring over time.</a:t>
            </a:r>
          </a:p>
          <a:p xmlns:a="http://schemas.openxmlformats.org/drawingml/2006/main">
            <a:r>
              <a:t>The empty discovery result is intentional evidence of conservative thresholds rather than a failed experiment.</a:t>
            </a:r>
          </a:p>
          <a:p xmlns:a="http://schemas.openxmlformats.org/drawingml/2006/main">
            <a:r>
              <a:t>End with the quoted sentence as the main answer to what the project contributes.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slide; do not include it in the timed oral presentation unless the committee asks about data or methodological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b239eece847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9b8740880416c" /><Relationship Type="http://schemas.openxmlformats.org/officeDocument/2006/relationships/slideLayout" Target="/ppt/slideLayouts/slideLayout1.xml" Id="R54c27aa8909d42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c27aa8909d42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f09ca589c41e0" /><Relationship Type="http://schemas.openxmlformats.org/officeDocument/2006/relationships/notesSlide" Target="/ppt/notesSlides/notesSlide1.xml" Id="R92f6cff33c854b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2dfa2aabb4fbc" /><Relationship Type="http://schemas.openxmlformats.org/officeDocument/2006/relationships/notesSlide" Target="/ppt/notesSlides/notesSlide2.xml" Id="Rc1f93fea20be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6d7ac44824db1" /><Relationship Type="http://schemas.openxmlformats.org/officeDocument/2006/relationships/notesSlide" Target="/ppt/notesSlides/notesSlide3.xml" Id="R11510161417d49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0e6bca8014c8e" /><Relationship Type="http://schemas.openxmlformats.org/officeDocument/2006/relationships/notesSlide" Target="/ppt/notesSlides/notesSlide4.xml" Id="Rcabc28caa8744e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7c8b5ea04040" /><Relationship Type="http://schemas.openxmlformats.org/officeDocument/2006/relationships/notesSlide" Target="/ppt/notesSlides/notesSlide5.xml" Id="R43cce69c8d6a4b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2c3317d9b4384" /><Relationship Type="http://schemas.openxmlformats.org/officeDocument/2006/relationships/notesSlide" Target="/ppt/notesSlides/notesSlide6.xml" Id="R49b750d6a00848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0c2511c704d62" /><Relationship Type="http://schemas.openxmlformats.org/officeDocument/2006/relationships/notesSlide" Target="/ppt/notesSlides/notesSlide7.xml" Id="Rdc90cd7c76b945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e55a13cfe4818" /><Relationship Type="http://schemas.openxmlformats.org/officeDocument/2006/relationships/notesSlide" Target="/ppt/notesSlides/notesSlide8.xml" Id="R3258b4fbd9b945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533a89cd4061" /><Relationship Type="http://schemas.openxmlformats.org/officeDocument/2006/relationships/notesSlide" Target="/ppt/notesSlides/notesSlide9.xml" Id="R909dfca1fddf48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68bf933da436b" /><Relationship Type="http://schemas.openxmlformats.org/officeDocument/2006/relationships/image" Target="/ppt/media/image.png" Id="R723a0cd14dc64132" /><Relationship Type="http://schemas.openxmlformats.org/officeDocument/2006/relationships/notesSlide" Target="/ppt/notesSlides/notesSlide10.xml" Id="R44d7cac6b9cf46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d768f0e4544aa" /><Relationship Type="http://schemas.openxmlformats.org/officeDocument/2006/relationships/image" Target="/ppt/media/image2.png" Id="Rb12a8921d2304be3" /><Relationship Type="http://schemas.openxmlformats.org/officeDocument/2006/relationships/notesSlide" Target="/ppt/notesSlides/notesSlide11.xml" Id="R47256f1e401f49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e635fbf5043ea" /><Relationship Type="http://schemas.openxmlformats.org/officeDocument/2006/relationships/notesSlide" Target="/ppt/notesSlides/notesSlide12.xml" Id="R8c4d05a221604a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e5cf587c14db9" /><Relationship Type="http://schemas.openxmlformats.org/officeDocument/2006/relationships/notesSlide" Target="/ppt/notesSlides/notesSlide13.xml" Id="R9afd5aad617c45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5bc817ee848b0" /><Relationship Type="http://schemas.openxmlformats.org/officeDocument/2006/relationships/notesSlide" Target="/ppt/notesSlides/notesSlide14.xml" Id="Rd86616395a3c49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866ca095d404f" /><Relationship Type="http://schemas.openxmlformats.org/officeDocument/2006/relationships/notesSlide" Target="/ppt/notesSlides/notesSlide15.xml" Id="Rd437c3dcdf7442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529b21a07413b" /><Relationship Type="http://schemas.openxmlformats.org/officeDocument/2006/relationships/image" Target="/ppt/media/image3.png" Id="Ra247d3104c6649b6" /><Relationship Type="http://schemas.openxmlformats.org/officeDocument/2006/relationships/notesSlide" Target="/ppt/notesSlides/notesSlide16.xml" Id="Ra03306bab95d4f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0d15af0eb4fbc" /><Relationship Type="http://schemas.openxmlformats.org/officeDocument/2006/relationships/chart" Target="/ppt/slides/charts/chart1.xml" Id="Re312728b7c5f4e19" /><Relationship Type="http://schemas.openxmlformats.org/officeDocument/2006/relationships/notesSlide" Target="/ppt/notesSlides/notesSlide17.xml" Id="R06b1685aaaa044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b23fe195b472a" /><Relationship Type="http://schemas.openxmlformats.org/officeDocument/2006/relationships/notesSlide" Target="/ppt/notesSlides/notesSlide18.xml" Id="Rbe03abcdd21147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80a7e4986485f" /><Relationship Type="http://schemas.openxmlformats.org/officeDocument/2006/relationships/notesSlide" Target="/ppt/notesSlides/notesSlide19.xml" Id="Ra71c8587d6dd4f0d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Aotizhongxin</c:v>
          </c:tx>
          <c:spPr>
            <a:solidFill xmlns:a="http://schemas.openxmlformats.org/drawingml/2006/main">
              <a:srgbClr val="5573A3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2014-12</c:v>
              </c:pt>
              <c:pt idx="1">
                <c:v>2013-12</c:v>
              </c:pt>
              <c:pt idx="2">
                <c:v>2016-02</c:v>
              </c:pt>
              <c:pt idx="3">
                <c:v>2016-01</c:v>
              </c:pt>
              <c:pt idx="4">
                <c:v>2013-11</c:v>
              </c:pt>
              <c:pt idx="5">
                <c:v>2013-04</c:v>
              </c:pt>
              <c:pt idx="6">
                <c:v>2015-09</c:v>
              </c:pt>
            </c:strLit>
          </c:cat>
          <c:val>
            <c:numLit>
              <c:formatCode>General</c:formatCode>
              <c:ptCount val="7"/>
              <c:pt idx="0">
                <c:v>8</c:v>
              </c:pt>
              <c:pt idx="1">
                <c:v>5</c:v>
              </c:pt>
              <c:pt idx="2">
                <c:v>17</c:v>
              </c:pt>
              <c:pt idx="3">
                <c:v>3</c:v>
              </c:pt>
              <c:pt idx="4">
                <c:v>9</c:v>
              </c:pt>
              <c:pt idx="5">
                <c:v>6</c:v>
              </c:pt>
              <c:pt idx="6">
                <c:v>2</c:v>
              </c:pt>
            </c:numLit>
          </c:val>
        </c:ser>
        <c:ser>
          <c:idx val="1"/>
          <c:order val="1"/>
          <c:tx>
            <c:v>Changping</c:v>
          </c:tx>
          <c:spPr>
            <a:solidFill xmlns:a="http://schemas.openxmlformats.org/drawingml/2006/main">
              <a:srgbClr val="CC8963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2014-12</c:v>
              </c:pt>
              <c:pt idx="1">
                <c:v>2013-12</c:v>
              </c:pt>
              <c:pt idx="2">
                <c:v>2016-02</c:v>
              </c:pt>
              <c:pt idx="3">
                <c:v>2016-01</c:v>
              </c:pt>
              <c:pt idx="4">
                <c:v>2013-11</c:v>
              </c:pt>
              <c:pt idx="5">
                <c:v>2013-04</c:v>
              </c:pt>
              <c:pt idx="6">
                <c:v>2015-09</c:v>
              </c:pt>
            </c:strLit>
          </c:cat>
          <c:val>
            <c:numLit>
              <c:formatCode>General</c:formatCode>
              <c:ptCount val="7"/>
              <c:pt idx="0">
                <c:v>28</c:v>
              </c:pt>
              <c:pt idx="1">
                <c:v>31</c:v>
              </c:pt>
              <c:pt idx="2">
                <c:v>16</c:v>
              </c:pt>
              <c:pt idx="3">
                <c:v>24</c:v>
              </c:pt>
              <c:pt idx="4">
                <c:v>15</c:v>
              </c:pt>
              <c:pt idx="5">
                <c:v>15</c:v>
              </c:pt>
              <c:pt idx="6">
                <c:v>13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2636D"/>
                    </a:solidFill>
                  </a:rPr>
                  <a:t>Violation pairs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2636D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3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7142A-37E9-4F78-BD1B-0DE2797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72573-BCB5-482B-A78A-3E0E84C6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13212A"/>
                </a:solidFill>
              </a:defRPr>
            </a:pPr>
            <a:r>
              <a:rPr sz="4650" b="1" i="0">
                <a:solidFill>
                  <a:srgbClr val="13212A"/>
                </a:solidFill>
              </a:rPr>
              <a:t>URBAN AIR-QUALITY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13212A"/>
                </a:solidFill>
              </a:defRPr>
            </a:pPr>
            <a:r>
              <a:rPr sz="4650" b="1" i="0">
                <a:solidFill>
                  <a:srgbClr val="13212A"/>
                </a:solidFill>
              </a:rPr>
              <a:t>CONSISTENCY PROFILING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44AE1-16CD-4912-B063-05ACFD9E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67D73"/>
                </a:solidFill>
              </a:defRPr>
            </a:pPr>
            <a:r>
              <a:rPr sz="2550" b="1" i="0">
                <a:solidFill>
                  <a:srgbClr val="167D73"/>
                </a:solidFill>
              </a:rPr>
              <a:t>with Relaxed Functional 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F6F1C-1969-4CC4-B221-4C39531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2636D"/>
                </a:solidFill>
              </a:defRPr>
            </a:pPr>
            <a:r>
              <a:rPr sz="1800" b="0" i="0">
                <a:solidFill>
                  <a:srgbClr val="52636D"/>
                </a:solidFill>
              </a:rPr>
              <a:t>A reproducible analytical workflow for approximate environmental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20BFD-200B-4283-8579-C2268E28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19168-A47C-4E99-9AEE-8DE0267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3212A"/>
                </a:solidFill>
              </a:defRPr>
            </a:pPr>
            <a:r>
              <a:rPr sz="1800" b="1" i="0">
                <a:solidFill>
                  <a:srgbClr val="13212A"/>
                </a:solidFill>
              </a:rPr>
              <a:t>Matteo Ercolino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8B714-4BF2-4D7A-92AC-DE6EC2E8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2636D"/>
                </a:solidFill>
              </a:defRPr>
            </a:pPr>
            <a:r>
              <a:rPr sz="1500" b="0" i="0">
                <a:solidFill>
                  <a:srgbClr val="52636D"/>
                </a:solidFill>
              </a:rPr>
              <a:t>KDIID · Final 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BF969-B35B-4F64-A9AB-67096C6E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250" b="1" i="0">
                <a:solidFill>
                  <a:srgbClr val="2D6278"/>
                </a:solidFill>
              </a:defRPr>
            </a:pPr>
            <a:r>
              <a:rPr sz="2250" b="1" i="0">
                <a:solidFill>
                  <a:srgbClr val="2D6278"/>
                </a:solidFill>
              </a:rPr>
              <a:t>Consistency—not prediction, not causality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D4F5E-51A4-4D82-827A-19BF3768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232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E93DD-86C9-4E0C-8CFC-8B31EAFA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B0F20-D552-4447-BCE7-6A2859E3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Why deterministic rules are the wrong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31A79-AA85-41C7-B1C4-BCAE8F9E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7E57F-A3EF-434F-81C7-FBE9BD06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857B0-8B50-4011-A7AC-71F55CE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3212A"/>
                </a:solidFill>
              </a:defRPr>
            </a:pPr>
            <a:r>
              <a:rPr sz="2100" b="1" i="0">
                <a:solidFill>
                  <a:srgbClr val="13212A"/>
                </a:solidFill>
              </a:rPr>
              <a:t>Urban environmental data are: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9DDBB-E4A0-479F-8F83-DF30C5BD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3ABED-63C6-4458-961D-025A7C5A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533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3212A"/>
                </a:solidFill>
              </a:defRPr>
            </a:pPr>
            <a:r>
              <a:rPr sz="1650" b="0" i="0">
                <a:solidFill>
                  <a:srgbClr val="13212A"/>
                </a:solidFill>
              </a:rPr>
              <a:t>noisy and affected by measurement 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9CE1-90AC-465F-97B0-2205CEC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0CE3B-D180-4F0C-B28D-AE8A4B2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4533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3212A"/>
                </a:solidFill>
              </a:defRPr>
            </a:pPr>
            <a:r>
              <a:rPr sz="1650" b="0" i="0">
                <a:solidFill>
                  <a:srgbClr val="13212A"/>
                </a:solidFill>
              </a:rPr>
              <a:t>variable across time, sites, and weather 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79DB1-209D-4E1D-B7A0-59618D64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03159-0FED-4D11-94CE-BC6C1E0F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4533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3212A"/>
                </a:solidFill>
              </a:defRPr>
            </a:pPr>
            <a:r>
              <a:rPr sz="1650" b="0" i="0">
                <a:solidFill>
                  <a:srgbClr val="13212A"/>
                </a:solidFill>
              </a:rPr>
              <a:t>influenced by factors that are not fully observed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F525A-2889-4A65-BAFB-7CA4E072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573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E7C88-1D4A-4798-9348-12770C10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67D73"/>
                </a:solidFill>
              </a:defRPr>
            </a:pPr>
            <a:r>
              <a:rPr sz="2100" b="1" i="0">
                <a:solidFill>
                  <a:srgbClr val="167D73"/>
                </a:solidFill>
              </a:rPr>
              <a:t>The analytical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581D3-12E0-4748-B010-601101E1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3212A"/>
                </a:solidFill>
              </a:defRPr>
            </a:pPr>
            <a:r>
              <a:rPr sz="2400" b="1" i="0">
                <a:solidFill>
                  <a:srgbClr val="13212A"/>
                </a:solidFill>
              </a:rPr>
              <a:t>When observations are similar in context and pollutant levels, how often do other measurements remain similar?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C2F86-AD41-4CB6-B428-F36AAEFC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2636D"/>
                </a:solidFill>
              </a:defRPr>
            </a:pPr>
            <a:r>
              <a:rPr sz="1725" b="0" i="0">
                <a:solidFill>
                  <a:srgbClr val="52636D"/>
                </a:solidFill>
              </a:rPr>
              <a:t>Measure approximate regularity—without forcing exact laws.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22DF9-6A94-4A01-B450-3CCB46E1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6875D-A188-42A0-89CD-E96F25D1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The goal is to quantify approximate consistency, not to predict outcomes or prove causality.</a:t>
            </a:r>
          </a:p>
        </p:txBody>
      </p:sp>
    </p:spTree>
    <p:extLst>
      <p:ext uri="{BB962C8B-B14F-4D97-AF65-F5344CB8AC3E}">
        <p14:creationId xmlns:p14="http://schemas.microsoft.com/office/powerpoint/2010/main" val="550187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56C6B-AD76-4B95-8EFB-E2C928DC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E3C9B-D31B-4416-8EAD-D133438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A conceptual Urban Digital Twin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6D88E-1CAC-4F77-B94F-5282D99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0003F-3EBA-4265-88B6-C26343FF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A00AB-EF0E-41A2-98AB-F5A1E91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2636D"/>
                </a:solidFill>
              </a:defRPr>
            </a:pPr>
            <a:r>
              <a:rPr sz="1875" b="0" i="0">
                <a:solidFill>
                  <a:srgbClr val="52636D"/>
                </a:solidFill>
              </a:rPr>
              <a:t>The Digital Twin is a framing device for an analytical loop: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171D5-4FAD-4B75-9337-8C0B17E9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2CBA9-D1A3-4CB7-8353-DAC4083A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62123-F1A6-4E40-92F7-0E4ABFDD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33EF5-F45E-4062-B7EC-41497038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97D85-45B3-41A1-875D-DB21F48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CA4BF-A71E-47A8-B7D1-01C28E3D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HISTORICAL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8FCAB-3D93-4FCE-A498-77F9110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36D"/>
                </a:solidFill>
              </a:defRPr>
            </a:pPr>
            <a:r>
              <a:rPr sz="1125" b="0" i="0">
                <a:solidFill>
                  <a:srgbClr val="52636D"/>
                </a:solidFill>
              </a:rPr>
              <a:t>Two stations, pollutants, meteorology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BF771-D80B-4F31-9F89-00F2F1F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D350C-DA36-444F-88CE-8797A59F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D0673-0126-4235-BD55-0C66625C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432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APPROXIMATE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DC8C9-67BD-4A1F-BB42-78E66AD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575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36D"/>
                </a:solidFill>
              </a:defRPr>
            </a:pPr>
            <a:r>
              <a:rPr sz="1125" b="0" i="0">
                <a:solidFill>
                  <a:srgbClr val="52636D"/>
                </a:solidFill>
              </a:rPr>
              <a:t>RFDs describe expected similarity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37396-DC6E-49A6-B2E7-D2023A03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06D7C-B986-4AF3-A54E-83AA21B6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4FF9C-A3A7-4CEF-9DCE-D1DA9E7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432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VIOLATIONS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FE7C5-521B-415B-8A8A-2B7EEC05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575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36D"/>
                </a:solidFill>
              </a:defRPr>
            </a:pPr>
            <a:r>
              <a:rPr sz="1125" b="0" i="0">
                <a:solidFill>
                  <a:srgbClr val="52636D"/>
                </a:solidFill>
              </a:rPr>
              <a:t>Cases that break the expected pattern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468F4-67C3-446D-8922-1B283EE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9EFEC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606A0-76FB-4BB4-B517-18D4B20C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13A06-DCB3-45E0-84EB-0488E974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432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70CD8-9182-4AF8-873B-4D0003B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575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36D"/>
                </a:solidFill>
              </a:defRPr>
            </a:pPr>
            <a:r>
              <a:rPr sz="1125" b="0" i="0">
                <a:solidFill>
                  <a:srgbClr val="52636D"/>
                </a:solidFill>
              </a:rPr>
              <a:t>Monthly metrics reveal regime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47C6E-DC4B-4736-9748-849E63CF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5534A"/>
                </a:solidFill>
              </a:defRPr>
            </a:pPr>
            <a:r>
              <a:rPr sz="1500" b="1" i="0">
                <a:solidFill>
                  <a:srgbClr val="B5534A"/>
                </a:solidFill>
              </a:rPr>
              <a:t>Not built here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E2F5A-2084-44DF-B470-B7F0710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243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2636D"/>
                </a:solidFill>
              </a:defRPr>
            </a:pPr>
            <a:r>
              <a:rPr sz="1500" b="0" i="0">
                <a:solidFill>
                  <a:srgbClr val="52636D"/>
                </a:solidFill>
              </a:rPr>
              <a:t>3D platform · real-time infrastructure · operational control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29B46-B38D-4077-9100-39F900E5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071C9-05D8-4AFC-BE8E-DE8F8B05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The contribution is a reproducible analytical workflow—not a 3D or real-time platform.</a:t>
            </a:r>
          </a:p>
        </p:txBody>
      </p:sp>
    </p:spTree>
    <p:extLst>
      <p:ext uri="{BB962C8B-B14F-4D97-AF65-F5344CB8AC3E}">
        <p14:creationId xmlns:p14="http://schemas.microsoft.com/office/powerpoint/2010/main" val="1463235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A68EE-244B-4848-B5D7-4A7E81DE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E798E-922F-4235-B147-59F862DB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Dataset design: full profiling, DiMε relation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B951B-68CD-4530-B1F7-079D79CB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F9FA5-4FC5-47BE-B987-5299ED0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370D8-7376-4469-96DA-6E1EC5AA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3212A"/>
                </a:solidFill>
              </a:defRPr>
            </a:pPr>
            <a:r>
              <a:rPr sz="2100" b="1" i="0">
                <a:solidFill>
                  <a:srgbClr val="13212A"/>
                </a:solidFill>
              </a:rPr>
              <a:t>Beijing Multi-Site Air Quality Data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B3A8F-121A-4E35-BBCF-D54D87FE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2636D"/>
                </a:solidFill>
              </a:defRPr>
            </a:pPr>
            <a:r>
              <a:rPr sz="1650" b="0" i="0">
                <a:solidFill>
                  <a:srgbClr val="52636D"/>
                </a:solidFill>
              </a:rPr>
              <a:t>Aotizhongxin + Changping · March 2013–February 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3E62F-48B6-4F47-9DFC-332A5B69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13212A"/>
                </a:solidFill>
              </a:defRPr>
            </a:pPr>
            <a:r>
              <a:rPr sz="3900" b="1" i="0">
                <a:solidFill>
                  <a:srgbClr val="13212A"/>
                </a:solidFill>
              </a:rPr>
              <a:t>66,619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42A12-DE23-4CCD-93FD-DD1189EC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36D"/>
                </a:solidFill>
              </a:defRPr>
            </a:pPr>
            <a:r>
              <a:rPr sz="1425" b="0" i="0">
                <a:solidFill>
                  <a:srgbClr val="52636D"/>
                </a:solidFill>
              </a:rPr>
              <a:t>clean observations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08491-AC85-4ACE-B264-CFBF7CFB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95625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2F390-12E0-41CA-BDDB-D4C3F38C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99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13212A"/>
                </a:solidFill>
              </a:defRPr>
            </a:pPr>
            <a:r>
              <a:rPr sz="3900" b="1" i="0">
                <a:solidFill>
                  <a:srgbClr val="13212A"/>
                </a:solidFill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E8878-2FB8-4BCA-822F-BD13D97B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36D"/>
                </a:solidFill>
              </a:defRPr>
            </a:pPr>
            <a:r>
              <a:rPr sz="1425" b="0" i="0">
                <a:solidFill>
                  <a:srgbClr val="52636D"/>
                </a:solidFill>
              </a:rPr>
              <a:t>final 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6FF49-C51F-4F11-89BC-27F7B1EA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DF95E-DA68-4843-AA18-DA5E1850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167D73"/>
                </a:solidFill>
              </a:defRPr>
            </a:pPr>
            <a:r>
              <a:rPr sz="3900" b="1" i="0">
                <a:solidFill>
                  <a:srgbClr val="167D73"/>
                </a:solidFill>
              </a:rPr>
              <a:t>1,676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AC04B-27B9-4EBF-A4B5-EFFA7C49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36D"/>
                </a:solidFill>
              </a:defRPr>
            </a:pPr>
            <a:r>
              <a:rPr sz="1425" b="0" i="0">
                <a:solidFill>
                  <a:srgbClr val="52636D"/>
                </a:solidFill>
              </a:rPr>
              <a:t>weekly profiles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47953-3612-49E1-A8F2-269578B9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95625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FECB5-A994-4185-90DE-363D48B9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3212A"/>
                </a:solidFill>
              </a:defRPr>
            </a:pPr>
            <a:r>
              <a:rPr sz="3150" b="1" i="0">
                <a:solidFill>
                  <a:srgbClr val="13212A"/>
                </a:solidFill>
              </a:rPr>
              <a:t>1,403,650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20A91-43BA-4044-862E-28A3F0B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36D"/>
                </a:solidFill>
              </a:defRPr>
            </a:pPr>
            <a:r>
              <a:rPr sz="1425" b="0" i="0">
                <a:solidFill>
                  <a:srgbClr val="52636D"/>
                </a:solidFill>
              </a:rPr>
              <a:t>pairwise 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9DC72-C878-4F7D-B242-36D083CB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57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3F0F7-FF66-4364-AC33-350A2713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67D73"/>
                </a:solidFill>
              </a:defRPr>
            </a:pPr>
            <a:r>
              <a:rPr sz="1500" b="1" i="0">
                <a:solidFill>
                  <a:srgbClr val="167D73"/>
                </a:solidFill>
              </a:rPr>
              <a:t>Missing-value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46DE7-07DC-43A0-80FF-81FEBB2E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3212A"/>
                </a:solidFill>
              </a:defRPr>
            </a:pPr>
            <a:r>
              <a:rPr sz="1575" b="0" i="0">
                <a:solidFill>
                  <a:srgbClr val="13212A"/>
                </a:solidFill>
              </a:rPr>
              <a:t>summarize missingness → drop incomplete rows on selected columns → no imputation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CE2E9-C054-4372-8D18-A1AE3F3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34556-3AD5-4BF4-8665-9627A002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All 66,619 rows feed weekly station × time-slot medians; DiMε uses eight projected attributes.</a:t>
            </a:r>
          </a:p>
        </p:txBody>
      </p:sp>
    </p:spTree>
    <p:extLst>
      <p:ext uri="{BB962C8B-B14F-4D97-AF65-F5344CB8AC3E}">
        <p14:creationId xmlns:p14="http://schemas.microsoft.com/office/powerpoint/2010/main" val="19252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BB717-9FA0-4F93-93B3-B7FF9C8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DDEE5-9EB5-4424-BB40-5438AACC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From exact equality to expected similarity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C7AE9-2537-4F16-9704-C2DF24E7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304AD-9C2C-48B7-9CB3-DA7CE5B5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FC9EF-8467-4396-8B01-4780231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52636D"/>
                </a:solidFill>
              </a:defRPr>
            </a:pPr>
            <a:r>
              <a:rPr sz="1650" b="1" i="0">
                <a:solidFill>
                  <a:srgbClr val="52636D"/>
                </a:solidFill>
              </a:rPr>
              <a:t>CLASSICAL FD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CD983-5F36-4FD0-9606-DF3AA338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750" b="1" i="0">
                <a:solidFill>
                  <a:srgbClr val="13212A"/>
                </a:solidFill>
              </a:defRPr>
            </a:pPr>
            <a:r>
              <a:rPr sz="3750" b="1" i="0">
                <a:solidFill>
                  <a:srgbClr val="13212A"/>
                </a:solidFill>
              </a:rPr>
              <a:t>X₁ = X₂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08D5E-CB25-4193-ACCF-2DB3E88C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52636D"/>
                </a:solidFill>
              </a:defRPr>
            </a:pPr>
            <a:r>
              <a:rPr sz="1500" b="0" i="0">
                <a:solidFill>
                  <a:srgbClr val="52636D"/>
                </a:solidFill>
              </a:rPr>
              <a:t>implies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0AA33-874C-4031-B527-D561FD24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750" b="1" i="0">
                <a:solidFill>
                  <a:srgbClr val="13212A"/>
                </a:solidFill>
              </a:defRPr>
            </a:pPr>
            <a:r>
              <a:rPr sz="3750" b="1" i="0">
                <a:solidFill>
                  <a:srgbClr val="13212A"/>
                </a:solidFill>
              </a:rPr>
              <a:t>Y₁ = Y₂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74B98-F23F-4E24-97DC-28E1EC82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050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74B74-F251-4269-BDFE-F74005C7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4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67D73"/>
                </a:solidFill>
              </a:defRPr>
            </a:pPr>
            <a:r>
              <a:rPr sz="1650" b="1" i="0">
                <a:solidFill>
                  <a:srgbClr val="167D73"/>
                </a:solidFill>
              </a:rPr>
              <a:t>RELAXED FD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25815-7D71-433D-A6AD-D8830496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57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750" b="1" i="0">
                <a:solidFill>
                  <a:srgbClr val="167D73"/>
                </a:solidFill>
              </a:defRPr>
            </a:pPr>
            <a:r>
              <a:rPr sz="3750" b="1" i="0">
                <a:solidFill>
                  <a:srgbClr val="167D73"/>
                </a:solidFill>
              </a:rPr>
              <a:t>X₁ ≈ X₂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9F68C-0FBC-4229-B2D4-402FA07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99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52636D"/>
                </a:solidFill>
              </a:defRPr>
            </a:pPr>
            <a:r>
              <a:rPr sz="1500" b="0" i="0">
                <a:solidFill>
                  <a:srgbClr val="52636D"/>
                </a:solidFill>
              </a:rPr>
              <a:t>implies expected similarity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7B62F-89E7-4D50-B39E-7814660B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19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750" b="1" i="0">
                <a:solidFill>
                  <a:srgbClr val="167D73"/>
                </a:solidFill>
              </a:defRPr>
            </a:pPr>
            <a:r>
              <a:rPr sz="3750" b="1" i="0">
                <a:solidFill>
                  <a:srgbClr val="167D73"/>
                </a:solidFill>
              </a:rPr>
              <a:t>Y₁ ≈ Y₂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56AFD-7ED5-46F6-B176-1F7B57B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B5534A"/>
                </a:solidFill>
              </a:defRPr>
            </a:pPr>
            <a:r>
              <a:rPr sz="1350" b="0" i="0">
                <a:solidFill>
                  <a:srgbClr val="B5534A"/>
                </a:solidFill>
              </a:rPr>
              <a:t>exact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10DAF-85E9-443A-A1E8-28584CE6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D6278"/>
                </a:solidFill>
              </a:defRPr>
            </a:pPr>
            <a:r>
              <a:rPr sz="1350" b="0" i="0">
                <a:solidFill>
                  <a:srgbClr val="2D6278"/>
                </a:solidFill>
              </a:rPr>
              <a:t>threshold-based regularities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427D4-8534-4A7E-9D2F-B2330CE0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D6960-B3BF-4184-AB96-7F91682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RFDs match noisy environmental observations better than deterministic functional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991655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AF853-028A-46B3-93CA-B16EDD82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B087E-B655-4705-9147-F4B8AC81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How similarity is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AEE10-FA80-4DBB-A7CC-E5CC388B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DB3C0-4A10-45DF-A55E-B1B769E9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A8A5E-799D-4D43-960E-B0BBC1C8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67D73"/>
                </a:solidFill>
              </a:defRPr>
            </a:pPr>
            <a:r>
              <a:rPr sz="1500" b="1" i="0">
                <a:solidFill>
                  <a:srgbClr val="167D73"/>
                </a:solidFill>
              </a:rPr>
              <a:t>CATEGORICAL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E746E-187B-4CF0-8486-F6873212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3212A"/>
                </a:solidFill>
              </a:defRPr>
            </a:pPr>
            <a:r>
              <a:rPr sz="1725" b="1" i="0">
                <a:solidFill>
                  <a:srgbClr val="13212A"/>
                </a:solidFill>
              </a:rPr>
              <a:t>station, time_slot  →  exact 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40A23-2569-4EC8-BE87-4924CFF7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67D73"/>
                </a:solidFill>
              </a:defRPr>
            </a:pPr>
            <a:r>
              <a:rPr sz="1500" b="1" i="0">
                <a:solidFill>
                  <a:srgbClr val="167D73"/>
                </a:solidFill>
              </a:rPr>
              <a:t>EXTENT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3B19E-A0D8-4175-B96B-8D0BFAE7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3212A"/>
                </a:solidFill>
              </a:defRPr>
            </a:pPr>
            <a:r>
              <a:rPr sz="1725" b="1" i="0">
                <a:solidFill>
                  <a:srgbClr val="13212A"/>
                </a:solidFill>
              </a:rPr>
              <a:t>g3  ≤  0.10 · greedy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3CF3C-3359-4855-8F2F-1970E10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67D73"/>
                </a:solidFill>
              </a:defRPr>
            </a:pPr>
            <a:r>
              <a:rPr sz="1500" b="1" i="0">
                <a:solidFill>
                  <a:srgbClr val="167D73"/>
                </a:solidFill>
              </a:rPr>
              <a:t>NUMERICAL ATTRIBUTES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1748F-B620-4EC5-AA8A-E8EF9FE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3212A"/>
                </a:solidFill>
              </a:defRPr>
            </a:pPr>
            <a:r>
              <a:rPr sz="1725" b="1" i="0">
                <a:solidFill>
                  <a:srgbClr val="13212A"/>
                </a:solidFill>
              </a:rPr>
              <a:t>absolute distance thresholds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332E7-3CF4-4DE6-802C-431452EE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6191250" cy="346710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C7EF6-7450-4019-A302-791CE2A4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621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67D73"/>
                </a:solidFill>
              </a:defRPr>
            </a:pPr>
            <a:r>
              <a:rPr sz="1500" b="1" i="0">
                <a:solidFill>
                  <a:srgbClr val="167D73"/>
                </a:solidFill>
              </a:rPr>
              <a:t>MEDIUM SETUP · MAIN CONFIGURATION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D2971-C461-42D4-8B90-80C8E14F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33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TEMP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EAE45-34AD-4A50-A46F-C3C3B5EC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336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0" i="0">
                <a:solidFill>
                  <a:srgbClr val="2D6278"/>
                </a:solidFill>
              </a:defRPr>
            </a:pPr>
            <a:r>
              <a:rPr sz="1650" b="0" i="0">
                <a:solidFill>
                  <a:srgbClr val="2D6278"/>
                </a:solidFill>
              </a:rPr>
              <a:t>≤ 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8EB2F-387C-45A6-92FE-654EA78F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146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WSPM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83EE3-4F82-4D17-9147-E6E912A0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1146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0" i="0">
                <a:solidFill>
                  <a:srgbClr val="2D6278"/>
                </a:solidFill>
              </a:defRPr>
            </a:pPr>
            <a:r>
              <a:rPr sz="1650" b="0" i="0">
                <a:solidFill>
                  <a:srgbClr val="2D6278"/>
                </a:solidFill>
              </a:rPr>
              <a:t>≤ 1.0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86EAB-35F6-433F-AA31-9BDC59F3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95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PM2.5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EB0B8-B850-4BA8-9088-B2176348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957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0" i="0">
                <a:solidFill>
                  <a:srgbClr val="2D6278"/>
                </a:solidFill>
              </a:defRPr>
            </a:pPr>
            <a:r>
              <a:rPr sz="1650" b="0" i="0">
                <a:solidFill>
                  <a:srgbClr val="2D6278"/>
                </a:solidFill>
              </a:rPr>
              <a:t>≤ 10.0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ACA94-C9D4-4880-93C6-682F9870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767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PM10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953A6-96F2-4F5F-8B34-E535B690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7672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0" i="0">
                <a:solidFill>
                  <a:srgbClr val="2D6278"/>
                </a:solidFill>
              </a:defRPr>
            </a:pPr>
            <a:r>
              <a:rPr sz="1650" b="0" i="0">
                <a:solidFill>
                  <a:srgbClr val="2D6278"/>
                </a:solidFill>
              </a:rPr>
              <a:t>≤ 15.0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21A6D-4D3C-4BE1-8C2C-6DDC9C91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33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NO2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6F1A5-02D2-4B67-A0A7-72569142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336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0" i="0">
                <a:solidFill>
                  <a:srgbClr val="2D6278"/>
                </a:solidFill>
              </a:defRPr>
            </a:pPr>
            <a:r>
              <a:rPr sz="1650" b="0" i="0">
                <a:solidFill>
                  <a:srgbClr val="2D6278"/>
                </a:solidFill>
              </a:rPr>
              <a:t>≤ 10.0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9A4E3-680D-4167-A433-6DA5A228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146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O3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FA1CD-7A73-4C19-97F1-E2CD8562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146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0" i="0">
                <a:solidFill>
                  <a:srgbClr val="2D6278"/>
                </a:solidFill>
              </a:defRPr>
            </a:pPr>
            <a:r>
              <a:rPr sz="1650" b="0" i="0">
                <a:solidFill>
                  <a:srgbClr val="2D6278"/>
                </a:solidFill>
              </a:rPr>
              <a:t>≤ 10.0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10FEE-F391-4586-BADF-4F1BB9D8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95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g3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4B736-50BA-418B-A23D-528D6F21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0" i="0">
                <a:solidFill>
                  <a:srgbClr val="2D6278"/>
                </a:solidFill>
              </a:defRPr>
            </a:pPr>
            <a:r>
              <a:rPr sz="1650" b="0" i="0">
                <a:solidFill>
                  <a:srgbClr val="2D6278"/>
                </a:solidFill>
              </a:rPr>
              <a:t>≤ 0.10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DC23D-E79D-4CD0-A0A8-0BC6AD9C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816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52636D"/>
                </a:solidFill>
              </a:defRPr>
            </a:pPr>
            <a:r>
              <a:rPr sz="1500" b="0" i="0">
                <a:solidFill>
                  <a:srgbClr val="52636D"/>
                </a:solidFill>
              </a:rPr>
              <a:t>Medium similarity thresholds are DiMε inputs.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45321-9563-43A1-8B53-08A8904E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52AA13-111F-442D-A059-E32895A5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Thresholds are supplied to DiMε; inferring thresholds would instead be DOMINO's role.</a:t>
            </a:r>
          </a:p>
        </p:txBody>
      </p:sp>
    </p:spTree>
    <p:extLst>
      <p:ext uri="{BB962C8B-B14F-4D97-AF65-F5344CB8AC3E}">
        <p14:creationId xmlns:p14="http://schemas.microsoft.com/office/powerpoint/2010/main" val="162417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56C6B-AD76-4B95-8EFB-E2C928DC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E3C9B-D31B-4416-8EAD-D133438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Course algorithm used: DiMε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6D88E-1CAC-4F77-B94F-5282D99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0003F-3EBA-4265-88B6-C26343FF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A00AB-EF0E-41A2-98AB-F5A1E91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2636D"/>
                </a:solidFill>
              </a:defRPr>
            </a:pPr>
            <a:r>
              <a:rPr sz="1875" b="0" i="0">
                <a:solidFill>
                  <a:srgbClr val="52636D"/>
                </a:solidFill>
              </a:rPr>
              <a:t>Full course algorithm—no LHS cap and no custom discovery shortcut.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171D5-4FAD-4B75-9337-8C0B17E9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2CBA9-D1A3-4CB7-8353-DAC4083A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62123-F1A6-4E40-92F7-0E4ABFDD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33EF5-F45E-4062-B7EC-41497038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97D85-45B3-41A1-875D-DB21F48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CA4BF-A71E-47A8-B7D1-01C28E3D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DIFFERENCE MATRICES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8FCAB-3D93-4FCE-A498-77F9110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36D"/>
                </a:solidFill>
              </a:defRPr>
            </a:pPr>
            <a:r>
              <a:rPr sz="1125" b="0" i="0">
                <a:solidFill>
                  <a:srgbClr val="52636D"/>
                </a:solidFill>
              </a:rPr>
              <a:t>Absolute distance + categorical equality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BF771-D80B-4F31-9F89-00F2F1F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D350C-DA36-444F-88CE-8797A59F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D0673-0126-4235-BD55-0C66625C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432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SIMILAR SUBSETS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DC8C9-67BD-4A1F-BB42-78E66AD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575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36D"/>
                </a:solidFill>
              </a:defRPr>
            </a:pPr>
            <a:r>
              <a:rPr sz="1125" b="0" i="0">
                <a:solidFill>
                  <a:srgbClr val="52636D"/>
                </a:solidFill>
              </a:rPr>
              <a:t>Pattern subsets; singleton stripping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37396-DC6E-49A6-B2E7-D2023A03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06D7C-B986-4AF3-A54E-83AA21B6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4FF9C-A3A7-4CEF-9DCE-D1DA9E7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432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COMPLETE LATTICE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FE7C5-521B-415B-8A8A-2B7EEC05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575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36D"/>
                </a:solidFill>
              </a:defRPr>
            </a:pPr>
            <a:r>
              <a:rPr sz="1125" b="0" i="0">
                <a:solidFill>
                  <a:srgbClr val="52636D"/>
                </a:solidFill>
              </a:rPr>
              <a:t>C+ candidates, joins, pruning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468F4-67C3-446D-8922-1B283EE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9EFEC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606A0-76FB-4BB4-B517-18D4B20C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13A06-DCB3-45E0-84EB-0488E974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432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g3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70CD8-9182-4AF8-873B-4D0003B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575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36D"/>
                </a:solidFill>
              </a:defRPr>
            </a:pPr>
            <a:r>
              <a:rPr sz="1125" b="0" i="0">
                <a:solidFill>
                  <a:srgbClr val="52636D"/>
                </a:solidFill>
              </a:rPr>
              <a:t>Greedy vertex cover at ε = 0.10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47C6E-DC4B-4736-9748-849E63CF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5534A"/>
                </a:solidFill>
              </a:defRPr>
            </a:pPr>
            <a:r>
              <a:rPr sz="1500" b="1" i="0">
                <a:solidFill>
                  <a:srgbClr val="B5534A"/>
                </a:solidFill>
              </a:rPr>
              <a:t>Inputs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E2F5A-2084-44DF-B470-B7F0710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243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2636D"/>
                </a:solidFill>
              </a:defRPr>
            </a:pPr>
            <a:r>
              <a:rPr sz="1500" b="0" i="0">
                <a:solidFill>
                  <a:srgbClr val="52636D"/>
                </a:solidFill>
              </a:rPr>
              <a:t>8 attributes · similarity thresholds · extent threshold 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29B46-B38D-4077-9100-39F900E5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071C9-05D8-4AFC-BE8E-DE8F8B05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Outputs: minimal RFDs + g3. Iris check: official JAR and Python match exactly, 5/5.</a:t>
            </a:r>
          </a:p>
        </p:txBody>
      </p:sp>
    </p:spTree>
    <p:extLst>
      <p:ext uri="{BB962C8B-B14F-4D97-AF65-F5344CB8AC3E}">
        <p14:creationId xmlns:p14="http://schemas.microsoft.com/office/powerpoint/2010/main" val="14632355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7FF7E6-77FA-41DB-BEF2-6299CF17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E5688-C056-4932-A9AC-80056261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Post-discovery metrics keep interpretation honest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5A213-605E-46C9-BD80-A6F43E5F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0D97D-7E39-40BE-86DD-A449D6B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6718E-C758-4B3C-AA03-D925100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7D73"/>
                </a:solidFill>
              </a:defRPr>
            </a:pPr>
            <a:r>
              <a:rPr sz="1575" b="1" i="0">
                <a:solidFill>
                  <a:srgbClr val="167D73"/>
                </a:solidFill>
              </a:rPr>
              <a:t>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F8903-2188-461D-B9FA-5C9C11CA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3212A"/>
                </a:solidFill>
              </a:defRPr>
            </a:pPr>
            <a:r>
              <a:rPr sz="1875" b="1" i="0">
                <a:solidFill>
                  <a:srgbClr val="13212A"/>
                </a:solidFill>
              </a:rPr>
              <a:t>antecedent pairs / all pairs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7B865-440C-4C91-A07B-D9E76B5E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36D"/>
                </a:solidFill>
              </a:defRPr>
            </a:pPr>
            <a:r>
              <a:rPr sz="1425" b="0" i="0">
                <a:solidFill>
                  <a:srgbClr val="52636D"/>
                </a:solidFill>
              </a:rPr>
              <a:t>How often are tuples comparable?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84134-B466-484D-BB4D-1212522F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7165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4AD1A-D80E-4992-BC8D-3346F31C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7D73"/>
                </a:solidFill>
              </a:defRPr>
            </a:pPr>
            <a:r>
              <a:rPr sz="1575" b="1" i="0">
                <a:solidFill>
                  <a:srgbClr val="167D73"/>
                </a:solidFill>
              </a:rPr>
              <a:t>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DBE63-C222-4E68-AB72-48FB5549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6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3212A"/>
                </a:solidFill>
              </a:defRPr>
            </a:pPr>
            <a:r>
              <a:rPr sz="1875" b="1" i="0">
                <a:solidFill>
                  <a:srgbClr val="13212A"/>
                </a:solidFill>
              </a:rPr>
              <a:t>valid pairs / antecedent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E092F-1ED0-4A9C-BBD8-A602D098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527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36D"/>
                </a:solidFill>
              </a:defRPr>
            </a:pPr>
            <a:r>
              <a:rPr sz="1425" b="0" i="0">
                <a:solidFill>
                  <a:srgbClr val="52636D"/>
                </a:solidFill>
              </a:rPr>
              <a:t>How often does the rule hold?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15EB4-119B-4C6F-9C8C-D6DCDB07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7165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E71AE-843F-4386-8ED5-1259181E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7D73"/>
                </a:solidFill>
              </a:defRPr>
            </a:pPr>
            <a:r>
              <a:rPr sz="1575" b="1" i="0">
                <a:solidFill>
                  <a:srgbClr val="167D73"/>
                </a:solidFill>
              </a:rP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E0640-A974-4E5E-AA0D-3327E69B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3212A"/>
                </a:solidFill>
              </a:defRPr>
            </a:pPr>
            <a:r>
              <a:rPr sz="1875" b="1" i="0">
                <a:solidFill>
                  <a:srgbClr val="13212A"/>
                </a:solidFill>
              </a:rPr>
              <a:t>mean confidence over 30 seeded RHS permutations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6B1C0-1834-460C-A114-DA08AD3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527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36D"/>
                </a:solidFill>
              </a:defRPr>
            </a:pPr>
            <a:r>
              <a:rPr sz="1425" b="0" i="0">
                <a:solidFill>
                  <a:srgbClr val="52636D"/>
                </a:solidFill>
              </a:rPr>
              <a:t>What happens by chance?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F29B7-CB7D-4133-9A4F-219FD655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7429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076E4-778A-44C3-B895-33D2FC59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767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67D73"/>
                </a:solidFill>
              </a:defRPr>
            </a:pPr>
            <a:r>
              <a:rPr sz="1800" b="1" i="0">
                <a:solidFill>
                  <a:srgbClr val="167D73"/>
                </a:solidFill>
              </a:rPr>
              <a:t>LIFT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80BFD-7352-4498-8849-7C8610D4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3212A"/>
                </a:solidFill>
              </a:defRPr>
            </a:pPr>
            <a:r>
              <a:rPr sz="2100" b="1" i="0">
                <a:solidFill>
                  <a:srgbClr val="13212A"/>
                </a:solidFill>
              </a:rPr>
              <a:t>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D1EA2-E68C-4F5B-83C6-F6D3D26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815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1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08E2B-D3E4-4C2B-9B13-5A08E6EB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13212A"/>
                </a:solidFill>
              </a:defRPr>
            </a:pPr>
            <a:r>
              <a:rPr sz="1800" b="0" i="0">
                <a:solidFill>
                  <a:srgbClr val="13212A"/>
                </a:solidFill>
              </a:rPr>
              <a:t>baseline confidence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29459-419E-439A-B673-A561A10B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72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3212A"/>
                </a:solidFill>
              </a:defRPr>
            </a:pPr>
            <a:r>
              <a:rPr sz="2550" b="1" i="0">
                <a:solidFill>
                  <a:srgbClr val="13212A"/>
                </a:solidFill>
              </a:rPr>
              <a:t>=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C3ED0-36D0-4A36-9D74-F255294C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720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D6278"/>
                </a:solidFill>
              </a:defRPr>
            </a:pPr>
            <a:r>
              <a:rPr sz="1575" b="1" i="0">
                <a:solidFill>
                  <a:srgbClr val="2D6278"/>
                </a:solidFill>
              </a:rPr>
              <a:t>&gt; 1 means more informative than chance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E39F8-E390-4ED1-A62F-4A9EB7B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E12BC-1E75-4D5A-B011-2587C525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DiMε discovers with g3; support, confidence, baseline, and lift rank its outputs afterward.</a:t>
            </a:r>
          </a:p>
        </p:txBody>
      </p:sp>
    </p:spTree>
    <p:extLst>
      <p:ext uri="{BB962C8B-B14F-4D97-AF65-F5344CB8AC3E}">
        <p14:creationId xmlns:p14="http://schemas.microsoft.com/office/powerpoint/2010/main" val="1304410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03169-7B77-42D1-A677-F2A37E60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E630B-F717-4C12-92EF-AEBC0989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DiMε discovery is the central pipeline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31002-B562-4955-A996-DA971F71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ADA48-A67C-4A73-8714-30654DE5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DCFEB-6FDD-4B36-B21A-A95BAB1B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000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DD131-C29B-4BDF-AC04-1C8C5575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0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41055-B1B1-404F-9ACE-0AB28DA1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0305D-D694-4E4F-9F3E-EB93AA2C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0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F717F-5CB6-4D24-A2D9-CD525A41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00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5B090-9154-4703-A218-AF70BB7A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0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FF4A8-EF76-4C8A-9296-B75E0952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000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22F98-60BD-475C-BD52-5078D15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181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978A6-A915-4473-8A4D-5863C487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67D73"/>
                </a:solidFill>
              </a:defRPr>
            </a:pPr>
            <a:r>
              <a:rPr sz="975" b="1" i="0">
                <a:solidFill>
                  <a:srgbClr val="167D73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4B011-5710-4DDF-A4A5-65BBB3B0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003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Preprocess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10EE8-F616-481C-91AB-6EDE4E33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71750"/>
            <a:ext cx="1181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44425-3697-4729-939F-A8BC833A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67D73"/>
                </a:solidFill>
              </a:defRPr>
            </a:pPr>
            <a:r>
              <a:rPr sz="975" b="1" i="0">
                <a:solidFill>
                  <a:srgbClr val="167D73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43822-7747-4AA5-899E-0A5ED176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03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76C61-8426-4F71-A784-545014A6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71750"/>
            <a:ext cx="1181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E4A8B-7E78-4917-B576-2DB11EBD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67D73"/>
                </a:solidFill>
              </a:defRPr>
            </a:pPr>
            <a:r>
              <a:rPr sz="975" b="1" i="0">
                <a:solidFill>
                  <a:srgbClr val="167D73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4D5BC-8961-4DEF-BE37-EACD6DE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003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Weekly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projection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C27F6-AE28-45E9-9F97-131A1A85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1181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EE697-89B2-4B56-A8FB-349680A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67D73"/>
                </a:solidFill>
              </a:defRPr>
            </a:pPr>
            <a:r>
              <a:rPr sz="975" b="1" i="0">
                <a:solidFill>
                  <a:srgbClr val="167D7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C1308-BFEF-45FF-BE3E-1933C260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03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DiMε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discovery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3AB98-C302-48CD-ADAB-D42A165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71750"/>
            <a:ext cx="1181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7BEE1-98BC-47A5-B2E8-6BE29F8E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67D73"/>
                </a:solidFill>
              </a:defRPr>
            </a:pPr>
            <a:r>
              <a:rPr sz="975" b="1" i="0">
                <a:solidFill>
                  <a:srgbClr val="167D73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17D34-493E-4F1E-941A-4C960C8A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Permutation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2405E-CDB1-46A7-9B0C-E214B7A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181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DBC20-F0C2-48AA-91DC-8A7D52C7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67D73"/>
                </a:solidFill>
              </a:defRPr>
            </a:pPr>
            <a:r>
              <a:rPr sz="975" b="1" i="0">
                <a:solidFill>
                  <a:srgbClr val="167D73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37FDB-C131-4F33-B2D5-21B9CBC3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03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Bootstrap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EE5BDE-E207-4580-9181-2937E33E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71750"/>
            <a:ext cx="1181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F2229-5271-4646-ABE1-64E812EA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67D73"/>
                </a:solidFill>
              </a:defRPr>
            </a:pPr>
            <a:r>
              <a:rPr sz="975" b="1" i="0">
                <a:solidFill>
                  <a:srgbClr val="167D73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86B19F-0C91-48EF-8B16-2594ABF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003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Temporal +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monthly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036839-1B34-43B5-8FBE-A604BF7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71750"/>
            <a:ext cx="1181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F31A2E-539B-4E9E-B124-B1661EA8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67D73"/>
                </a:solidFill>
              </a:defRPr>
            </a:pPr>
            <a:r>
              <a:rPr sz="975" b="1" i="0">
                <a:solidFill>
                  <a:srgbClr val="167D73"/>
                </a:solidFill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36EBEB-E963-47D6-8DF3-77E95C7A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003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3212A"/>
                </a:solidFill>
              </a:defRPr>
            </a:pPr>
            <a:r>
              <a:rPr sz="1200" b="1" i="0">
                <a:solidFill>
                  <a:srgbClr val="13212A"/>
                </a:solidFill>
              </a:rPr>
              <a:t>Violations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C3A62C-8C4B-48FC-9DE9-5F88B8A1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2636D"/>
                </a:solidFill>
              </a:defRPr>
            </a:pPr>
            <a:r>
              <a:rPr sz="1275" b="1" i="0">
                <a:solidFill>
                  <a:srgbClr val="52636D"/>
                </a:solidFill>
              </a:rPr>
              <a:t>PREPARE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2CF85D-E151-4BB1-9C31-D3E1F1B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3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2636D"/>
                </a:solidFill>
              </a:defRPr>
            </a:pPr>
            <a:r>
              <a:rPr sz="1275" b="1" i="0">
                <a:solidFill>
                  <a:srgbClr val="52636D"/>
                </a:solidFill>
              </a:rPr>
              <a:t>DISCOVER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3D4A3D-EB57-4A23-9006-962281E9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2636D"/>
                </a:solidFill>
              </a:defRPr>
            </a:pPr>
            <a:r>
              <a:rPr sz="1275" b="1" i="0">
                <a:solidFill>
                  <a:srgbClr val="52636D"/>
                </a:solidFill>
              </a:rPr>
              <a:t>VALIDATE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F4F457-B25C-44D1-A913-74154887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2636D"/>
                </a:solidFill>
              </a:defRPr>
            </a:pPr>
            <a:r>
              <a:rPr sz="1275" b="1" i="0">
                <a:solidFill>
                  <a:srgbClr val="52636D"/>
                </a:solidFill>
              </a:rPr>
              <a:t>INVESTIGATE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E0A035-1141-45C6-89D7-1ED0F8C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AC82CE-11A6-474C-9840-E7E0A34E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Discovery is DiMε; every baseline and robustness check is strictly post-discovery.</a:t>
            </a:r>
          </a:p>
        </p:txBody>
      </p:sp>
    </p:spTree>
    <p:extLst>
      <p:ext uri="{BB962C8B-B14F-4D97-AF65-F5344CB8AC3E}">
        <p14:creationId xmlns:p14="http://schemas.microsoft.com/office/powerpoint/2010/main" val="1007206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CB8F7-DB4D-4320-A06E-9146FB49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258B5-1408-46BC-ACAA-1AE62FD8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Descriptive profiling reveals one dominant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E299E-1C5B-4149-9178-8626E26E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36897-71D9-4D62-9319-02660915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8E0F3-70CF-4F87-B272-9C72ECE2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6905625" cy="40576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a0cd14dc64132"/>
          <a:stretch xmlns:a="http://schemas.openxmlformats.org/drawingml/2006/main"/>
        </p:blipFill>
        <p:spPr>
          <a:xfrm xmlns:a="http://schemas.openxmlformats.org/drawingml/2006/main">
            <a:off x="1775336" y="1752600"/>
            <a:ext cx="4536053" cy="3752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A75EF-DED3-4F3D-A330-06364B87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100" b="1" i="0">
                <a:solidFill>
                  <a:srgbClr val="167D73"/>
                </a:solidFill>
              </a:defRPr>
            </a:pPr>
            <a:r>
              <a:rPr sz="5100" b="1" i="0">
                <a:solidFill>
                  <a:srgbClr val="167D73"/>
                </a:solidFill>
              </a:rPr>
              <a:t>0.874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F192A-AF9C-4F22-B9EF-8F1E2A66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3212A"/>
                </a:solidFill>
              </a:defRPr>
            </a:pPr>
            <a:r>
              <a:rPr sz="1875" b="1" i="0">
                <a:solidFill>
                  <a:srgbClr val="13212A"/>
                </a:solidFill>
              </a:rPr>
              <a:t>PM2.5–PM10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13212A"/>
                </a:solidFill>
              </a:defRPr>
            </a:pPr>
            <a:r>
              <a:rPr sz="1875" b="1" i="0">
                <a:solidFill>
                  <a:srgbClr val="13212A"/>
                </a:solidFill>
              </a:rPr>
              <a:t>Pearson correlation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35A68-78ED-44F2-B03A-A5DC5F42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434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52636D"/>
                </a:solidFill>
              </a:defRPr>
            </a:pPr>
            <a:r>
              <a:rPr sz="1500" b="0" i="0">
                <a:solidFill>
                  <a:srgbClr val="52636D"/>
                </a:solidFill>
              </a:rPr>
              <a:t>Correlation is descriptive context—not an RFD metric and not causal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5B64C-0413-491D-901B-14C32E0C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FAD44-A711-4721-B382-8B59E958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Fine and coarse particulate matter form the clearest descriptive relationship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785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387F9B-490B-4042-945E-0FABA286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B7A60-600D-44A8-A2B2-A431428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PM2.5 behavior changes across time and stations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59E81-3B2E-49C7-88FD-866C634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42F64-05A8-4A98-8C8E-AB58C863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87F85-8AE4-4486-8ECF-49CEFEA4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11001375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a8921d2304be3"/>
          <a:stretch xmlns:a="http://schemas.openxmlformats.org/drawingml/2006/main"/>
        </p:blipFill>
        <p:spPr>
          <a:xfrm xmlns:a="http://schemas.openxmlformats.org/drawingml/2006/main">
            <a:off x="2423989" y="1809750"/>
            <a:ext cx="7334497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849C9-6B53-4CFC-B0E6-DA18C04D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EDC8C-BF98-4E06-8DC0-4DCE1F2B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Temporal and site-level variability motivates continuous profiling rather than one static summary.</a:t>
            </a:r>
          </a:p>
        </p:txBody>
      </p:sp>
    </p:spTree>
    <p:extLst>
      <p:ext uri="{BB962C8B-B14F-4D97-AF65-F5344CB8AC3E}">
        <p14:creationId xmlns:p14="http://schemas.microsoft.com/office/powerpoint/2010/main" val="10715571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10AA1-1184-491D-BDFE-E686501F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A4DBA-FC81-4AA5-8F28-B2D9048E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Top RFDs discovered by DiMε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E91DF-27F3-44F5-9F3C-89FAF910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707FF-99B3-46FB-B8E5-F47EC6C6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A0B64-0812-4CE3-9974-77196A50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2636D"/>
                </a:solidFill>
              </a:defRPr>
            </a:pPr>
            <a:r>
              <a:rPr sz="1350" b="1" i="0">
                <a:solidFill>
                  <a:srgbClr val="52636D"/>
                </a:solidFill>
              </a:rPr>
              <a:t>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E8BC4-09EB-4743-9BF0-07067F1C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2636D"/>
                </a:solidFill>
              </a:defRPr>
            </a:pPr>
            <a:r>
              <a:rPr sz="1350" b="1" i="0">
                <a:solidFill>
                  <a:srgbClr val="52636D"/>
                </a:solidFill>
              </a:rPr>
              <a:t>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6C6D7-D1D3-4E99-B11C-E09087CD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811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2636D"/>
                </a:solidFill>
              </a:defRPr>
            </a:pPr>
            <a:r>
              <a:rPr sz="1350" b="1" i="0">
                <a:solidFill>
                  <a:srgbClr val="52636D"/>
                </a:solidFill>
              </a:rPr>
              <a:t>Conf.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FBC18-DB4E-4E6E-A00C-DB04C7D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811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2636D"/>
                </a:solidFill>
              </a:defRPr>
            </a:pPr>
            <a:r>
              <a:rPr sz="1350" b="1" i="0">
                <a:solidFill>
                  <a:srgbClr val="52636D"/>
                </a:solidFill>
              </a:rPr>
              <a:t>g3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36207-3E4F-4D7A-9FE7-06ABA636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811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2636D"/>
                </a:solidFill>
              </a:defRPr>
            </a:pPr>
            <a:r>
              <a:rPr sz="1350" b="1" i="0">
                <a:solidFill>
                  <a:srgbClr val="52636D"/>
                </a:solidFill>
              </a:rPr>
              <a:t>Lift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CE919-634F-4520-9DF7-8C8F6256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1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6A421-D4F6-4FBA-B3CE-23295F6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0591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0">
            <a:solidFill>
              <a:srgbClr val="EEF4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75271-EDC6-443F-A28D-15159124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station, PM10, NO2, O3, TEMP → WSPM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FB807-B4D7-426C-B29B-11579422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3212A"/>
                </a:solidFill>
              </a:defRPr>
            </a:pPr>
            <a:r>
              <a:rPr sz="1800" b="1" i="0">
                <a:solidFill>
                  <a:srgbClr val="13212A"/>
                </a:solidFill>
              </a:rPr>
              <a:t>0.0016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222DA-02A5-4665-9476-3ED4FD3F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3212A"/>
                </a:solidFill>
              </a:defRPr>
            </a:pPr>
            <a:r>
              <a:rPr sz="1800" b="1" i="0">
                <a:solidFill>
                  <a:srgbClr val="13212A"/>
                </a:solidFill>
              </a:rPr>
              <a:t>0.899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FA988-FD50-43EF-9098-964EFDC2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43150"/>
            <a:ext cx="100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3212A"/>
                </a:solidFill>
              </a:defRPr>
            </a:pPr>
            <a:r>
              <a:rPr sz="1800" b="1" i="0">
                <a:solidFill>
                  <a:srgbClr val="13212A"/>
                </a:solidFill>
              </a:rPr>
              <a:t>0.092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00D78-EDB8-4FBF-A208-07CDB46E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67D73"/>
                </a:solidFill>
              </a:defRPr>
            </a:pPr>
            <a:r>
              <a:rPr sz="1800" b="1" i="0">
                <a:solidFill>
                  <a:srgbClr val="167D73"/>
                </a:solidFill>
              </a:rPr>
              <a:t>1.163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27CE4-69E3-407B-B59D-AB3FC08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12EE4-398A-411D-9644-1E803D22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3212A"/>
                </a:solidFill>
              </a:defRPr>
            </a:pPr>
            <a:r>
              <a:rPr sz="1650" b="0" i="0">
                <a:solidFill>
                  <a:srgbClr val="13212A"/>
                </a:solidFill>
              </a:rPr>
              <a:t>PM2.5, PM10, NO2, O3, TEMP → WSPM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DDD17-B880-4C46-A118-ABDDA4A0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13212A"/>
                </a:solidFill>
              </a:defRPr>
            </a:pPr>
            <a:r>
              <a:rPr sz="1800" b="0" i="0">
                <a:solidFill>
                  <a:srgbClr val="13212A"/>
                </a:solidFill>
              </a:rPr>
              <a:t>0.0013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761DB-5985-450C-A471-8CFCD59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13212A"/>
                </a:solidFill>
              </a:defRPr>
            </a:pPr>
            <a:r>
              <a:rPr sz="1800" b="0" i="0">
                <a:solidFill>
                  <a:srgbClr val="13212A"/>
                </a:solidFill>
              </a:rPr>
              <a:t>0.889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DED24-199C-4EB7-BA35-F4A9B0AF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19450"/>
            <a:ext cx="100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13212A"/>
                </a:solidFill>
              </a:defRPr>
            </a:pPr>
            <a:r>
              <a:rPr sz="1800" b="0" i="0">
                <a:solidFill>
                  <a:srgbClr val="13212A"/>
                </a:solidFill>
              </a:rPr>
              <a:t>0.074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2F95B-5841-4825-B780-427D3B22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194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67D73"/>
                </a:solidFill>
              </a:defRPr>
            </a:pPr>
            <a:r>
              <a:rPr sz="1800" b="1" i="0">
                <a:solidFill>
                  <a:srgbClr val="167D73"/>
                </a:solidFill>
              </a:rPr>
              <a:t>1.155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6CA17-E470-4A79-AAF9-9DED63FC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1A576-CAE1-4615-870D-BD459803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3212A"/>
                </a:solidFill>
              </a:defRPr>
            </a:pPr>
            <a:r>
              <a:rPr sz="1650" b="0" i="0">
                <a:solidFill>
                  <a:srgbClr val="13212A"/>
                </a:solidFill>
              </a:rPr>
              <a:t>time_slot → WSPM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CE251-7047-4685-BC5A-2583062F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13212A"/>
                </a:solidFill>
              </a:defRPr>
            </a:pPr>
            <a:r>
              <a:rPr sz="1800" b="0" i="0">
                <a:solidFill>
                  <a:srgbClr val="13212A"/>
                </a:solidFill>
              </a:rPr>
              <a:t>0.2496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8B9546-8B68-4723-A058-E4CF7DB9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13212A"/>
                </a:solidFill>
              </a:defRPr>
            </a:pPr>
            <a:r>
              <a:rPr sz="1800" b="0" i="0">
                <a:solidFill>
                  <a:srgbClr val="13212A"/>
                </a:solidFill>
              </a:rPr>
              <a:t>0.858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32DB22-7CAD-4FAE-AB22-072D7858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95750"/>
            <a:ext cx="100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13212A"/>
                </a:solidFill>
              </a:defRPr>
            </a:pPr>
            <a:r>
              <a:rPr sz="1800" b="0" i="0">
                <a:solidFill>
                  <a:srgbClr val="13212A"/>
                </a:solidFill>
              </a:rPr>
              <a:t>0.047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66FC3-7099-480E-B331-F235AF50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67D73"/>
                </a:solidFill>
              </a:defRPr>
            </a:pPr>
            <a:r>
              <a:rPr sz="1800" b="1" i="0">
                <a:solidFill>
                  <a:srgbClr val="167D73"/>
                </a:solidFill>
              </a:rPr>
              <a:t>1.113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23B97-D867-425F-A8EA-DC7D4CB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BE711-00F1-42CB-9E80-E2367FC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76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EFEC"/>
          </a:solidFill>
          <a:ln xmlns:a="http://schemas.openxmlformats.org/drawingml/2006/main" w="9525">
            <a:solidFill>
              <a:srgbClr val="D9EF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286D59-512B-418F-A35E-F2994C7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48275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3212A"/>
                </a:solidFill>
              </a:defRPr>
            </a:pPr>
            <a:r>
              <a:rPr sz="1800" b="1" i="0">
                <a:solidFill>
                  <a:srgbClr val="13212A"/>
                </a:solidFill>
              </a:rPr>
              <a:t>5 minimal RFDs · 960 candidates · 8 lattice levels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92158-B2E2-4228-A69C-0B97A136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27876-BB47-4DD7-8AF3-54EE5F00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Four of five RFDs have low support; time_slot → WSPM is most general (support 0.24955).</a:t>
            </a:r>
          </a:p>
        </p:txBody>
      </p:sp>
    </p:spTree>
    <p:extLst>
      <p:ext uri="{BB962C8B-B14F-4D97-AF65-F5344CB8AC3E}">
        <p14:creationId xmlns:p14="http://schemas.microsoft.com/office/powerpoint/2010/main" val="19941743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3D310-4F32-4ED4-ADC5-95549C35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28C40-5809-4E1C-A47F-F5B28939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g3 and confidence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6D9BC-23E1-4173-8C77-D81C1623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73E80-EB22-40D7-B0D0-FC19B6FA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0BF3B-1C1D-4689-9129-5B5AADD1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000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19050">
            <a:solidFill>
              <a:srgbClr val="53A8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4A307-AE12-4673-ABD9-4FC06EB9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095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D6278"/>
                </a:solidFill>
              </a:defRPr>
            </a:pPr>
            <a:r>
              <a:rPr sz="2550" b="1" i="0">
                <a:solidFill>
                  <a:srgbClr val="2D6278"/>
                </a:solidFill>
              </a:rPr>
              <a:t>g3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C5DFE-B7E4-4B0D-BCC9-2CCE3470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00375"/>
            <a:ext cx="20002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D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A002A-D24B-465C-8B6B-9DAB7253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956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67D73"/>
                </a:solidFill>
              </a:defRPr>
            </a:pPr>
            <a:r>
              <a:rPr sz="2250" b="1" i="0">
                <a:solidFill>
                  <a:srgbClr val="167D73"/>
                </a:solidFill>
              </a:rPr>
              <a:t>CONF.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67209-EBCF-4A60-B5B9-5484B42F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3212A"/>
                </a:solidFill>
              </a:defRPr>
            </a:pPr>
            <a:r>
              <a:rPr sz="1875" b="1" i="0">
                <a:solidFill>
                  <a:srgbClr val="13212A"/>
                </a:solidFill>
              </a:rPr>
              <a:t>Minimum tuple-removal fraction needed to make an RFD hold.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2AFBB-F3D9-4AAA-B525-16E2353A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89C21-4451-4001-8084-04F3FF11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57500"/>
            <a:ext cx="4867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3212A"/>
                </a:solidFill>
              </a:defRPr>
            </a:pPr>
            <a:r>
              <a:rPr sz="1575" b="0" i="0">
                <a:solidFill>
                  <a:srgbClr val="13212A"/>
                </a:solidFill>
              </a:rPr>
              <a:t>Valid similar pairs divided by antecedent pairs.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3B36E-C853-429A-9A67-CA711F33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E60C6-F880-4207-B1CB-AA47EE39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505200"/>
            <a:ext cx="4867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3212A"/>
                </a:solidFill>
              </a:defRPr>
            </a:pPr>
            <a:r>
              <a:rPr sz="1575" b="0" i="0">
                <a:solidFill>
                  <a:srgbClr val="13212A"/>
                </a:solidFill>
              </a:rPr>
              <a:t>DiMε discovers rules with g3 ≤ 0.10.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F1E64-F17E-40CC-96C5-06E8F6FC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772BD-C746-45C6-B5CE-00C4775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52900"/>
            <a:ext cx="4867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3212A"/>
                </a:solidFill>
              </a:defRPr>
            </a:pPr>
            <a:r>
              <a:rPr sz="1575" b="0" i="0">
                <a:solidFill>
                  <a:srgbClr val="13212A"/>
                </a:solidFill>
              </a:rPr>
              <a:t>Pairwise confidence ranks discovered rules afterward.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D8D2D-93BB-4D0D-B3FC-F0480F8F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33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B5534A"/>
                </a:solidFill>
              </a:defRPr>
            </a:pPr>
            <a:r>
              <a:rPr sz="2250" b="1" i="0">
                <a:solidFill>
                  <a:srgbClr val="B5534A"/>
                </a:solidFill>
              </a:rPr>
              <a:t>DISCOVERY ≠ RANKING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BD765-6F44-4189-BC8F-80926EF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03053-3DAF-4AD0-BDFE-B07464C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Low g3 can coexist with pair violations because tuple removal and pair counting differ.</a:t>
            </a:r>
          </a:p>
        </p:txBody>
      </p:sp>
    </p:spTree>
    <p:extLst>
      <p:ext uri="{BB962C8B-B14F-4D97-AF65-F5344CB8AC3E}">
        <p14:creationId xmlns:p14="http://schemas.microsoft.com/office/powerpoint/2010/main" val="1446668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96A3C4-AD5E-4BB6-A977-51B9BDBF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9451B-3B2B-4067-870A-6CFA5CE5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Manual candidates are supplementary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6D701-3E80-4196-B481-371A186E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36A15-0710-4D1E-A58E-26518CE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221FD-8F88-42C2-9716-6FABE1AA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29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03F2E-C2AF-49D1-9496-605DBC3A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02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13212A"/>
                </a:solidFill>
              </a:defRPr>
            </a:pPr>
            <a:r>
              <a:rPr sz="2325" b="1" i="0">
                <a:solidFill>
                  <a:srgbClr val="13212A"/>
                </a:solidFill>
              </a:rPr>
              <a:t>station, PM2.5, NO2  →  PM10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520CE-F383-4CBC-AA77-B2E2C6A1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66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0.025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E2BCE-4918-4548-BAED-C73D634A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14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52636D"/>
                </a:solidFill>
              </a:defRPr>
            </a:pPr>
            <a:r>
              <a:rPr sz="1350" b="0" i="0">
                <a:solidFill>
                  <a:srgbClr val="52636D"/>
                </a:solidFill>
              </a:rPr>
              <a:t>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93296-8240-4BB0-AC65-286F3150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766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167D73"/>
                </a:solidFill>
              </a:defRPr>
            </a:pPr>
            <a:r>
              <a:rPr sz="3600" b="1" i="0">
                <a:solidFill>
                  <a:srgbClr val="167D73"/>
                </a:solidFill>
              </a:rPr>
              <a:t>0.483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F19E9-D21E-4B1E-9D93-2FEBE7F8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114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52636D"/>
                </a:solidFill>
              </a:defRPr>
            </a:pPr>
            <a:r>
              <a:rPr sz="1350" b="0" i="0">
                <a:solidFill>
                  <a:srgbClr val="52636D"/>
                </a:solidFill>
              </a:rPr>
              <a:t>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47B96-F163-458A-938E-47AEB65F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766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0.333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7361E-37B4-437E-BC5C-1F29348C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14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52636D"/>
                </a:solidFill>
              </a:defRPr>
            </a:pPr>
            <a:r>
              <a:rPr sz="1350" b="0" i="0">
                <a:solidFill>
                  <a:srgbClr val="52636D"/>
                </a:solidFill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AD639-3555-49EE-92E9-B3972DF4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766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3.24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52E37-55BA-42D0-81CA-7EB0048F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14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52636D"/>
                </a:solidFill>
              </a:defRPr>
            </a:pPr>
            <a:r>
              <a:rPr sz="1350" b="0" i="0">
                <a:solidFill>
                  <a:srgbClr val="52636D"/>
                </a:solidFill>
              </a:rPr>
              <a:t>lift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664D6-866B-4EF7-A209-0D9A015A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3212A"/>
                </a:solidFill>
              </a:defRPr>
            </a:pPr>
            <a:r>
              <a:rPr sz="1650" b="0" i="0">
                <a:solidFill>
                  <a:srgbClr val="13212A"/>
                </a:solidFill>
              </a:rPr>
              <a:t>This rule was specified manually and validated on the legacy sample.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80C72-474D-48D2-BBE4-643C5FDB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D6278"/>
                </a:solidFill>
              </a:defRPr>
            </a:pPr>
            <a:r>
              <a:rPr sz="1575" b="1" i="0">
                <a:solidFill>
                  <a:srgbClr val="2D6278"/>
                </a:solidFill>
              </a:rPr>
              <a:t>It is not an output of DiMε and does not drive the main results.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4B4B2-DC5F-46EA-8C69-0AA5B230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D14E0-8A8C-4AA5-911D-961E90D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Manual and binned variants remain only as transparent supplementary comparisons.</a:t>
            </a:r>
          </a:p>
        </p:txBody>
      </p:sp>
    </p:spTree>
    <p:extLst>
      <p:ext uri="{BB962C8B-B14F-4D97-AF65-F5344CB8AC3E}">
        <p14:creationId xmlns:p14="http://schemas.microsoft.com/office/powerpoint/2010/main" val="8729643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A85A3-7CAE-4472-AC03-6E916CF4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BFF53-F042-467D-BADD-2AAAC974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The top DiMε rule remains relatively 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6C702-F64B-4DCA-97E1-4B896BFA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0ABAC-6662-4BC0-8FEF-F1AE468A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AE25C-D8B3-496E-B565-BC4FA96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7D73"/>
                </a:solidFill>
              </a:defRPr>
            </a:pPr>
            <a:r>
              <a:rPr sz="1575" b="1" i="0">
                <a:solidFill>
                  <a:srgbClr val="167D73"/>
                </a:solidFill>
              </a:rPr>
              <a:t>BOOTSTRAP · 30 BALANCED RESAMPLES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96442-70AC-4C17-9623-57858D8F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1" i="0">
                <a:solidFill>
                  <a:srgbClr val="13212A"/>
                </a:solidFill>
              </a:defRPr>
            </a:pPr>
            <a:r>
              <a:rPr sz="4125" b="1" i="0">
                <a:solidFill>
                  <a:srgbClr val="13212A"/>
                </a:solidFill>
              </a:rPr>
              <a:t>0.930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50435-AF34-489E-BFFD-254BDC0F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2636D"/>
                </a:solidFill>
              </a:defRPr>
            </a:pPr>
            <a:r>
              <a:rPr sz="1350" b="0" i="0">
                <a:solidFill>
                  <a:srgbClr val="52636D"/>
                </a:solidFill>
              </a:rPr>
              <a:t>mean confidence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4334E-1AFE-46E1-A321-54CFA5E3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622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1" i="0">
                <a:solidFill>
                  <a:srgbClr val="167D73"/>
                </a:solidFill>
              </a:defRPr>
            </a:pPr>
            <a:r>
              <a:rPr sz="4125" b="1" i="0">
                <a:solidFill>
                  <a:srgbClr val="167D73"/>
                </a:solidFill>
              </a:rPr>
              <a:t>1.207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698A8-DB8C-42D8-8655-A38CF4A7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575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2636D"/>
                </a:solidFill>
              </a:defRPr>
            </a:pPr>
            <a:r>
              <a:rPr sz="1350" b="0" i="0">
                <a:solidFill>
                  <a:srgbClr val="52636D"/>
                </a:solidFill>
              </a:rPr>
              <a:t>mean lift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75BAD-83E1-4D39-8282-E65A23DA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4267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72958-54EB-44A7-A79F-F43D6639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52636D"/>
                </a:solidFill>
              </a:defRPr>
            </a:pPr>
            <a:r>
              <a:rPr sz="1350" b="0" i="0">
                <a:solidFill>
                  <a:srgbClr val="52636D"/>
                </a:solidFill>
              </a:rPr>
              <a:t>95% empirical lift 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8BC67-18D9-4904-A574-39237E34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3212A"/>
                </a:solidFill>
              </a:defRPr>
            </a:pPr>
            <a:r>
              <a:rPr sz="2100" b="1" i="0">
                <a:solidFill>
                  <a:srgbClr val="13212A"/>
                </a:solidFill>
              </a:rPr>
              <a:t>[1.171, 1.244]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95394-0A81-4DD2-87E6-601BBDBC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526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FA461-5546-44E5-86F1-40415C01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811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7D73"/>
                </a:solidFill>
              </a:defRPr>
            </a:pPr>
            <a:r>
              <a:rPr sz="1575" b="1" i="0">
                <a:solidFill>
                  <a:srgbClr val="167D73"/>
                </a:solidFill>
              </a:rPr>
              <a:t>CHRONOLOGICAL VALIDATION · 75 / 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7EF5A-980E-42EE-A09D-021A5F91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2636D"/>
                </a:solidFill>
              </a:defRPr>
            </a:pPr>
            <a:r>
              <a:rPr sz="1350" b="1" i="0">
                <a:solidFill>
                  <a:srgbClr val="52636D"/>
                </a:solidFill>
              </a:rPr>
              <a:t>TRAIN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DF3E7-C56A-48E8-96B8-4B3258DF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3212A"/>
                </a:solidFill>
              </a:defRPr>
            </a:pPr>
            <a:r>
              <a:rPr sz="1500" b="0" i="0">
                <a:solidFill>
                  <a:srgbClr val="13212A"/>
                </a:solidFill>
              </a:rPr>
              <a:t>Mar 2013–Feb 2016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091EA-C4BD-45BA-9738-E022A19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52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3212A"/>
                </a:solidFill>
              </a:defRPr>
            </a:pPr>
            <a:r>
              <a:rPr sz="2400" b="1" i="0">
                <a:solidFill>
                  <a:srgbClr val="13212A"/>
                </a:solidFill>
              </a:rPr>
              <a:t>lift 1.161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161CF-8A7A-4327-AFC4-E8EE798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43275"/>
            <a:ext cx="762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solidFill>
              <a:srgbClr val="D9EF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68292-69B5-4800-B0BA-1243FECE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2636D"/>
                </a:solidFill>
              </a:defRPr>
            </a:pPr>
            <a:r>
              <a:rPr sz="1350" b="1" i="0">
                <a:solidFill>
                  <a:srgbClr val="52636D"/>
                </a:solidFill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BAC9E-E1D0-4F3F-9F85-F3FEFF41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3212A"/>
                </a:solidFill>
              </a:defRPr>
            </a:pPr>
            <a:r>
              <a:rPr sz="1500" b="0" i="0">
                <a:solidFill>
                  <a:srgbClr val="13212A"/>
                </a:solidFill>
              </a:rPr>
              <a:t>Mar 2016–Feb 2017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C4528-0ABE-4749-AEE6-0DB3F7E4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28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67D73"/>
                </a:solidFill>
              </a:defRPr>
            </a:pPr>
            <a:r>
              <a:rPr sz="2400" b="1" i="0">
                <a:solidFill>
                  <a:srgbClr val="167D73"/>
                </a:solidFill>
              </a:rPr>
              <a:t>lift 1.178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EFB50-A39A-4BBE-B64F-E65F9A8B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2636D"/>
                </a:solidFill>
              </a:defRPr>
            </a:pPr>
            <a:r>
              <a:rPr sz="1575" b="0" i="0">
                <a:solidFill>
                  <a:srgbClr val="52636D"/>
                </a:solidFill>
              </a:rPr>
              <a:t>Confidence rises from 0.888 to 0.937.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44741-6CC6-4286-846E-EB22A785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91C35-3B5A-41A1-ADE4-4040145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Bootstrap and the held-out year keep lift above 1 for the top DiMε rule.</a:t>
            </a:r>
          </a:p>
        </p:txBody>
      </p:sp>
    </p:spTree>
    <p:extLst>
      <p:ext uri="{BB962C8B-B14F-4D97-AF65-F5344CB8AC3E}">
        <p14:creationId xmlns:p14="http://schemas.microsoft.com/office/powerpoint/2010/main" val="18439792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12E51B-E986-4866-9459-7794B5E4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0446A-9FC8-4730-BF1F-7C7EBA19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Continuous profiling exposes changing regimes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F6DEE-EDEA-4BDB-BB01-FD7AFB0C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AFCF5-0007-4B01-AD22-74D274A8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DC27E-31B3-436E-88EC-052E208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7953375" cy="40576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d3104c6649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3488" y="1752600"/>
            <a:ext cx="6566548" cy="3752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E6E80-A9E5-4CE3-B611-08BE148C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167D73"/>
                </a:solidFill>
              </a:defRPr>
            </a:pPr>
            <a:r>
              <a:rPr sz="4650" b="1" i="0">
                <a:solidFill>
                  <a:srgbClr val="167D73"/>
                </a:solidFill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571D6-ACD8-4F3C-9F7E-FE83AA34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43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3212A"/>
                </a:solidFill>
              </a:defRPr>
            </a:pPr>
            <a:r>
              <a:rPr sz="1500" b="1" i="0">
                <a:solidFill>
                  <a:srgbClr val="13212A"/>
                </a:solidFill>
              </a:rPr>
              <a:t>monthly 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99582-F3E5-405B-9BD7-4E62745C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546AF-C348-4165-AA09-32946B84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3212A"/>
                </a:solidFill>
              </a:defRPr>
            </a:pPr>
            <a:r>
              <a:rPr sz="1350" b="0" i="0">
                <a:solidFill>
                  <a:srgbClr val="13212A"/>
                </a:solidFill>
              </a:rPr>
              <a:t>confidence varies over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5DB6A-C16D-4613-A020-0CF3CB83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88143-F5FF-4B13-9D8E-8C8F7023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5290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3212A"/>
                </a:solidFill>
              </a:defRPr>
            </a:pPr>
            <a:r>
              <a:rPr sz="1350" b="0" i="0">
                <a:solidFill>
                  <a:srgbClr val="13212A"/>
                </a:solidFill>
              </a:rPr>
              <a:t>support changes with comparability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1F23B-C2D3-4B1E-9F96-D29CC012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4DE25-E111-496E-9E58-C49ABA89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0535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3212A"/>
                </a:solidFill>
              </a:defRPr>
            </a:pPr>
            <a:r>
              <a:rPr sz="1350" b="0" i="0">
                <a:solidFill>
                  <a:srgbClr val="13212A"/>
                </a:solidFill>
              </a:rPr>
              <a:t>pair counts affect 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9F8B6-5D1B-4F94-96D7-F6209E5D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00961-7BC0-417D-98C4-759C3E0C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Monthly metrics are recalculated only for RFDs discovered by DiMε.</a:t>
            </a:r>
          </a:p>
        </p:txBody>
      </p:sp>
    </p:spTree>
    <p:extLst>
      <p:ext uri="{BB962C8B-B14F-4D97-AF65-F5344CB8AC3E}">
        <p14:creationId xmlns:p14="http://schemas.microsoft.com/office/powerpoint/2010/main" val="5676833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371C2-EA07-4525-A325-143FFB3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1265A-52A8-44EA-959A-DD27E589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Violations are investigation targets—not just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7CE8D-CF94-428B-BA69-CD5E6591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72BA8-F841-4FB5-8E02-CA418DE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17523-D089-4B81-AB9B-AC1A7C33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7627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41FE0-C059-4110-92E5-CC769696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2636D"/>
                </a:solidFill>
              </a:defRPr>
            </a:pPr>
            <a:r>
              <a:rPr sz="1350" b="1" i="0">
                <a:solidFill>
                  <a:srgbClr val="52636D"/>
                </a:solidFill>
              </a:rPr>
              <a:t>Top 2 DiMε RFDs · 200 strongest pairs each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81050" y="2076450"/>
          <a:ext xmlns:a="http://schemas.openxmlformats.org/drawingml/2006/main" cx="63817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12728b7c5f4e1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58EE5-89A3-47B2-AD3D-0E40EACA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28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67D73"/>
                </a:solidFill>
              </a:defRPr>
            </a:pPr>
            <a:r>
              <a:rPr sz="1950" b="1" i="0">
                <a:solidFill>
                  <a:srgbClr val="167D73"/>
                </a:solidFill>
              </a:rPr>
              <a:t>A violation may reflect: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07D99-E200-461F-B92A-36234478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A761B-5D3C-4B19-99D3-855F96D9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057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3212A"/>
                </a:solidFill>
              </a:defRPr>
            </a:pPr>
            <a:r>
              <a:rPr sz="1500" b="0" i="0">
                <a:solidFill>
                  <a:srgbClr val="13212A"/>
                </a:solidFill>
              </a:rPr>
              <a:t>local site heterogeneity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74554-E635-4FC0-B25B-1CA0D34B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A1246-F1C6-4F6B-BA27-30755CF1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3057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3212A"/>
                </a:solidFill>
              </a:defRPr>
            </a:pPr>
            <a:r>
              <a:rPr sz="1500" b="0" i="0">
                <a:solidFill>
                  <a:srgbClr val="13212A"/>
                </a:solidFill>
              </a:rPr>
              <a:t>unobserved local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C99DA-C8D7-4173-B5E3-24F0B055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144E2-CF6E-4BD5-A442-D87F2CFE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057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3212A"/>
                </a:solidFill>
              </a:defRPr>
            </a:pPr>
            <a:r>
              <a:rPr sz="1500" b="0" i="0">
                <a:solidFill>
                  <a:srgbClr val="13212A"/>
                </a:solidFill>
              </a:rPr>
              <a:t>meteorology outside the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7F689-13F8-4324-9104-034C19A4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B306D-E93C-4100-A29D-DCABD8FF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057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3212A"/>
                </a:solidFill>
              </a:defRPr>
            </a:pPr>
            <a:r>
              <a:rPr sz="1500" b="0" i="0">
                <a:solidFill>
                  <a:srgbClr val="13212A"/>
                </a:solidFill>
              </a:rPr>
              <a:t>weekly aggregation effects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78664-5351-44DD-940C-BA9C1B71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76FE9-47D3-4E78-9505-592F7956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3057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3212A"/>
                </a:solidFill>
              </a:defRPr>
            </a:pPr>
            <a:r>
              <a:rPr sz="1500" b="0" i="0">
                <a:solidFill>
                  <a:srgbClr val="13212A"/>
                </a:solidFill>
              </a:rPr>
              <a:t>measurement or data-quality issues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89C6F-82D1-4C10-B7F7-B5C39CD8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36D"/>
                </a:solidFill>
              </a:defRPr>
            </a:pPr>
            <a:r>
              <a:rPr sz="1425" b="0" i="0">
                <a:solidFill>
                  <a:srgbClr val="52636D"/>
                </a:solidFill>
              </a:rPr>
              <a:t>Top group: Changping · Jan 2016 · afternoon · 9 pairs.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04798-4FB0-445E-B3FA-2ABECABA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7B58E-C89D-4EFE-AF8B-48EB0983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12A"/>
                </a:solidFill>
              </a:defRPr>
            </a:pPr>
            <a:r>
              <a:rPr sz="1650" b="1" i="0">
                <a:solidFill>
                  <a:srgbClr val="13212A"/>
                </a:solidFill>
              </a:rPr>
              <a:t>The value of violations lies in targeted follow-up, not automatic labeling.</a:t>
            </a:r>
          </a:p>
        </p:txBody>
      </p:sp>
    </p:spTree>
    <p:extLst>
      <p:ext uri="{BB962C8B-B14F-4D97-AF65-F5344CB8AC3E}">
        <p14:creationId xmlns:p14="http://schemas.microsoft.com/office/powerpoint/2010/main" val="654843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C42152-0628-4861-88BD-4BB3E2B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RFD CONSISTENCY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EC5DC-299F-436C-AE83-F62B0347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What DiMε contributes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37004-F59B-4BA8-BCD8-20EAD169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67A15-5D01-4559-88BD-64158D8B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B4042-BC3C-4620-80C5-1934838D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ABCD8-4DD9-420F-9EB2-FCCAD04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3212A"/>
                </a:solidFill>
              </a:defRPr>
            </a:pPr>
            <a:r>
              <a:rPr sz="1575" b="0" i="0">
                <a:solidFill>
                  <a:srgbClr val="13212A"/>
                </a:solidFill>
              </a:rPr>
              <a:t>Full course algorithm: difference matrices, lattice, C+, g3, pruning.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58A62-598B-4242-BE9C-E11CBE86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B67B7-CCF9-419C-A9FC-29ACFD9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B5534A"/>
                </a:solidFill>
              </a:defRPr>
            </a:pPr>
            <a:r>
              <a:rPr sz="1575" b="1" i="0">
                <a:solidFill>
                  <a:srgbClr val="B5534A"/>
                </a:solidFill>
              </a:rPr>
              <a:t>5 minimal RFDs from 960 candidates across all 8 lattice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30956-4DB1-4117-B1E4-C28D4E4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EB46A-0915-4737-BDDA-90A278ED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3212A"/>
                </a:solidFill>
              </a:defRPr>
            </a:pPr>
            <a:r>
              <a:rPr sz="1575" b="0" i="0">
                <a:solidFill>
                  <a:srgbClr val="13212A"/>
                </a:solidFill>
              </a:rPr>
              <a:t>Baseline, lift, bootstrap and temporal checks are post-discovery.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CA793-E51F-4BD9-8072-8153C4FD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90817-B0CD-46D2-9ED2-08F6403A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3212A"/>
                </a:solidFill>
              </a:defRPr>
            </a:pPr>
            <a:r>
              <a:rPr sz="1575" b="0" i="0">
                <a:solidFill>
                  <a:srgbClr val="13212A"/>
                </a:solidFill>
              </a:rPr>
              <a:t>The weekly projection uses every one of the 66,619 cleaned rows.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22A4D-3EA3-453E-8524-B0A380BE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73"/>
          </a:solidFill>
          <a:ln xmlns:a="http://schemas.openxmlformats.org/drawingml/2006/main" w="0">
            <a:solidFill>
              <a:srgbClr val="167D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75B51-A0CC-4C10-A9AE-0F308F6B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7D73"/>
                </a:solidFill>
              </a:defRPr>
            </a:pPr>
            <a:r>
              <a:rPr sz="1575" b="1" i="0">
                <a:solidFill>
                  <a:srgbClr val="167D73"/>
                </a:solidFill>
              </a:rPr>
              <a:t>Four of five RFDs have low support and describe specific regularities.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506AD-AADF-40C2-AC7F-112B70B3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1009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ACB3F-8AC4-4383-9DF3-A608DAC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244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D6278"/>
                </a:solidFill>
              </a:defRPr>
            </a:pPr>
            <a:r>
              <a:rPr sz="1725" b="1" i="0">
                <a:solidFill>
                  <a:srgbClr val="2D6278"/>
                </a:solidFill>
              </a:rPr>
              <a:t>“The contribution is exact algorithm fidelity: DiMε discovers the rules; every other metric explains their scope and stability.”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332FD-3ADB-4290-B7EE-2F305B7A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67D73"/>
                </a:solidFill>
              </a:defRPr>
            </a:pPr>
            <a:r>
              <a:rPr sz="1275" b="1" i="0">
                <a:solidFill>
                  <a:srgbClr val="167D73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98340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003C5-B25D-4001-8E9D-7C49FD4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67D73"/>
                </a:solidFill>
              </a:defRPr>
            </a:pPr>
            <a:r>
              <a:rPr sz="1125" b="1" i="0">
                <a:solidFill>
                  <a:srgbClr val="167D73"/>
                </a:solidFill>
              </a:rPr>
              <a:t>KDIID ·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8733A-EB79-4A5B-8D39-9A310126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3212A"/>
                </a:solidFill>
              </a:defRPr>
            </a:pPr>
            <a:r>
              <a:rPr sz="3600" b="1" i="0">
                <a:solidFill>
                  <a:srgbClr val="13212A"/>
                </a:solidFill>
              </a:rPr>
              <a:t>Backup ·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44583-6D96-4ADF-8F93-A15E5D70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47BDA-F809-4AA9-9015-EDC0D5A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2636D"/>
                </a:solidFill>
              </a:defRPr>
            </a:pPr>
            <a:r>
              <a:rPr sz="1125" b="1" i="0">
                <a:solidFill>
                  <a:srgbClr val="52636D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5EF3B-FAB7-460F-8B27-E8D514BB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67D73"/>
                </a:solidFill>
              </a:defRPr>
            </a:pPr>
            <a:r>
              <a:rPr sz="1650" b="1" i="0">
                <a:solidFill>
                  <a:srgbClr val="167D73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6F36E-6A7A-47D6-924C-5B14B354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3357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3212A"/>
                </a:solidFill>
              </a:defRPr>
            </a:pPr>
            <a:r>
              <a:rPr sz="1875" b="1" i="0">
                <a:solidFill>
                  <a:srgbClr val="13212A"/>
                </a:solidFill>
              </a:rPr>
              <a:t>Beijing Multi-Site Air Quality Data Set, UCI Machine Learning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838E1-887A-49E5-BDCE-7AE37742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2892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84065-4B5F-4207-8F84-28F5188A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67D73"/>
                </a:solidFill>
              </a:defRPr>
            </a:pPr>
            <a:r>
              <a:rPr sz="1650" b="1" i="0">
                <a:solidFill>
                  <a:srgbClr val="167D73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90E28-BCB3-44E1-A08D-E5C11D44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9087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13212A"/>
                </a:solidFill>
              </a:defRPr>
            </a:pPr>
            <a:r>
              <a:rPr sz="1875" b="0" i="0">
                <a:solidFill>
                  <a:srgbClr val="13212A"/>
                </a:solidFill>
              </a:rPr>
              <a:t>KDIID Lecture 3, Relaxed Functional Dependencies · DiMε slides 29–41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9FE35-2C41-4AE2-B3CD-06CA1AA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BA40F-3C3A-416C-B281-E2B9C57D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67D73"/>
                </a:solidFill>
              </a:defRPr>
            </a:pPr>
            <a:r>
              <a:rPr sz="1650" b="1" i="0">
                <a:solidFill>
                  <a:srgbClr val="167D73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0B704-6E01-4277-B0B2-3AA51B96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4817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13212A"/>
                </a:solidFill>
              </a:defRPr>
            </a:pPr>
            <a:r>
              <a:rPr sz="1875" b="0" i="0">
                <a:solidFill>
                  <a:srgbClr val="13212A"/>
                </a:solidFill>
              </a:rPr>
              <a:t>Caruccio, Deufemia, Polese, “Mining relaxed functional dependencies from data”, Data Mining and Knowledge Discovery, 2020</a:t>
            </a:r>
          </a:p>
        </p:txBody>
      </p:sp>
    </p:spTree>
    <p:extLst>
      <p:ext uri="{BB962C8B-B14F-4D97-AF65-F5344CB8AC3E}">
        <p14:creationId xmlns:p14="http://schemas.microsoft.com/office/powerpoint/2010/main" val="1852895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2026-06-27T16:54:05.1990000Z</dcterms:created>
  <dcterms:modified xsi:type="dcterms:W3CDTF">2026-06-27T16:54:05.1990000Z</dcterms:modified>
</coreProperties>
</file>